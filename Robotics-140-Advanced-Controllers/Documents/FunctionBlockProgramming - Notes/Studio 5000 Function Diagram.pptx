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2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2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 txBox="1"/>
          <p:nvPr/>
        </p:nvSpPr>
        <p:spPr>
          <a:xfrm>
            <a:off x="6629400" y="6172200"/>
            <a:ext cx="22429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endParaRPr/>
          </a:p>
        </p:txBody>
      </p:sp>
      <p:pic>
        <p:nvPicPr>
          <p:cNvPr descr="Text&#10;&#10;Description automatically generated"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-12234" y="356600"/>
            <a:ext cx="6874495" cy="710200"/>
            <a:chOff x="-12234" y="356600"/>
            <a:chExt cx="6874495" cy="710200"/>
          </a:xfrm>
        </p:grpSpPr>
        <p:sp>
          <p:nvSpPr>
            <p:cNvPr id="29" name="Google Shape;29;p3"/>
            <p:cNvSpPr/>
            <p:nvPr/>
          </p:nvSpPr>
          <p:spPr>
            <a:xfrm rot="2949928">
              <a:off x="462292" y="456220"/>
              <a:ext cx="274320" cy="274320"/>
            </a:xfrm>
            <a:prstGeom prst="rect">
              <a:avLst/>
            </a:prstGeom>
            <a:solidFill>
              <a:srgbClr val="B4CAB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" name="Google Shape;30;p3"/>
            <p:cNvCxnSpPr/>
            <p:nvPr/>
          </p:nvCxnSpPr>
          <p:spPr>
            <a:xfrm>
              <a:off x="-12234" y="1066800"/>
              <a:ext cx="6874495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31" name="Google Shape;31;p3"/>
            <p:cNvSpPr/>
            <p:nvPr/>
          </p:nvSpPr>
          <p:spPr>
            <a:xfrm rot="2949928">
              <a:off x="249762" y="456220"/>
              <a:ext cx="274320" cy="274320"/>
            </a:xfrm>
            <a:prstGeom prst="rect">
              <a:avLst/>
            </a:prstGeom>
            <a:solidFill>
              <a:srgbClr val="84AA8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2949928">
              <a:off x="56300" y="456220"/>
              <a:ext cx="274320" cy="274320"/>
            </a:xfrm>
            <a:prstGeom prst="rect">
              <a:avLst/>
            </a:prstGeom>
            <a:solidFill>
              <a:srgbClr val="046A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33;p3"/>
            <p:cNvCxnSpPr/>
            <p:nvPr/>
          </p:nvCxnSpPr>
          <p:spPr>
            <a:xfrm>
              <a:off x="-12234" y="356600"/>
              <a:ext cx="5661596" cy="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No Title">
  <p:cSld name="Content - No 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4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 txBox="1"/>
          <p:nvPr/>
        </p:nvSpPr>
        <p:spPr>
          <a:xfrm>
            <a:off x="7696200" y="6172200"/>
            <a:ext cx="5484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B050">
              <a:alpha val="1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0" y="6019800"/>
            <a:ext cx="2209800" cy="676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5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5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5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gradFill>
            <a:gsLst>
              <a:gs pos="0">
                <a:srgbClr val="DBE4CE">
                  <a:alpha val="20000"/>
                </a:srgbClr>
              </a:gs>
              <a:gs pos="38000">
                <a:srgbClr val="DBE4CE">
                  <a:alpha val="20000"/>
                </a:srgbClr>
              </a:gs>
              <a:gs pos="80000">
                <a:srgbClr val="00D05E">
                  <a:alpha val="7843"/>
                </a:srgbClr>
              </a:gs>
              <a:gs pos="100000">
                <a:srgbClr val="00D05E">
                  <a:alpha val="7843"/>
                </a:srgbClr>
              </a:gs>
            </a:gsLst>
            <a:lin ang="10800000" scaled="0"/>
          </a:gradFill>
          <a:ln>
            <a:noFill/>
          </a:ln>
          <a:effectLst>
            <a:outerShdw blurRad="76200" kx="-800400" rotWithShape="0" algn="bl" dir="2700000" dist="12700" sy="-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B050">
              <a:alpha val="1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0" y="6019800"/>
            <a:ext cx="2209800" cy="676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6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6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6"/>
          <p:cNvSpPr txBox="1"/>
          <p:nvPr/>
        </p:nvSpPr>
        <p:spPr>
          <a:xfrm>
            <a:off x="6691216" y="6130504"/>
            <a:ext cx="22429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8" name="Google Shape;78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2" name="Google Shape;92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5" Type="http://schemas.openxmlformats.org/officeDocument/2006/relationships/image" Target="../media/image33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5" Type="http://schemas.openxmlformats.org/officeDocument/2006/relationships/image" Target="../media/image33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Relationship Id="rId8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Relationship Id="rId4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7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7.png"/><Relationship Id="rId4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Relationship Id="rId4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1.png"/><Relationship Id="rId4" Type="http://schemas.openxmlformats.org/officeDocument/2006/relationships/image" Target="../media/image4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3.png"/><Relationship Id="rId4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Relationship Id="rId4" Type="http://schemas.openxmlformats.org/officeDocument/2006/relationships/image" Target="../media/image5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0.png"/><Relationship Id="rId4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0.png"/><Relationship Id="rId4" Type="http://schemas.openxmlformats.org/officeDocument/2006/relationships/image" Target="../media/image5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8.png"/><Relationship Id="rId4" Type="http://schemas.openxmlformats.org/officeDocument/2006/relationships/image" Target="../media/image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png"/><Relationship Id="rId4" Type="http://schemas.openxmlformats.org/officeDocument/2006/relationships/image" Target="../media/image6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0.png"/><Relationship Id="rId4" Type="http://schemas.openxmlformats.org/officeDocument/2006/relationships/image" Target="../media/image54.png"/><Relationship Id="rId5" Type="http://schemas.openxmlformats.org/officeDocument/2006/relationships/image" Target="../media/image6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9.png"/><Relationship Id="rId4" Type="http://schemas.openxmlformats.org/officeDocument/2006/relationships/image" Target="../media/image6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1.png"/><Relationship Id="rId4" Type="http://schemas.openxmlformats.org/officeDocument/2006/relationships/image" Target="../media/image6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1.png"/><Relationship Id="rId4" Type="http://schemas.openxmlformats.org/officeDocument/2006/relationships/image" Target="../media/image6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1.png"/><Relationship Id="rId4" Type="http://schemas.openxmlformats.org/officeDocument/2006/relationships/image" Target="../media/image8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1.png"/><Relationship Id="rId4" Type="http://schemas.openxmlformats.org/officeDocument/2006/relationships/image" Target="../media/image8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1.png"/><Relationship Id="rId4" Type="http://schemas.openxmlformats.org/officeDocument/2006/relationships/image" Target="../media/image7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1.png"/><Relationship Id="rId4" Type="http://schemas.openxmlformats.org/officeDocument/2006/relationships/image" Target="../media/image7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3.png"/><Relationship Id="rId4" Type="http://schemas.openxmlformats.org/officeDocument/2006/relationships/image" Target="../media/image7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1.png"/><Relationship Id="rId4" Type="http://schemas.openxmlformats.org/officeDocument/2006/relationships/image" Target="../media/image8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6.png"/><Relationship Id="rId4" Type="http://schemas.openxmlformats.org/officeDocument/2006/relationships/image" Target="../media/image8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6.png"/><Relationship Id="rId4" Type="http://schemas.openxmlformats.org/officeDocument/2006/relationships/image" Target="../media/image8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6.png"/><Relationship Id="rId4" Type="http://schemas.openxmlformats.org/officeDocument/2006/relationships/image" Target="../media/image7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6.png"/><Relationship Id="rId4" Type="http://schemas.openxmlformats.org/officeDocument/2006/relationships/image" Target="../media/image8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0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9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9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06.png"/><Relationship Id="rId4" Type="http://schemas.openxmlformats.org/officeDocument/2006/relationships/image" Target="../media/image95.png"/><Relationship Id="rId5" Type="http://schemas.openxmlformats.org/officeDocument/2006/relationships/image" Target="../media/image90.png"/><Relationship Id="rId6" Type="http://schemas.openxmlformats.org/officeDocument/2006/relationships/image" Target="../media/image9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01.png"/><Relationship Id="rId4" Type="http://schemas.openxmlformats.org/officeDocument/2006/relationships/image" Target="../media/image10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01.png"/><Relationship Id="rId4" Type="http://schemas.openxmlformats.org/officeDocument/2006/relationships/image" Target="../media/image11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01.png"/><Relationship Id="rId4" Type="http://schemas.openxmlformats.org/officeDocument/2006/relationships/image" Target="../media/image11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01.png"/><Relationship Id="rId4" Type="http://schemas.openxmlformats.org/officeDocument/2006/relationships/image" Target="../media/image10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01.png"/><Relationship Id="rId4" Type="http://schemas.openxmlformats.org/officeDocument/2006/relationships/image" Target="../media/image10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08.png"/><Relationship Id="rId4" Type="http://schemas.openxmlformats.org/officeDocument/2006/relationships/image" Target="../media/image68.png"/><Relationship Id="rId5" Type="http://schemas.openxmlformats.org/officeDocument/2006/relationships/image" Target="../media/image10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14.png"/><Relationship Id="rId4" Type="http://schemas.openxmlformats.org/officeDocument/2006/relationships/image" Target="../media/image12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14.png"/><Relationship Id="rId4" Type="http://schemas.openxmlformats.org/officeDocument/2006/relationships/image" Target="../media/image11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22.png"/><Relationship Id="rId4" Type="http://schemas.openxmlformats.org/officeDocument/2006/relationships/image" Target="../media/image11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20.png"/><Relationship Id="rId4" Type="http://schemas.openxmlformats.org/officeDocument/2006/relationships/image" Target="../media/image11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13.png"/><Relationship Id="rId4" Type="http://schemas.openxmlformats.org/officeDocument/2006/relationships/image" Target="../media/image116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13.png"/><Relationship Id="rId4" Type="http://schemas.openxmlformats.org/officeDocument/2006/relationships/image" Target="../media/image11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19.png"/><Relationship Id="rId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3048000" y="2362200"/>
            <a:ext cx="43053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Studio 5000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7391400" y="5562600"/>
            <a:ext cx="1524000" cy="246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2014 John Sefcovic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914400" y="1466250"/>
            <a:ext cx="731520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Diagram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uses instructions in a graphical format to connect the functions into procedures for the controlled application.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914400" y="2598051"/>
            <a:ext cx="762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instructions in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Diagram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are primarily used in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event processes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analog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process control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motion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alarming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grpSp>
        <p:nvGrpSpPr>
          <p:cNvPr id="128" name="Google Shape;128;p18"/>
          <p:cNvGrpSpPr/>
          <p:nvPr/>
        </p:nvGrpSpPr>
        <p:grpSpPr>
          <a:xfrm>
            <a:off x="731520" y="365760"/>
            <a:ext cx="3733799" cy="710338"/>
            <a:chOff x="806246" y="419341"/>
            <a:chExt cx="3733799" cy="710338"/>
          </a:xfrm>
        </p:grpSpPr>
        <p:sp>
          <p:nvSpPr>
            <p:cNvPr id="129" name="Google Shape;129;p18"/>
            <p:cNvSpPr txBox="1"/>
            <p:nvPr/>
          </p:nvSpPr>
          <p:spPr>
            <a:xfrm>
              <a:off x="806246" y="419341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30" name="Google Shape;130;p18"/>
            <p:cNvSpPr txBox="1"/>
            <p:nvPr/>
          </p:nvSpPr>
          <p:spPr>
            <a:xfrm>
              <a:off x="2067851" y="760347"/>
              <a:ext cx="12105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Overview</a:t>
              </a:r>
              <a:endParaRPr/>
            </a:p>
          </p:txBody>
        </p:sp>
      </p:grpSp>
      <p:sp>
        <p:nvSpPr>
          <p:cNvPr id="131" name="Google Shape;131;p18"/>
          <p:cNvSpPr/>
          <p:nvPr/>
        </p:nvSpPr>
        <p:spPr>
          <a:xfrm>
            <a:off x="914400" y="3452852"/>
            <a:ext cx="73914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programming instructions are included to allow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structures to be inclusive for the procedure being programmed.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/>
        </p:nvSpPr>
        <p:spPr>
          <a:xfrm>
            <a:off x="914400" y="1277120"/>
            <a:ext cx="73152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circuit is made up of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Output Reference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are assigned to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 Tags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914400" y="2037961"/>
            <a:ext cx="7696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Instructions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connected to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read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and write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from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Instruction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Instructions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Parameters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inputs and solved data.  Some of the parameters are optional and can be deselected.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948812" y="3352800"/>
            <a:ext cx="720458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Connections are made by drawing lines between the “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pins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on the instructions. </a:t>
            </a:r>
            <a:endParaRPr/>
          </a:p>
        </p:txBody>
      </p:sp>
      <p:pic>
        <p:nvPicPr>
          <p:cNvPr descr="Diagram&#10;&#10;Description automatically generated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1524" y="4113641"/>
            <a:ext cx="4780952" cy="15619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140" name="Google Shape;140;p19"/>
          <p:cNvGrpSpPr/>
          <p:nvPr/>
        </p:nvGrpSpPr>
        <p:grpSpPr>
          <a:xfrm>
            <a:off x="731520" y="365760"/>
            <a:ext cx="3733799" cy="710338"/>
            <a:chOff x="806246" y="419341"/>
            <a:chExt cx="3733799" cy="710338"/>
          </a:xfrm>
        </p:grpSpPr>
        <p:sp>
          <p:nvSpPr>
            <p:cNvPr id="141" name="Google Shape;141;p19"/>
            <p:cNvSpPr txBox="1"/>
            <p:nvPr/>
          </p:nvSpPr>
          <p:spPr>
            <a:xfrm>
              <a:off x="806246" y="419341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2067851" y="760347"/>
              <a:ext cx="12105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Overview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685800" y="1356423"/>
            <a:ext cx="800100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Controller Organizer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right click on a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select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New Routine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2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  <p:pic>
        <p:nvPicPr>
          <p:cNvPr descr="Graphical user interface, text, application&#10;&#10;Description automatically generated"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1962514"/>
            <a:ext cx="5219048" cy="291428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&#10;&#10;Description automatically generated"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905" y="2011680"/>
            <a:ext cx="3476190" cy="250476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57" name="Google Shape;157;p21"/>
          <p:cNvSpPr txBox="1"/>
          <p:nvPr/>
        </p:nvSpPr>
        <p:spPr>
          <a:xfrm>
            <a:off x="2767660" y="1438435"/>
            <a:ext cx="360868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New Routine dialog appears.</a:t>
            </a:r>
            <a:endParaRPr/>
          </a:p>
        </p:txBody>
      </p:sp>
      <p:grpSp>
        <p:nvGrpSpPr>
          <p:cNvPr id="158" name="Google Shape;158;p2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59" name="Google Shape;159;p2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60" name="Google Shape;160;p21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/>
        </p:nvSpPr>
        <p:spPr>
          <a:xfrm>
            <a:off x="685800" y="1371600"/>
            <a:ext cx="4724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 a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routine.</a:t>
            </a:r>
            <a:endParaRPr/>
          </a:p>
        </p:txBody>
      </p:sp>
      <p:pic>
        <p:nvPicPr>
          <p:cNvPr descr="Graphical user interface, application&#10;&#10;Description automatically generated"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905" y="2011680"/>
            <a:ext cx="3476190" cy="250476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167" name="Google Shape;167;p2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68" name="Google Shape;168;p2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69" name="Google Shape;169;p22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  <p:sp>
        <p:nvSpPr>
          <p:cNvPr id="170" name="Google Shape;170;p22"/>
          <p:cNvSpPr txBox="1"/>
          <p:nvPr/>
        </p:nvSpPr>
        <p:spPr>
          <a:xfrm>
            <a:off x="3230475" y="4087750"/>
            <a:ext cx="45570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If subroutine label it</a:t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/>
        </p:nvSpPr>
        <p:spPr>
          <a:xfrm>
            <a:off x="685800" y="1371600"/>
            <a:ext cx="80010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dropdown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select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Graphical user interface, application&#10;&#10;Description automatically generated" id="176" name="Google Shape;1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905" y="2011680"/>
            <a:ext cx="3476190" cy="250476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177" name="Google Shape;177;p2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78" name="Google Shape;178;p2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79" name="Google Shape;179;p23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/>
        </p:nvSpPr>
        <p:spPr>
          <a:xfrm>
            <a:off x="685800" y="1371600"/>
            <a:ext cx="80010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button.</a:t>
            </a:r>
            <a:endParaRPr/>
          </a:p>
        </p:txBody>
      </p:sp>
      <p:pic>
        <p:nvPicPr>
          <p:cNvPr descr="Graphical user interface&#10;&#10;Description automatically generated" id="185" name="Google Shape;1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905" y="2011680"/>
            <a:ext cx="3476190" cy="250476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186" name="Google Shape;186;p24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87" name="Google Shape;187;p2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88" name="Google Shape;188;p24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/>
        </p:nvSpPr>
        <p:spPr>
          <a:xfrm>
            <a:off x="685800" y="1371600"/>
            <a:ext cx="80010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named program will appear 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Project Tree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Graphical user interface, text, application&#10;&#10;Description automatically generated" id="194" name="Google Shape;19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4286" y="2051113"/>
            <a:ext cx="2695428" cy="275577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/>
        </p:nvSpPr>
        <p:spPr>
          <a:xfrm>
            <a:off x="914400" y="3871267"/>
            <a:ext cx="281940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the icon for the Function Block Routine in the Controller Organizer.</a:t>
            </a:r>
            <a:endParaRPr/>
          </a:p>
        </p:txBody>
      </p:sp>
      <p:grpSp>
        <p:nvGrpSpPr>
          <p:cNvPr id="196" name="Google Shape;196;p25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97" name="Google Shape;197;p25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98" name="Google Shape;198;p25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/>
        </p:nvSpPr>
        <p:spPr>
          <a:xfrm>
            <a:off x="4704889" y="2807732"/>
            <a:ext cx="2659702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blank editor screen.</a:t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425657" y="2177534"/>
            <a:ext cx="274320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are dragged into the editor from the toolbar.  Tabs organize the instructions.</a:t>
            </a:r>
            <a:endParaRPr/>
          </a:p>
        </p:txBody>
      </p:sp>
      <p:grpSp>
        <p:nvGrpSpPr>
          <p:cNvPr id="205" name="Google Shape;205;p26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06" name="Google Shape;206;p26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07" name="Google Shape;207;p26"/>
            <p:cNvSpPr txBox="1"/>
            <p:nvPr/>
          </p:nvSpPr>
          <p:spPr>
            <a:xfrm>
              <a:off x="3341221" y="622559"/>
              <a:ext cx="23091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Editor and Tool Bar</a:t>
              </a:r>
              <a:endParaRPr/>
            </a:p>
          </p:txBody>
        </p:sp>
      </p:grpSp>
      <p:pic>
        <p:nvPicPr>
          <p:cNvPr descr="Table&#10;&#10;Description automatically generated" id="208" name="Google Shape;20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88368"/>
            <a:ext cx="4400000" cy="5619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text, application, Word&#10;&#10;Description automatically generated" id="209" name="Google Shape;20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3942" y="2139025"/>
            <a:ext cx="5718604" cy="35929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/>
          <p:nvPr/>
        </p:nvSpPr>
        <p:spPr>
          <a:xfrm>
            <a:off x="990601" y="1941785"/>
            <a:ext cx="3309514" cy="3657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1360391" y="2061919"/>
            <a:ext cx="2569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Reference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IREF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16" name="Google Shape;216;p27"/>
          <p:cNvSpPr/>
          <p:nvPr/>
        </p:nvSpPr>
        <p:spPr>
          <a:xfrm>
            <a:off x="1105344" y="2528124"/>
            <a:ext cx="308002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Supply a value from an input device or tag,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217" name="Google Shape;217;p27"/>
          <p:cNvSpPr txBox="1"/>
          <p:nvPr/>
        </p:nvSpPr>
        <p:spPr>
          <a:xfrm>
            <a:off x="1873532" y="4290239"/>
            <a:ext cx="16081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assigned.</a:t>
            </a:r>
            <a:endParaRPr/>
          </a:p>
        </p:txBody>
      </p:sp>
      <p:sp>
        <p:nvSpPr>
          <p:cNvPr id="218" name="Google Shape;218;p27"/>
          <p:cNvSpPr txBox="1"/>
          <p:nvPr/>
        </p:nvSpPr>
        <p:spPr>
          <a:xfrm>
            <a:off x="591732" y="1182469"/>
            <a:ext cx="79605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instructions are used to assign Tags to the function block instructions inputs and outputs.</a:t>
            </a:r>
            <a:endParaRPr/>
          </a:p>
        </p:txBody>
      </p:sp>
      <p:grpSp>
        <p:nvGrpSpPr>
          <p:cNvPr id="219" name="Google Shape;219;p27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20" name="Google Shape;220;p27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21" name="Google Shape;221;p27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pic>
        <p:nvPicPr>
          <p:cNvPr descr="Diagram&#10;&#10;Description automatically generated with medium confidence" id="222" name="Google Shape;2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8310" y="3495498"/>
            <a:ext cx="1257143" cy="7428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iagram&#10;&#10;Description automatically generated" id="223" name="Google Shape;22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595" y="4541628"/>
            <a:ext cx="1968572" cy="9409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27"/>
          <p:cNvGrpSpPr/>
          <p:nvPr/>
        </p:nvGrpSpPr>
        <p:grpSpPr>
          <a:xfrm>
            <a:off x="4817831" y="1941785"/>
            <a:ext cx="3309514" cy="3657600"/>
            <a:chOff x="4817831" y="1941785"/>
            <a:chExt cx="3309514" cy="3657600"/>
          </a:xfrm>
        </p:grpSpPr>
        <p:sp>
          <p:nvSpPr>
            <p:cNvPr id="225" name="Google Shape;225;p27"/>
            <p:cNvSpPr/>
            <p:nvPr/>
          </p:nvSpPr>
          <p:spPr>
            <a:xfrm>
              <a:off x="4817831" y="1941785"/>
              <a:ext cx="3309514" cy="36576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5040145" y="2061919"/>
              <a:ext cx="28648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 Reference (</a:t>
              </a:r>
              <a:r>
                <a:rPr lang="en-US" sz="18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OREF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5008829" y="2528124"/>
              <a:ext cx="2927518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Send a value to an output device or tag, </a:t>
              </a:r>
              <a:r>
                <a:rPr lang="en-US" sz="1800">
                  <a:solidFill>
                    <a:srgbClr val="953734"/>
                  </a:solidFill>
                  <a:latin typeface="Arial"/>
                  <a:ea typeface="Arial"/>
                  <a:cs typeface="Arial"/>
                  <a:sym typeface="Arial"/>
                </a:rPr>
                <a:t>Boolean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or </a:t>
              </a:r>
              <a:r>
                <a:rPr lang="en-US" sz="1800">
                  <a:solidFill>
                    <a:srgbClr val="953734"/>
                  </a:solidFill>
                  <a:latin typeface="Arial"/>
                  <a:ea typeface="Arial"/>
                  <a:cs typeface="Arial"/>
                  <a:sym typeface="Arial"/>
                </a:rPr>
                <a:t>Word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228" name="Google Shape;228;p27"/>
            <p:cNvSpPr txBox="1"/>
            <p:nvPr/>
          </p:nvSpPr>
          <p:spPr>
            <a:xfrm>
              <a:off x="5700762" y="4290239"/>
              <a:ext cx="16081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Tag assigned.</a:t>
              </a:r>
              <a:endParaRPr/>
            </a:p>
          </p:txBody>
        </p:sp>
        <p:pic>
          <p:nvPicPr>
            <p:cNvPr descr="A picture containing graphical user interface&#10;&#10;Description automatically generated" id="229" name="Google Shape;229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22115" y="3518356"/>
              <a:ext cx="1097143" cy="6971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Shape&#10;&#10;Description automatically generated with low confidence" id="230" name="Google Shape;230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86400" y="4541628"/>
              <a:ext cx="1968572" cy="9409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/>
          <p:nvPr/>
        </p:nvSpPr>
        <p:spPr>
          <a:xfrm>
            <a:off x="990601" y="1941785"/>
            <a:ext cx="3309514" cy="3657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1360391" y="2061919"/>
            <a:ext cx="2569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Reference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IREF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37" name="Google Shape;237;p28"/>
          <p:cNvSpPr/>
          <p:nvPr/>
        </p:nvSpPr>
        <p:spPr>
          <a:xfrm>
            <a:off x="1875351" y="3182341"/>
            <a:ext cx="16041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Tag. </a:t>
            </a:r>
            <a:endParaRPr/>
          </a:p>
        </p:txBody>
      </p:sp>
      <p:sp>
        <p:nvSpPr>
          <p:cNvPr id="238" name="Google Shape;238;p28"/>
          <p:cNvSpPr/>
          <p:nvPr/>
        </p:nvSpPr>
        <p:spPr>
          <a:xfrm>
            <a:off x="4817831" y="1941785"/>
            <a:ext cx="3309514" cy="3657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5040145" y="2061919"/>
            <a:ext cx="2864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Reference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OREF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40" name="Google Shape;240;p28"/>
          <p:cNvSpPr/>
          <p:nvPr/>
        </p:nvSpPr>
        <p:spPr>
          <a:xfrm>
            <a:off x="2033024" y="4360220"/>
            <a:ext cx="13050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Tag. </a:t>
            </a:r>
            <a:endParaRPr/>
          </a:p>
        </p:txBody>
      </p:sp>
      <p:sp>
        <p:nvSpPr>
          <p:cNvPr id="241" name="Google Shape;241;p28"/>
          <p:cNvSpPr/>
          <p:nvPr/>
        </p:nvSpPr>
        <p:spPr>
          <a:xfrm>
            <a:off x="5702581" y="3182341"/>
            <a:ext cx="16041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Tag. </a:t>
            </a:r>
            <a:endParaRPr/>
          </a:p>
        </p:txBody>
      </p:sp>
      <p:sp>
        <p:nvSpPr>
          <p:cNvPr id="242" name="Google Shape;242;p28"/>
          <p:cNvSpPr/>
          <p:nvPr/>
        </p:nvSpPr>
        <p:spPr>
          <a:xfrm>
            <a:off x="5860255" y="4360220"/>
            <a:ext cx="13081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Tag. </a:t>
            </a:r>
            <a:endParaRPr/>
          </a:p>
        </p:txBody>
      </p:sp>
      <p:sp>
        <p:nvSpPr>
          <p:cNvPr id="243" name="Google Shape;243;p28"/>
          <p:cNvSpPr txBox="1"/>
          <p:nvPr/>
        </p:nvSpPr>
        <p:spPr>
          <a:xfrm>
            <a:off x="1811251" y="2590800"/>
            <a:ext cx="166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 Data Type</a:t>
            </a:r>
            <a:endParaRPr/>
          </a:p>
        </p:txBody>
      </p:sp>
      <p:sp>
        <p:nvSpPr>
          <p:cNvPr id="244" name="Google Shape;244;p28"/>
          <p:cNvSpPr txBox="1"/>
          <p:nvPr/>
        </p:nvSpPr>
        <p:spPr>
          <a:xfrm>
            <a:off x="5638481" y="2590800"/>
            <a:ext cx="166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 Data Type</a:t>
            </a: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952740" y="1307068"/>
            <a:ext cx="5258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Bit or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have a “dot” at the connector.  </a:t>
            </a:r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6047890" y="1307068"/>
            <a:ext cx="22411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open.</a:t>
            </a:r>
            <a:endParaRPr/>
          </a:p>
        </p:txBody>
      </p:sp>
      <p:pic>
        <p:nvPicPr>
          <p:cNvPr descr="Shape&#10;&#10;Description automatically generated" id="247" name="Google Shape;24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4664582"/>
            <a:ext cx="1968572" cy="6314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&#10;&#10;Description automatically generated" id="248" name="Google Shape;24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6556" y="3436898"/>
            <a:ext cx="1782858" cy="6190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&#10;&#10;Description automatically generated" id="249" name="Google Shape;24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73699" y="4664582"/>
            <a:ext cx="1968572" cy="6314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rectangle&#10;&#10;Description automatically generated" id="250" name="Google Shape;25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7305" y="3436898"/>
            <a:ext cx="1782858" cy="6190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2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52" name="Google Shape;252;p2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53" name="Google Shape;253;p28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/>
          <p:nvPr/>
        </p:nvSpPr>
        <p:spPr>
          <a:xfrm>
            <a:off x="2924175" y="1828800"/>
            <a:ext cx="3295651" cy="207614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3713510" y="1923749"/>
            <a:ext cx="17169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Data. </a:t>
            </a:r>
            <a:endParaRPr/>
          </a:p>
        </p:txBody>
      </p:sp>
      <p:sp>
        <p:nvSpPr>
          <p:cNvPr id="260" name="Google Shape;260;p29"/>
          <p:cNvSpPr/>
          <p:nvPr/>
        </p:nvSpPr>
        <p:spPr>
          <a:xfrm>
            <a:off x="3868547" y="2893191"/>
            <a:ext cx="1406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Data. </a:t>
            </a:r>
            <a:endParaRPr/>
          </a:p>
        </p:txBody>
      </p:sp>
      <p:sp>
        <p:nvSpPr>
          <p:cNvPr id="261" name="Google Shape;261;p29"/>
          <p:cNvSpPr txBox="1"/>
          <p:nvPr/>
        </p:nvSpPr>
        <p:spPr>
          <a:xfrm>
            <a:off x="531952" y="1295400"/>
            <a:ext cx="8080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connector line for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is a dashed line.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is a solid line.</a:t>
            </a:r>
            <a:endParaRPr/>
          </a:p>
        </p:txBody>
      </p:sp>
      <p:pic>
        <p:nvPicPr>
          <p:cNvPr descr="A picture containing diagram&#10;&#10;Description automatically generated" id="262" name="Google Shape;26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0490" y="2209800"/>
            <a:ext cx="1920000" cy="61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iagram&#10;&#10;Description automatically generated" id="263" name="Google Shape;26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5574" y="3226415"/>
            <a:ext cx="1988572" cy="594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 with low confidence" id="264" name="Google Shape;26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7714" y="4183302"/>
            <a:ext cx="4428571" cy="151428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265" name="Google Shape;265;p2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66" name="Google Shape;266;p2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67" name="Google Shape;267;p29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1189338" y="1219200"/>
            <a:ext cx="6765323" cy="4495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Binary AND</a:t>
            </a:r>
            <a:endParaRPr/>
          </a:p>
        </p:txBody>
      </p:sp>
      <p:sp>
        <p:nvSpPr>
          <p:cNvPr id="273" name="Google Shape;273;p30"/>
          <p:cNvSpPr/>
          <p:nvPr/>
        </p:nvSpPr>
        <p:spPr>
          <a:xfrm>
            <a:off x="1366966" y="1371600"/>
            <a:ext cx="64100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Various instruction function blocks can be selected to create the logic for the Function program.</a:t>
            </a:r>
            <a:endParaRPr/>
          </a:p>
        </p:txBody>
      </p:sp>
      <p:pic>
        <p:nvPicPr>
          <p:cNvPr descr="Graphical user interface, text, application, Word&#10;&#10;Description automatically generated" id="274" name="Google Shape;2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8896" y="4186170"/>
            <a:ext cx="1723810" cy="14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text, application&#10;&#10;Description automatically generated" id="275" name="Google Shape;27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4274519"/>
            <a:ext cx="1580952" cy="1190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text, application&#10;&#10;Description automatically generated" id="276" name="Google Shape;27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8461" y="4204259"/>
            <a:ext cx="1628571" cy="1247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application, Word&#10;&#10;Description automatically generated" id="277" name="Google Shape;27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6698" y="3032847"/>
            <a:ext cx="1342857" cy="10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application, Word&#10;&#10;Description automatically generated" id="278" name="Google Shape;278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46369" y="2336320"/>
            <a:ext cx="1190476" cy="1647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alendar&#10;&#10;Description automatically generated" id="279" name="Google Shape;279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64002" y="2326282"/>
            <a:ext cx="1038095" cy="1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0"/>
          <p:cNvSpPr txBox="1"/>
          <p:nvPr/>
        </p:nvSpPr>
        <p:spPr>
          <a:xfrm>
            <a:off x="2087851" y="2110959"/>
            <a:ext cx="111254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Binary AND</a:t>
            </a:r>
            <a:endParaRPr/>
          </a:p>
        </p:txBody>
      </p:sp>
      <p:sp>
        <p:nvSpPr>
          <p:cNvPr id="281" name="Google Shape;281;p30"/>
          <p:cNvSpPr txBox="1"/>
          <p:nvPr/>
        </p:nvSpPr>
        <p:spPr>
          <a:xfrm>
            <a:off x="6576020" y="4014080"/>
            <a:ext cx="5645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4606841" y="4061418"/>
            <a:ext cx="7938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EQUAL</a:t>
            </a:r>
            <a:endParaRPr/>
          </a:p>
        </p:txBody>
      </p:sp>
      <p:sp>
        <p:nvSpPr>
          <p:cNvPr id="283" name="Google Shape;283;p30"/>
          <p:cNvSpPr txBox="1"/>
          <p:nvPr/>
        </p:nvSpPr>
        <p:spPr>
          <a:xfrm>
            <a:off x="2583049" y="3966742"/>
            <a:ext cx="953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  <p:sp>
        <p:nvSpPr>
          <p:cNvPr id="284" name="Google Shape;284;p30"/>
          <p:cNvSpPr txBox="1"/>
          <p:nvPr/>
        </p:nvSpPr>
        <p:spPr>
          <a:xfrm>
            <a:off x="3945735" y="2154622"/>
            <a:ext cx="10118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Binary OR</a:t>
            </a:r>
            <a:endParaRPr/>
          </a:p>
        </p:txBody>
      </p:sp>
      <p:sp>
        <p:nvSpPr>
          <p:cNvPr id="285" name="Google Shape;285;p30"/>
          <p:cNvSpPr txBox="1"/>
          <p:nvPr/>
        </p:nvSpPr>
        <p:spPr>
          <a:xfrm>
            <a:off x="5482691" y="2801688"/>
            <a:ext cx="11208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Binary NOT</a:t>
            </a:r>
            <a:endParaRPr/>
          </a:p>
        </p:txBody>
      </p:sp>
      <p:grpSp>
        <p:nvGrpSpPr>
          <p:cNvPr id="286" name="Google Shape;286;p3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87" name="Google Shape;287;p3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88" name="Google Shape;288;p30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/>
          <p:nvPr/>
        </p:nvSpPr>
        <p:spPr>
          <a:xfrm>
            <a:off x="1189338" y="1219200"/>
            <a:ext cx="6765323" cy="4495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When an instruction is dragged onto the Editor a Tag Name is automatically created in the Parameter and Local Tags table.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1366966" y="1371600"/>
            <a:ext cx="64100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Various instruction function blocks can be selected to create the logic for the Function program.</a:t>
            </a:r>
            <a:endParaRPr/>
          </a:p>
        </p:txBody>
      </p:sp>
      <p:pic>
        <p:nvPicPr>
          <p:cNvPr descr="Graphical user interface, text, application, Word&#10;&#10;Description automatically generated" id="295" name="Google Shape;295;p31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2298896" y="4186170"/>
            <a:ext cx="1723810" cy="14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text, application&#10;&#10;Description automatically generated" id="296" name="Google Shape;296;p3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4267200" y="4274519"/>
            <a:ext cx="1580952" cy="1190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text, application&#10;&#10;Description automatically generated" id="297" name="Google Shape;297;p31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6148461" y="4204259"/>
            <a:ext cx="1628571" cy="1247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application, Word&#10;&#10;Description automatically generated" id="298" name="Google Shape;29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1300" y="3114103"/>
            <a:ext cx="1342857" cy="10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application, Word&#10;&#10;Description automatically generated" id="299" name="Google Shape;299;p31"/>
          <p:cNvPicPr preferRelativeResize="0"/>
          <p:nvPr/>
        </p:nvPicPr>
        <p:blipFill rotWithShape="1">
          <a:blip r:embed="rId7">
            <a:alphaModFix amt="50000"/>
          </a:blip>
          <a:srcRect b="0" l="0" r="0" t="0"/>
          <a:stretch/>
        </p:blipFill>
        <p:spPr>
          <a:xfrm>
            <a:off x="4120971" y="2417576"/>
            <a:ext cx="1190476" cy="1647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calendar&#10;&#10;Description automatically generated" id="300" name="Google Shape;300;p31"/>
          <p:cNvPicPr preferRelativeResize="0"/>
          <p:nvPr/>
        </p:nvPicPr>
        <p:blipFill rotWithShape="1">
          <a:blip r:embed="rId8">
            <a:alphaModFix amt="50000"/>
          </a:blip>
          <a:srcRect b="0" l="0" r="0" t="0"/>
          <a:stretch/>
        </p:blipFill>
        <p:spPr>
          <a:xfrm>
            <a:off x="2238604" y="2407538"/>
            <a:ext cx="1038095" cy="1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1"/>
          <p:cNvSpPr txBox="1"/>
          <p:nvPr/>
        </p:nvSpPr>
        <p:spPr>
          <a:xfrm>
            <a:off x="2087851" y="2110959"/>
            <a:ext cx="111254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3B3D7"/>
                </a:solidFill>
                <a:latin typeface="Arial"/>
                <a:ea typeface="Arial"/>
                <a:cs typeface="Arial"/>
                <a:sym typeface="Arial"/>
              </a:rPr>
              <a:t>Binary AND</a:t>
            </a:r>
            <a:endParaRPr/>
          </a:p>
        </p:txBody>
      </p:sp>
      <p:sp>
        <p:nvSpPr>
          <p:cNvPr id="302" name="Google Shape;302;p31"/>
          <p:cNvSpPr txBox="1"/>
          <p:nvPr/>
        </p:nvSpPr>
        <p:spPr>
          <a:xfrm>
            <a:off x="6750622" y="4095336"/>
            <a:ext cx="56457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3B3D7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/>
          </a:p>
        </p:txBody>
      </p:sp>
      <p:sp>
        <p:nvSpPr>
          <p:cNvPr id="303" name="Google Shape;303;p31"/>
          <p:cNvSpPr txBox="1"/>
          <p:nvPr/>
        </p:nvSpPr>
        <p:spPr>
          <a:xfrm>
            <a:off x="4781443" y="4142674"/>
            <a:ext cx="79380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3B3D7"/>
                </a:solidFill>
                <a:latin typeface="Arial"/>
                <a:ea typeface="Arial"/>
                <a:cs typeface="Arial"/>
                <a:sym typeface="Arial"/>
              </a:rPr>
              <a:t>EQUAL</a:t>
            </a:r>
            <a:endParaRPr/>
          </a:p>
        </p:txBody>
      </p:sp>
      <p:sp>
        <p:nvSpPr>
          <p:cNvPr id="304" name="Google Shape;304;p31"/>
          <p:cNvSpPr txBox="1"/>
          <p:nvPr/>
        </p:nvSpPr>
        <p:spPr>
          <a:xfrm>
            <a:off x="2757651" y="4047998"/>
            <a:ext cx="95385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3B3D7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  <p:sp>
        <p:nvSpPr>
          <p:cNvPr id="305" name="Google Shape;305;p31"/>
          <p:cNvSpPr txBox="1"/>
          <p:nvPr/>
        </p:nvSpPr>
        <p:spPr>
          <a:xfrm>
            <a:off x="3945735" y="2154622"/>
            <a:ext cx="10118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3B3D7"/>
                </a:solidFill>
                <a:latin typeface="Arial"/>
                <a:ea typeface="Arial"/>
                <a:cs typeface="Arial"/>
                <a:sym typeface="Arial"/>
              </a:rPr>
              <a:t>Binary OR</a:t>
            </a:r>
            <a:endParaRPr/>
          </a:p>
        </p:txBody>
      </p:sp>
      <p:sp>
        <p:nvSpPr>
          <p:cNvPr id="306" name="Google Shape;306;p31"/>
          <p:cNvSpPr txBox="1"/>
          <p:nvPr/>
        </p:nvSpPr>
        <p:spPr>
          <a:xfrm>
            <a:off x="5657293" y="2882944"/>
            <a:ext cx="11208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3B3D7"/>
                </a:solidFill>
                <a:latin typeface="Arial"/>
                <a:ea typeface="Arial"/>
                <a:cs typeface="Arial"/>
                <a:sym typeface="Arial"/>
              </a:rPr>
              <a:t>Binary NOT</a:t>
            </a:r>
            <a:endParaRPr/>
          </a:p>
        </p:txBody>
      </p:sp>
      <p:grpSp>
        <p:nvGrpSpPr>
          <p:cNvPr id="307" name="Google Shape;307;p3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08" name="Google Shape;308;p3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09" name="Google Shape;309;p31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310" name="Google Shape;310;p31"/>
          <p:cNvSpPr/>
          <p:nvPr/>
        </p:nvSpPr>
        <p:spPr>
          <a:xfrm>
            <a:off x="1711735" y="2759880"/>
            <a:ext cx="5603465" cy="219312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calendar&#10;&#10;Description automatically generated" id="311" name="Google Shape;311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16249" y="3087064"/>
            <a:ext cx="934286" cy="14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1"/>
          <p:cNvSpPr txBox="1"/>
          <p:nvPr/>
        </p:nvSpPr>
        <p:spPr>
          <a:xfrm>
            <a:off x="1711735" y="2842760"/>
            <a:ext cx="4596580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an instruction is dragged onto the Editor a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 Name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automatically created 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Parameter and Local Tags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name will be the Instruction Type and Number of instance used,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BAND_1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may be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renamed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13" name="Google Shape;313;p31"/>
          <p:cNvSpPr/>
          <p:nvPr/>
        </p:nvSpPr>
        <p:spPr>
          <a:xfrm>
            <a:off x="6392145" y="3390118"/>
            <a:ext cx="600370" cy="3048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318" name="Google Shape;31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6600000" cy="3360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319" name="Google Shape;319;p3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20" name="Google Shape;320;p3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21" name="Google Shape;321;p32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322" name="Google Shape;322;p32"/>
          <p:cNvSpPr/>
          <p:nvPr/>
        </p:nvSpPr>
        <p:spPr>
          <a:xfrm>
            <a:off x="838199" y="2127287"/>
            <a:ext cx="1007449" cy="42418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calendar&#10;&#10;Description automatically generated" id="323" name="Google Shape;32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2629000"/>
            <a:ext cx="1038095" cy="160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24" name="Google Shape;324;p32"/>
          <p:cNvSpPr/>
          <p:nvPr/>
        </p:nvSpPr>
        <p:spPr>
          <a:xfrm>
            <a:off x="6948946" y="2967948"/>
            <a:ext cx="680884" cy="30619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2"/>
          <p:cNvSpPr txBox="1"/>
          <p:nvPr/>
        </p:nvSpPr>
        <p:spPr>
          <a:xfrm>
            <a:off x="3016825" y="2334464"/>
            <a:ext cx="3276600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 Name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same as the instruction.</a:t>
            </a:r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3352800" y="1383268"/>
            <a:ext cx="243840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BAND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331" name="Google Shape;3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6600000" cy="3360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332" name="Google Shape;332;p3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33" name="Google Shape;333;p3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34" name="Google Shape;334;p33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pic>
        <p:nvPicPr>
          <p:cNvPr descr="A picture containing calendar&#10;&#10;Description automatically generated" id="335" name="Google Shape;33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2629000"/>
            <a:ext cx="1038095" cy="160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36" name="Google Shape;336;p33"/>
          <p:cNvSpPr/>
          <p:nvPr/>
        </p:nvSpPr>
        <p:spPr>
          <a:xfrm>
            <a:off x="5646186" y="2134951"/>
            <a:ext cx="1135614" cy="40626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2133600" y="2764651"/>
            <a:ext cx="4402889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Data Type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FBD_BOOLEAN_AND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38" name="Google Shape;338;p33"/>
          <p:cNvSpPr txBox="1"/>
          <p:nvPr/>
        </p:nvSpPr>
        <p:spPr>
          <a:xfrm>
            <a:off x="3352800" y="1383268"/>
            <a:ext cx="243840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BAND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</a:t>
            </a:r>
            <a:endParaRPr/>
          </a:p>
        </p:txBody>
      </p:sp>
      <p:sp>
        <p:nvSpPr>
          <p:cNvPr id="339" name="Google Shape;339;p33"/>
          <p:cNvSpPr txBox="1"/>
          <p:nvPr/>
        </p:nvSpPr>
        <p:spPr>
          <a:xfrm>
            <a:off x="6036825" y="1155050"/>
            <a:ext cx="29958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created automatically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40" name="Google Shape;340;p33"/>
          <p:cNvSpPr txBox="1"/>
          <p:nvPr/>
        </p:nvSpPr>
        <p:spPr>
          <a:xfrm>
            <a:off x="857250" y="5125475"/>
            <a:ext cx="56127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Monitor tab you can view current value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345" name="Google Shape;34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6600000" cy="3360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346" name="Google Shape;346;p34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47" name="Google Shape;347;p3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48" name="Google Shape;348;p34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pic>
        <p:nvPicPr>
          <p:cNvPr descr="A picture containing calendar&#10;&#10;Description automatically generated" id="349" name="Google Shape;34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2629000"/>
            <a:ext cx="1038095" cy="160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50" name="Google Shape;350;p34"/>
          <p:cNvSpPr txBox="1"/>
          <p:nvPr/>
        </p:nvSpPr>
        <p:spPr>
          <a:xfrm>
            <a:off x="3352800" y="1383268"/>
            <a:ext cx="243840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BAND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</a:t>
            </a:r>
            <a:endParaRPr/>
          </a:p>
        </p:txBody>
      </p:sp>
      <p:sp>
        <p:nvSpPr>
          <p:cNvPr id="351" name="Google Shape;351;p34"/>
          <p:cNvSpPr/>
          <p:nvPr/>
        </p:nvSpPr>
        <p:spPr>
          <a:xfrm>
            <a:off x="1039415" y="2494936"/>
            <a:ext cx="1170385" cy="2229464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4"/>
          <p:cNvSpPr txBox="1"/>
          <p:nvPr/>
        </p:nvSpPr>
        <p:spPr>
          <a:xfrm>
            <a:off x="2438400" y="3224947"/>
            <a:ext cx="3429000" cy="76944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Parameter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pins and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Out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357" name="Google Shape;35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6600000" cy="33600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358" name="Google Shape;358;p35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59" name="Google Shape;359;p35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60" name="Google Shape;360;p35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pic>
        <p:nvPicPr>
          <p:cNvPr descr="A picture containing calendar&#10;&#10;Description automatically generated" id="361" name="Google Shape;36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2629000"/>
            <a:ext cx="1038095" cy="160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62" name="Google Shape;362;p35"/>
          <p:cNvSpPr txBox="1"/>
          <p:nvPr/>
        </p:nvSpPr>
        <p:spPr>
          <a:xfrm>
            <a:off x="3352800" y="1383268"/>
            <a:ext cx="243840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BAND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</a:t>
            </a:r>
            <a:endParaRPr/>
          </a:p>
        </p:txBody>
      </p:sp>
      <p:sp>
        <p:nvSpPr>
          <p:cNvPr id="363" name="Google Shape;363;p35"/>
          <p:cNvSpPr/>
          <p:nvPr/>
        </p:nvSpPr>
        <p:spPr>
          <a:xfrm>
            <a:off x="3331525" y="2054942"/>
            <a:ext cx="916011" cy="2669458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5"/>
          <p:cNvSpPr txBox="1"/>
          <p:nvPr/>
        </p:nvSpPr>
        <p:spPr>
          <a:xfrm>
            <a:off x="391011" y="3124200"/>
            <a:ext cx="3398519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value at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element can be may be read or a value written to.  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369" name="Google Shape;36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6600000" cy="35314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text, application, Word&#10;&#10;Description automatically generated" id="370" name="Google Shape;37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6715" y="2714714"/>
            <a:ext cx="1723810" cy="142857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371" name="Google Shape;371;p36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72" name="Google Shape;372;p36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73" name="Google Shape;373;p36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374" name="Google Shape;374;p36"/>
          <p:cNvSpPr txBox="1"/>
          <p:nvPr/>
        </p:nvSpPr>
        <p:spPr>
          <a:xfrm>
            <a:off x="3172750" y="2126752"/>
            <a:ext cx="3276600" cy="132343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 Name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same as the instruction.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default Tag Name may be changed.</a:t>
            </a:r>
            <a:endParaRPr/>
          </a:p>
        </p:txBody>
      </p:sp>
      <p:sp>
        <p:nvSpPr>
          <p:cNvPr id="375" name="Google Shape;375;p36"/>
          <p:cNvSpPr/>
          <p:nvPr/>
        </p:nvSpPr>
        <p:spPr>
          <a:xfrm>
            <a:off x="838199" y="2127287"/>
            <a:ext cx="1007449" cy="42418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6"/>
          <p:cNvSpPr/>
          <p:nvPr/>
        </p:nvSpPr>
        <p:spPr>
          <a:xfrm>
            <a:off x="6830962" y="3066268"/>
            <a:ext cx="680884" cy="30619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6"/>
          <p:cNvSpPr txBox="1"/>
          <p:nvPr/>
        </p:nvSpPr>
        <p:spPr>
          <a:xfrm>
            <a:off x="3352800" y="1383268"/>
            <a:ext cx="243840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TONR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</a:t>
            </a:r>
            <a:endParaRPr/>
          </a:p>
        </p:txBody>
      </p:sp>
      <p:sp>
        <p:nvSpPr>
          <p:cNvPr id="378" name="Google Shape;378;p36"/>
          <p:cNvSpPr txBox="1"/>
          <p:nvPr/>
        </p:nvSpPr>
        <p:spPr>
          <a:xfrm>
            <a:off x="333875" y="5242775"/>
            <a:ext cx="26259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TONR_01.en  - created auto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TONR_01.TimerEnable - Created auto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9" name="Google Shape;379;p36"/>
          <p:cNvSpPr txBox="1"/>
          <p:nvPr/>
        </p:nvSpPr>
        <p:spPr>
          <a:xfrm>
            <a:off x="5793200" y="180475"/>
            <a:ext cx="26259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384" name="Google Shape;38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6600000" cy="35314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text, application, Word&#10;&#10;Description automatically generated" id="385" name="Google Shape;38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7215" y="2971800"/>
            <a:ext cx="1723810" cy="142857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386" name="Google Shape;386;p37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87" name="Google Shape;387;p37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88" name="Google Shape;388;p37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389" name="Google Shape;389;p37"/>
          <p:cNvSpPr/>
          <p:nvPr/>
        </p:nvSpPr>
        <p:spPr>
          <a:xfrm>
            <a:off x="5646186" y="2134951"/>
            <a:ext cx="830814" cy="40626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3473913" y="2438400"/>
            <a:ext cx="1982811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Data Type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FBD_TIMER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91" name="Google Shape;391;p37"/>
          <p:cNvSpPr txBox="1"/>
          <p:nvPr/>
        </p:nvSpPr>
        <p:spPr>
          <a:xfrm>
            <a:off x="3352800" y="1383268"/>
            <a:ext cx="243840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TONR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396" name="Google Shape;39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6600000" cy="35314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text, application, Word&#10;&#10;Description automatically generated" id="397" name="Google Shape;39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7215" y="2971800"/>
            <a:ext cx="1723810" cy="142857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398" name="Google Shape;398;p3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99" name="Google Shape;399;p3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400" name="Google Shape;400;p38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401" name="Google Shape;401;p38"/>
          <p:cNvSpPr/>
          <p:nvPr/>
        </p:nvSpPr>
        <p:spPr>
          <a:xfrm>
            <a:off x="1039415" y="2494936"/>
            <a:ext cx="1062977" cy="64633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8"/>
          <p:cNvSpPr txBox="1"/>
          <p:nvPr/>
        </p:nvSpPr>
        <p:spPr>
          <a:xfrm>
            <a:off x="2432410" y="2693244"/>
            <a:ext cx="3511190" cy="147732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instruction’s parameters are similar to the Ladder Logic and additional parameters for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unction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lock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iagram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Type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03" name="Google Shape;403;p38"/>
          <p:cNvSpPr/>
          <p:nvPr/>
        </p:nvSpPr>
        <p:spPr>
          <a:xfrm>
            <a:off x="1039415" y="3636596"/>
            <a:ext cx="1062977" cy="306139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8"/>
          <p:cNvSpPr/>
          <p:nvPr/>
        </p:nvSpPr>
        <p:spPr>
          <a:xfrm>
            <a:off x="1042760" y="4637656"/>
            <a:ext cx="1062977" cy="306139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8"/>
          <p:cNvSpPr txBox="1"/>
          <p:nvPr/>
        </p:nvSpPr>
        <p:spPr>
          <a:xfrm>
            <a:off x="3352800" y="1383268"/>
            <a:ext cx="243840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TONR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oogle Shape;410;p3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411" name="Google Shape;411;p3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412" name="Google Shape;412;p39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413" name="Google Shape;413;p39"/>
          <p:cNvSpPr/>
          <p:nvPr/>
        </p:nvSpPr>
        <p:spPr>
          <a:xfrm>
            <a:off x="990601" y="2703785"/>
            <a:ext cx="3309514" cy="179201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9"/>
          <p:cNvSpPr/>
          <p:nvPr/>
        </p:nvSpPr>
        <p:spPr>
          <a:xfrm>
            <a:off x="1360391" y="2823919"/>
            <a:ext cx="2569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Reference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IREF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415" name="Google Shape;415;p39"/>
          <p:cNvSpPr/>
          <p:nvPr/>
        </p:nvSpPr>
        <p:spPr>
          <a:xfrm>
            <a:off x="4817831" y="2703785"/>
            <a:ext cx="3309514" cy="179201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9"/>
          <p:cNvSpPr/>
          <p:nvPr/>
        </p:nvSpPr>
        <p:spPr>
          <a:xfrm>
            <a:off x="5040145" y="2823919"/>
            <a:ext cx="2864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Reference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OREF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pic>
        <p:nvPicPr>
          <p:cNvPr descr="Shape&#10;&#10;Description automatically generated" id="417" name="Google Shape;41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3733800"/>
            <a:ext cx="1968572" cy="6314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&#10;&#10;Description automatically generated" id="418" name="Google Shape;41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6556" y="3190953"/>
            <a:ext cx="1782858" cy="6190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&#10;&#10;Description automatically generated" id="419" name="Google Shape;419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73699" y="3733800"/>
            <a:ext cx="1968572" cy="6314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rectangle&#10;&#10;Description automatically generated" id="420" name="Google Shape;420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7305" y="3190953"/>
            <a:ext cx="1782858" cy="619047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9"/>
          <p:cNvSpPr txBox="1"/>
          <p:nvPr/>
        </p:nvSpPr>
        <p:spPr>
          <a:xfrm>
            <a:off x="771344" y="1489104"/>
            <a:ext cx="76013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is automatically created for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IREF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OREF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instruction.</a:t>
            </a:r>
            <a:endParaRPr/>
          </a:p>
        </p:txBody>
      </p:sp>
      <p:sp>
        <p:nvSpPr>
          <p:cNvPr id="422" name="Google Shape;422;p39"/>
          <p:cNvSpPr txBox="1"/>
          <p:nvPr/>
        </p:nvSpPr>
        <p:spPr>
          <a:xfrm>
            <a:off x="2174410" y="2133600"/>
            <a:ext cx="47951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instruction uses the Tag Name assigned. </a:t>
            </a:r>
            <a:endParaRPr/>
          </a:p>
        </p:txBody>
      </p:sp>
      <p:cxnSp>
        <p:nvCxnSpPr>
          <p:cNvPr id="423" name="Google Shape;423;p39"/>
          <p:cNvCxnSpPr/>
          <p:nvPr/>
        </p:nvCxnSpPr>
        <p:spPr>
          <a:xfrm>
            <a:off x="731520" y="1905000"/>
            <a:ext cx="7726680" cy="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  <p:cxnSp>
        <p:nvCxnSpPr>
          <p:cNvPr id="424" name="Google Shape;424;p39"/>
          <p:cNvCxnSpPr/>
          <p:nvPr/>
        </p:nvCxnSpPr>
        <p:spPr>
          <a:xfrm>
            <a:off x="731520" y="1435690"/>
            <a:ext cx="7726680" cy="53414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 txBox="1"/>
          <p:nvPr/>
        </p:nvSpPr>
        <p:spPr>
          <a:xfrm>
            <a:off x="3043377" y="1350220"/>
            <a:ext cx="3057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Normally Open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with Output</a:t>
            </a:r>
            <a:endParaRPr/>
          </a:p>
        </p:txBody>
      </p:sp>
      <p:pic>
        <p:nvPicPr>
          <p:cNvPr descr="Rectangle&#10;&#10;Description automatically generated with low confidence" id="430" name="Google Shape;43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810" y="3108960"/>
            <a:ext cx="4552381" cy="90476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Shape, rectangle&#10;&#10;Description automatically generated" id="431" name="Google Shape;43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1524" y="2011680"/>
            <a:ext cx="4980952" cy="63809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432" name="Google Shape;432;p4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433" name="Google Shape;433;p4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434" name="Google Shape;434;p40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1"/>
          <p:cNvSpPr txBox="1"/>
          <p:nvPr/>
        </p:nvSpPr>
        <p:spPr>
          <a:xfrm>
            <a:off x="2953608" y="1350220"/>
            <a:ext cx="3236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Normally Closed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with Output</a:t>
            </a:r>
            <a:endParaRPr/>
          </a:p>
        </p:txBody>
      </p:sp>
      <p:pic>
        <p:nvPicPr>
          <p:cNvPr descr="Shape, rectangle&#10;&#10;Description automatically generated" id="440" name="Google Shape;44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1524" y="2011680"/>
            <a:ext cx="4980952" cy="63809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 with medium confidence" id="441" name="Google Shape;44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3905" y="3108960"/>
            <a:ext cx="4476190" cy="131428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442" name="Google Shape;442;p4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443" name="Google Shape;443;p4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444" name="Google Shape;444;p41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445" name="Google Shape;445;p41"/>
          <p:cNvSpPr txBox="1"/>
          <p:nvPr/>
        </p:nvSpPr>
        <p:spPr>
          <a:xfrm>
            <a:off x="658725" y="3654575"/>
            <a:ext cx="14889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/ means not add a binary not instructino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2"/>
          <p:cNvSpPr txBox="1"/>
          <p:nvPr/>
        </p:nvSpPr>
        <p:spPr>
          <a:xfrm>
            <a:off x="3620458" y="1350220"/>
            <a:ext cx="1903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pic>
        <p:nvPicPr>
          <p:cNvPr descr="Diagram&#10;&#10;Description automatically generated" id="451" name="Google Shape;45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6762" y="3124200"/>
            <a:ext cx="4590476" cy="239047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Diagram&#10;&#10;Description automatically generated with medium confidence" id="452" name="Google Shape;45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1524" y="2011680"/>
            <a:ext cx="4980952" cy="72381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453" name="Google Shape;453;p4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454" name="Google Shape;454;p4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455" name="Google Shape;455;p42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456" name="Google Shape;456;p42"/>
          <p:cNvSpPr txBox="1"/>
          <p:nvPr/>
        </p:nvSpPr>
        <p:spPr>
          <a:xfrm>
            <a:off x="406075" y="3230475"/>
            <a:ext cx="14619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series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/>
          <p:nvPr/>
        </p:nvSpPr>
        <p:spPr>
          <a:xfrm>
            <a:off x="3620458" y="1350220"/>
            <a:ext cx="17620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pic>
        <p:nvPicPr>
          <p:cNvPr descr="Shape&#10;&#10;Description automatically generated" id="462" name="Google Shape;46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373" y="1947639"/>
            <a:ext cx="4980952" cy="20571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Diagram, schematic&#10;&#10;Description automatically generated" id="463" name="Google Shape;46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3484" y="2895600"/>
            <a:ext cx="4657143" cy="249523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464" name="Google Shape;464;p4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465" name="Google Shape;465;p4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466" name="Google Shape;466;p43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467" name="Google Shape;467;p43"/>
          <p:cNvSpPr txBox="1"/>
          <p:nvPr/>
        </p:nvSpPr>
        <p:spPr>
          <a:xfrm>
            <a:off x="730925" y="4656225"/>
            <a:ext cx="18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4"/>
          <p:cNvSpPr txBox="1"/>
          <p:nvPr/>
        </p:nvSpPr>
        <p:spPr>
          <a:xfrm>
            <a:off x="2466199" y="1219200"/>
            <a:ext cx="4211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1: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STOP - START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pic>
        <p:nvPicPr>
          <p:cNvPr descr="Diagram&#10;&#10;Description automatically generated with low confidence" id="473" name="Google Shape;47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3428" y="1668365"/>
            <a:ext cx="4517143" cy="111428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Diagram&#10;&#10;Description automatically generated" id="474" name="Google Shape;47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3429" y="3015943"/>
            <a:ext cx="4937143" cy="262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475" name="Google Shape;475;p44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476" name="Google Shape;476;p4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477" name="Google Shape;477;p44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5"/>
          <p:cNvSpPr txBox="1"/>
          <p:nvPr/>
        </p:nvSpPr>
        <p:spPr>
          <a:xfrm>
            <a:off x="2466199" y="1219200"/>
            <a:ext cx="4211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1: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STOP - START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pic>
        <p:nvPicPr>
          <p:cNvPr descr="Diagram&#10;&#10;Description automatically generated with low confidence" id="483" name="Google Shape;48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3428" y="1668365"/>
            <a:ext cx="4517143" cy="111428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Diagram&#10;&#10;Description automatically generated" id="484" name="Google Shape;48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3115" y="3017520"/>
            <a:ext cx="4937770" cy="26225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85" name="Google Shape;485;p45"/>
          <p:cNvSpPr txBox="1"/>
          <p:nvPr/>
        </p:nvSpPr>
        <p:spPr>
          <a:xfrm>
            <a:off x="1112878" y="3124200"/>
            <a:ext cx="198047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’d...</a:t>
            </a:r>
            <a:endParaRPr/>
          </a:p>
        </p:txBody>
      </p:sp>
      <p:sp>
        <p:nvSpPr>
          <p:cNvPr id="486" name="Google Shape;486;p45"/>
          <p:cNvSpPr txBox="1"/>
          <p:nvPr/>
        </p:nvSpPr>
        <p:spPr>
          <a:xfrm>
            <a:off x="2943189" y="5536340"/>
            <a:ext cx="3257623" cy="32316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flow is added for clarification.</a:t>
            </a:r>
            <a:endParaRPr/>
          </a:p>
        </p:txBody>
      </p:sp>
      <p:grpSp>
        <p:nvGrpSpPr>
          <p:cNvPr id="487" name="Google Shape;487;p45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488" name="Google Shape;488;p45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489" name="Google Shape;489;p45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494" name="Google Shape;4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3115" y="3017520"/>
            <a:ext cx="4937770" cy="26225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95" name="Google Shape;495;p46"/>
          <p:cNvSpPr txBox="1"/>
          <p:nvPr/>
        </p:nvSpPr>
        <p:spPr>
          <a:xfrm>
            <a:off x="2466199" y="1219200"/>
            <a:ext cx="4211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1: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STOP - START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pic>
        <p:nvPicPr>
          <p:cNvPr descr="Diagram&#10;&#10;Description automatically generated with low confidence" id="496" name="Google Shape;49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3428" y="1668365"/>
            <a:ext cx="4517143" cy="111428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97" name="Google Shape;497;p46"/>
          <p:cNvSpPr txBox="1"/>
          <p:nvPr/>
        </p:nvSpPr>
        <p:spPr>
          <a:xfrm>
            <a:off x="1112878" y="3118660"/>
            <a:ext cx="198047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’d...</a:t>
            </a:r>
            <a:endParaRPr/>
          </a:p>
        </p:txBody>
      </p:sp>
      <p:sp>
        <p:nvSpPr>
          <p:cNvPr id="498" name="Google Shape;498;p46"/>
          <p:cNvSpPr txBox="1"/>
          <p:nvPr/>
        </p:nvSpPr>
        <p:spPr>
          <a:xfrm>
            <a:off x="1112878" y="4267200"/>
            <a:ext cx="1718812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…with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99" name="Google Shape;499;p46"/>
          <p:cNvSpPr txBox="1"/>
          <p:nvPr/>
        </p:nvSpPr>
        <p:spPr>
          <a:xfrm>
            <a:off x="5791200" y="4058575"/>
            <a:ext cx="2731535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energize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500" name="Google Shape;500;p46"/>
          <p:cNvSpPr/>
          <p:nvPr/>
        </p:nvSpPr>
        <p:spPr>
          <a:xfrm>
            <a:off x="2628901" y="1746716"/>
            <a:ext cx="1421989" cy="446797"/>
          </a:xfrm>
          <a:prstGeom prst="rect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6"/>
          <p:cNvSpPr txBox="1"/>
          <p:nvPr/>
        </p:nvSpPr>
        <p:spPr>
          <a:xfrm>
            <a:off x="2943189" y="5536340"/>
            <a:ext cx="3257623" cy="32316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flow is added for clarification.</a:t>
            </a:r>
            <a:endParaRPr/>
          </a:p>
        </p:txBody>
      </p:sp>
      <p:grpSp>
        <p:nvGrpSpPr>
          <p:cNvPr id="502" name="Google Shape;502;p46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503" name="Google Shape;503;p46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504" name="Google Shape;504;p46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505" name="Google Shape;505;p46"/>
          <p:cNvSpPr/>
          <p:nvPr/>
        </p:nvSpPr>
        <p:spPr>
          <a:xfrm>
            <a:off x="2209801" y="3499688"/>
            <a:ext cx="3257623" cy="1689947"/>
          </a:xfrm>
          <a:custGeom>
            <a:rect b="b" l="l" r="r" t="t"/>
            <a:pathLst>
              <a:path extrusionOk="0" h="1562459" w="3257623">
                <a:moveTo>
                  <a:pt x="0" y="0"/>
                </a:moveTo>
                <a:lnTo>
                  <a:pt x="3257623" y="0"/>
                </a:lnTo>
                <a:cubicBezTo>
                  <a:pt x="3256469" y="210144"/>
                  <a:pt x="3255314" y="420289"/>
                  <a:pt x="3254160" y="630433"/>
                </a:cubicBezTo>
                <a:lnTo>
                  <a:pt x="2236636" y="625637"/>
                </a:lnTo>
                <a:cubicBezTo>
                  <a:pt x="2239221" y="907572"/>
                  <a:pt x="2230588" y="1274672"/>
                  <a:pt x="2227563" y="1545962"/>
                </a:cubicBezTo>
                <a:lnTo>
                  <a:pt x="0" y="1562459"/>
                </a:lnTo>
                <a:cubicBezTo>
                  <a:pt x="1293" y="1440188"/>
                  <a:pt x="3193" y="1309693"/>
                  <a:pt x="466" y="1149735"/>
                </a:cubicBezTo>
                <a:lnTo>
                  <a:pt x="1896585" y="1153910"/>
                </a:lnTo>
                <a:cubicBezTo>
                  <a:pt x="1900402" y="917285"/>
                  <a:pt x="1892847" y="742024"/>
                  <a:pt x="1896586" y="445638"/>
                </a:cubicBezTo>
                <a:cubicBezTo>
                  <a:pt x="1745121" y="440028"/>
                  <a:pt x="219251" y="445639"/>
                  <a:pt x="468" y="445639"/>
                </a:cubicBezTo>
                <a:lnTo>
                  <a:pt x="0" y="0"/>
                </a:lnTo>
                <a:close/>
              </a:path>
            </a:pathLst>
          </a:cu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6"/>
          <p:cNvSpPr txBox="1"/>
          <p:nvPr/>
        </p:nvSpPr>
        <p:spPr>
          <a:xfrm>
            <a:off x="875825" y="5035525"/>
            <a:ext cx="12273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or - holding circuit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7"/>
          <p:cNvSpPr txBox="1"/>
          <p:nvPr/>
        </p:nvSpPr>
        <p:spPr>
          <a:xfrm>
            <a:off x="2466199" y="1219200"/>
            <a:ext cx="4211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1: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STOP - START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pic>
        <p:nvPicPr>
          <p:cNvPr descr="Diagram&#10;&#10;Description automatically generated with low confidence" id="512" name="Google Shape;51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3428" y="1668365"/>
            <a:ext cx="4517143" cy="111428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Diagram&#10;&#10;Description automatically generated" id="513" name="Google Shape;51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3115" y="3017520"/>
            <a:ext cx="4937770" cy="26225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514" name="Google Shape;514;p47"/>
          <p:cNvSpPr/>
          <p:nvPr/>
        </p:nvSpPr>
        <p:spPr>
          <a:xfrm>
            <a:off x="3200400" y="1743343"/>
            <a:ext cx="3326989" cy="923657"/>
          </a:xfrm>
          <a:custGeom>
            <a:rect b="b" l="l" r="r" t="t"/>
            <a:pathLst>
              <a:path extrusionOk="0" h="923657" w="3326989">
                <a:moveTo>
                  <a:pt x="0" y="469900"/>
                </a:moveTo>
                <a:lnTo>
                  <a:pt x="2571750" y="472807"/>
                </a:lnTo>
                <a:cubicBezTo>
                  <a:pt x="2569633" y="316174"/>
                  <a:pt x="2573867" y="159540"/>
                  <a:pt x="2571750" y="2907"/>
                </a:cubicBezTo>
                <a:lnTo>
                  <a:pt x="3326989" y="0"/>
                </a:lnTo>
                <a:lnTo>
                  <a:pt x="3326989" y="923657"/>
                </a:lnTo>
                <a:lnTo>
                  <a:pt x="0" y="923657"/>
                </a:lnTo>
                <a:lnTo>
                  <a:pt x="0" y="469900"/>
                </a:lnTo>
                <a:close/>
              </a:path>
            </a:pathLst>
          </a:cu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5" name="Google Shape;515;p47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516" name="Google Shape;516;p47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517" name="Google Shape;517;p47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518" name="Google Shape;518;p47"/>
          <p:cNvSpPr/>
          <p:nvPr/>
        </p:nvSpPr>
        <p:spPr>
          <a:xfrm>
            <a:off x="2939543" y="3483442"/>
            <a:ext cx="4011863" cy="1993125"/>
          </a:xfrm>
          <a:custGeom>
            <a:rect b="b" l="l" r="r" t="t"/>
            <a:pathLst>
              <a:path extrusionOk="0" h="1993125" w="4011863">
                <a:moveTo>
                  <a:pt x="2101717" y="1531480"/>
                </a:moveTo>
                <a:cubicBezTo>
                  <a:pt x="2104242" y="1021071"/>
                  <a:pt x="2106766" y="510663"/>
                  <a:pt x="2109291" y="254"/>
                </a:cubicBezTo>
                <a:lnTo>
                  <a:pt x="4011863" y="0"/>
                </a:lnTo>
                <a:cubicBezTo>
                  <a:pt x="4005972" y="198298"/>
                  <a:pt x="4005691" y="340497"/>
                  <a:pt x="3999799" y="583674"/>
                </a:cubicBezTo>
                <a:lnTo>
                  <a:pt x="2575750" y="585061"/>
                </a:lnTo>
                <a:cubicBezTo>
                  <a:pt x="2575469" y="1052083"/>
                  <a:pt x="2575187" y="1519106"/>
                  <a:pt x="2574906" y="1986128"/>
                </a:cubicBezTo>
                <a:lnTo>
                  <a:pt x="3646" y="1993125"/>
                </a:lnTo>
                <a:cubicBezTo>
                  <a:pt x="2431" y="1843068"/>
                  <a:pt x="1215" y="1693010"/>
                  <a:pt x="0" y="1542953"/>
                </a:cubicBezTo>
                <a:lnTo>
                  <a:pt x="2101717" y="1531480"/>
                </a:lnTo>
                <a:close/>
              </a:path>
            </a:pathLst>
          </a:cu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7"/>
          <p:cNvSpPr txBox="1"/>
          <p:nvPr/>
        </p:nvSpPr>
        <p:spPr>
          <a:xfrm>
            <a:off x="5925001" y="4298047"/>
            <a:ext cx="2231767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’d energized 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creates the Holding Circuit.</a:t>
            </a:r>
            <a:endParaRPr/>
          </a:p>
        </p:txBody>
      </p:sp>
      <p:sp>
        <p:nvSpPr>
          <p:cNvPr id="520" name="Google Shape;520;p47"/>
          <p:cNvSpPr txBox="1"/>
          <p:nvPr/>
        </p:nvSpPr>
        <p:spPr>
          <a:xfrm>
            <a:off x="2943189" y="5536340"/>
            <a:ext cx="3257623" cy="32316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flow is added for clarification.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/>
        </p:nvSpPr>
        <p:spPr>
          <a:xfrm>
            <a:off x="2466199" y="1219200"/>
            <a:ext cx="4211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1: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STOP - START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pic>
        <p:nvPicPr>
          <p:cNvPr descr="Diagram&#10;&#10;Description automatically generated with low confidence" id="526" name="Google Shape;52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3428" y="1668365"/>
            <a:ext cx="4517143" cy="111428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Diagram&#10;&#10;Description automatically generated" id="527" name="Google Shape;52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3429" y="3015943"/>
            <a:ext cx="4937143" cy="262285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application&#10;&#10;Description automatically generated" id="528" name="Google Shape;528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1015" y="3023516"/>
            <a:ext cx="1972000" cy="171133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529" name="Google Shape;529;p48"/>
          <p:cNvSpPr/>
          <p:nvPr/>
        </p:nvSpPr>
        <p:spPr>
          <a:xfrm>
            <a:off x="1095013" y="4069107"/>
            <a:ext cx="600370" cy="3048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8"/>
          <p:cNvSpPr txBox="1"/>
          <p:nvPr/>
        </p:nvSpPr>
        <p:spPr>
          <a:xfrm>
            <a:off x="381000" y="1790561"/>
            <a:ext cx="4762845" cy="120032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Because of the wrap around of the Holding Circuit from the Motor, the double arrows indicate it is assumed data will be present for the instruction when interpreted.</a:t>
            </a:r>
            <a:endParaRPr/>
          </a:p>
        </p:txBody>
      </p:sp>
      <p:sp>
        <p:nvSpPr>
          <p:cNvPr id="531" name="Google Shape;531;p48"/>
          <p:cNvSpPr txBox="1"/>
          <p:nvPr/>
        </p:nvSpPr>
        <p:spPr>
          <a:xfrm>
            <a:off x="5486400" y="4495800"/>
            <a:ext cx="3276600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 click on the Connection Line and select from the context menu,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Data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grpSp>
        <p:nvGrpSpPr>
          <p:cNvPr id="532" name="Google Shape;532;p4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533" name="Google Shape;533;p4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534" name="Google Shape;534;p48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grpSp>
        <p:nvGrpSpPr>
          <p:cNvPr id="535" name="Google Shape;535;p48"/>
          <p:cNvGrpSpPr/>
          <p:nvPr/>
        </p:nvGrpSpPr>
        <p:grpSpPr>
          <a:xfrm>
            <a:off x="3040039" y="3733800"/>
            <a:ext cx="2293961" cy="1633182"/>
            <a:chOff x="3040039" y="3733800"/>
            <a:chExt cx="2293961" cy="1633182"/>
          </a:xfrm>
        </p:grpSpPr>
        <p:cxnSp>
          <p:nvCxnSpPr>
            <p:cNvPr id="536" name="Google Shape;536;p48"/>
            <p:cNvCxnSpPr/>
            <p:nvPr/>
          </p:nvCxnSpPr>
          <p:spPr>
            <a:xfrm>
              <a:off x="5304504" y="3733800"/>
              <a:ext cx="0" cy="1600200"/>
            </a:xfrm>
            <a:prstGeom prst="straightConnector1">
              <a:avLst/>
            </a:prstGeom>
            <a:noFill/>
            <a:ln cap="flat" cmpd="sng" w="57150">
              <a:solidFill>
                <a:srgbClr val="0070C0">
                  <a:alpha val="2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48"/>
            <p:cNvCxnSpPr/>
            <p:nvPr/>
          </p:nvCxnSpPr>
          <p:spPr>
            <a:xfrm flipH="1" rot="10800000">
              <a:off x="3040039" y="5334000"/>
              <a:ext cx="2293961" cy="2275"/>
            </a:xfrm>
            <a:prstGeom prst="straightConnector1">
              <a:avLst/>
            </a:prstGeom>
            <a:noFill/>
            <a:ln cap="flat" cmpd="sng" w="57150">
              <a:solidFill>
                <a:srgbClr val="0070C0">
                  <a:alpha val="2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8" name="Google Shape;538;p48"/>
            <p:cNvCxnSpPr/>
            <p:nvPr/>
          </p:nvCxnSpPr>
          <p:spPr>
            <a:xfrm flipH="1">
              <a:off x="3046863" y="5105400"/>
              <a:ext cx="4681" cy="261582"/>
            </a:xfrm>
            <a:prstGeom prst="straightConnector1">
              <a:avLst/>
            </a:prstGeom>
            <a:noFill/>
            <a:ln cap="flat" cmpd="sng" w="57150">
              <a:solidFill>
                <a:srgbClr val="0070C0">
                  <a:alpha val="2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9" name="Google Shape;539;p48"/>
            <p:cNvCxnSpPr/>
            <p:nvPr/>
          </p:nvCxnSpPr>
          <p:spPr>
            <a:xfrm>
              <a:off x="3051544" y="5135526"/>
              <a:ext cx="148856" cy="0"/>
            </a:xfrm>
            <a:prstGeom prst="straightConnector1">
              <a:avLst/>
            </a:prstGeom>
            <a:noFill/>
            <a:ln cap="flat" cmpd="sng" w="57150">
              <a:solidFill>
                <a:srgbClr val="0070C0">
                  <a:alpha val="2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40" name="Google Shape;540;p48"/>
          <p:cNvSpPr txBox="1"/>
          <p:nvPr/>
        </p:nvSpPr>
        <p:spPr>
          <a:xfrm>
            <a:off x="90225" y="4990100"/>
            <a:ext cx="2949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wraps back around assume data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9"/>
          <p:cNvSpPr txBox="1"/>
          <p:nvPr/>
        </p:nvSpPr>
        <p:spPr>
          <a:xfrm>
            <a:off x="2466199" y="1219200"/>
            <a:ext cx="4211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2: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STOP - START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pic>
        <p:nvPicPr>
          <p:cNvPr descr="A picture containing diagram&#10;&#10;Description automatically generated" id="546" name="Google Shape;54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3" y="1673352"/>
            <a:ext cx="4517143" cy="107142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 with medium confidence" id="547" name="Google Shape;547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905" y="3108960"/>
            <a:ext cx="6476190" cy="177142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48" name="Google Shape;548;p4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549" name="Google Shape;549;p4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550" name="Google Shape;550;p49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551" name="Google Shape;551;p49"/>
          <p:cNvSpPr txBox="1"/>
          <p:nvPr/>
        </p:nvSpPr>
        <p:spPr>
          <a:xfrm>
            <a:off x="315825" y="5152525"/>
            <a:ext cx="5892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sometimes when open tries line to grid. Turn on grid align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2" name="Google Shape;552;p49"/>
          <p:cNvSpPr txBox="1"/>
          <p:nvPr/>
        </p:nvSpPr>
        <p:spPr>
          <a:xfrm>
            <a:off x="6411500" y="3323000"/>
            <a:ext cx="13986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out same as motor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0"/>
          <p:cNvSpPr txBox="1"/>
          <p:nvPr/>
        </p:nvSpPr>
        <p:spPr>
          <a:xfrm>
            <a:off x="2466199" y="1219200"/>
            <a:ext cx="42116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3: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STOP - START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pic>
        <p:nvPicPr>
          <p:cNvPr descr="A picture containing diagram&#10;&#10;Description automatically generated" id="558" name="Google Shape;5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3" y="1673352"/>
            <a:ext cx="4517143" cy="107142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Diagram&#10;&#10;Description automatically generated" id="559" name="Google Shape;559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1524" y="3108960"/>
            <a:ext cx="6580952" cy="190476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60" name="Google Shape;560;p5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561" name="Google Shape;561;p5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562" name="Google Shape;562;p50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563" name="Google Shape;563;p50"/>
          <p:cNvSpPr txBox="1"/>
          <p:nvPr/>
        </p:nvSpPr>
        <p:spPr>
          <a:xfrm>
            <a:off x="721900" y="5278850"/>
            <a:ext cx="74805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doesn’t look like a holding circuit  still is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1"/>
          <p:cNvSpPr txBox="1"/>
          <p:nvPr/>
        </p:nvSpPr>
        <p:spPr>
          <a:xfrm>
            <a:off x="2280347" y="1143000"/>
            <a:ext cx="45833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Delay De-energize Output</a:t>
            </a:r>
            <a:endParaRPr/>
          </a:p>
        </p:txBody>
      </p:sp>
      <p:pic>
        <p:nvPicPr>
          <p:cNvPr descr="Diagram&#10;&#10;Description automatically generated" id="569" name="Google Shape;56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000" y="1629568"/>
            <a:ext cx="5220000" cy="174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application, Word&#10;&#10;Description automatically generated" id="570" name="Google Shape;570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810" y="3749040"/>
            <a:ext cx="8532381" cy="175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71" name="Google Shape;571;p5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572" name="Google Shape;572;p5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573" name="Google Shape;573;p51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578" name="Google Shape;57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000" y="1629568"/>
            <a:ext cx="5220000" cy="174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, application, Word&#10;&#10;Description automatically generated" id="579" name="Google Shape;57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944" y="3749040"/>
            <a:ext cx="8534112" cy="175656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80" name="Google Shape;580;p5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581" name="Google Shape;581;p5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582" name="Google Shape;582;p52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583" name="Google Shape;583;p52"/>
          <p:cNvSpPr txBox="1"/>
          <p:nvPr/>
        </p:nvSpPr>
        <p:spPr>
          <a:xfrm>
            <a:off x="2943189" y="5410200"/>
            <a:ext cx="3257623" cy="32316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flow is added for clarification.</a:t>
            </a:r>
            <a:endParaRPr/>
          </a:p>
        </p:txBody>
      </p:sp>
      <p:sp>
        <p:nvSpPr>
          <p:cNvPr id="584" name="Google Shape;584;p52"/>
          <p:cNvSpPr txBox="1"/>
          <p:nvPr/>
        </p:nvSpPr>
        <p:spPr>
          <a:xfrm>
            <a:off x="2280347" y="1143000"/>
            <a:ext cx="45833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Delay De-energize Output</a:t>
            </a:r>
            <a:endParaRPr/>
          </a:p>
        </p:txBody>
      </p:sp>
      <p:sp>
        <p:nvSpPr>
          <p:cNvPr id="585" name="Google Shape;585;p52"/>
          <p:cNvSpPr txBox="1"/>
          <p:nvPr/>
        </p:nvSpPr>
        <p:spPr>
          <a:xfrm>
            <a:off x="731520" y="3445081"/>
            <a:ext cx="41148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flow is at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pushbutton.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590" name="Google Shape;59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000" y="1629568"/>
            <a:ext cx="5220000" cy="174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591" name="Google Shape;591;p5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592" name="Google Shape;592;p5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593" name="Google Shape;593;p53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pic>
        <p:nvPicPr>
          <p:cNvPr descr="A picture containing screenshot, diagram, line&#10;&#10;Description automatically generated" id="594" name="Google Shape;594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944" y="3749040"/>
            <a:ext cx="8527063" cy="175564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595" name="Google Shape;595;p53"/>
          <p:cNvSpPr txBox="1"/>
          <p:nvPr/>
        </p:nvSpPr>
        <p:spPr>
          <a:xfrm>
            <a:off x="2280347" y="1143000"/>
            <a:ext cx="45833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Delay De-energize Output</a:t>
            </a:r>
            <a:endParaRPr/>
          </a:p>
        </p:txBody>
      </p:sp>
      <p:sp>
        <p:nvSpPr>
          <p:cNvPr id="596" name="Google Shape;596;p53"/>
          <p:cNvSpPr txBox="1"/>
          <p:nvPr/>
        </p:nvSpPr>
        <p:spPr>
          <a:xfrm>
            <a:off x="660973" y="3471595"/>
            <a:ext cx="620268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pushbutton is pressed energizing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601" name="Google Shape;6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000" y="1629568"/>
            <a:ext cx="5220000" cy="174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602" name="Google Shape;602;p54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603" name="Google Shape;603;p5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604" name="Google Shape;604;p54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pic>
        <p:nvPicPr>
          <p:cNvPr descr="A picture containing screenshot, diagram, line&#10;&#10;Description automatically generated" id="605" name="Google Shape;60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944" y="3749040"/>
            <a:ext cx="8527063" cy="175564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06" name="Google Shape;606;p54"/>
          <p:cNvSpPr txBox="1"/>
          <p:nvPr/>
        </p:nvSpPr>
        <p:spPr>
          <a:xfrm>
            <a:off x="2280347" y="1143000"/>
            <a:ext cx="45833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Delay De-energize Output</a:t>
            </a:r>
            <a:endParaRPr/>
          </a:p>
        </p:txBody>
      </p:sp>
      <p:sp>
        <p:nvSpPr>
          <p:cNvPr id="607" name="Google Shape;607;p54"/>
          <p:cNvSpPr txBox="1"/>
          <p:nvPr/>
        </p:nvSpPr>
        <p:spPr>
          <a:xfrm>
            <a:off x="1615624" y="4640231"/>
            <a:ext cx="3471129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TONR DN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’ed by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provides power flow to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612" name="Google Shape;6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000" y="1629568"/>
            <a:ext cx="5220000" cy="174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613" name="Google Shape;613;p55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614" name="Google Shape;614;p55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615" name="Google Shape;615;p55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pic>
        <p:nvPicPr>
          <p:cNvPr descr="A screenshot of a computer&#10;&#10;Description automatically generated with medium confidence" id="616" name="Google Shape;61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52" y="3749040"/>
            <a:ext cx="8529654" cy="175564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17" name="Google Shape;617;p55"/>
          <p:cNvSpPr txBox="1"/>
          <p:nvPr/>
        </p:nvSpPr>
        <p:spPr>
          <a:xfrm>
            <a:off x="2943189" y="5486400"/>
            <a:ext cx="3257623" cy="32316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flow is added for clarification.</a:t>
            </a:r>
            <a:endParaRPr/>
          </a:p>
        </p:txBody>
      </p:sp>
      <p:sp>
        <p:nvSpPr>
          <p:cNvPr id="618" name="Google Shape;618;p55"/>
          <p:cNvSpPr txBox="1"/>
          <p:nvPr/>
        </p:nvSpPr>
        <p:spPr>
          <a:xfrm>
            <a:off x="2280347" y="1143000"/>
            <a:ext cx="45833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Delay De-energize Output</a:t>
            </a:r>
            <a:endParaRPr/>
          </a:p>
        </p:txBody>
      </p:sp>
      <p:sp>
        <p:nvSpPr>
          <p:cNvPr id="619" name="Google Shape;619;p55"/>
          <p:cNvSpPr txBox="1"/>
          <p:nvPr/>
        </p:nvSpPr>
        <p:spPr>
          <a:xfrm>
            <a:off x="533400" y="3384316"/>
            <a:ext cx="52200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’d “Holding Circuit” maintains power flow when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released.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624" name="Google Shape;62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2000" y="1629568"/>
            <a:ext cx="5220000" cy="174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625" name="Google Shape;625;p56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626" name="Google Shape;626;p56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627" name="Google Shape;627;p56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pic>
        <p:nvPicPr>
          <p:cNvPr descr="A picture containing screenshot, diagram, line&#10;&#10;Description automatically generated" id="628" name="Google Shape;62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52" y="3749040"/>
            <a:ext cx="8529654" cy="175564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29" name="Google Shape;629;p56"/>
          <p:cNvSpPr txBox="1"/>
          <p:nvPr/>
        </p:nvSpPr>
        <p:spPr>
          <a:xfrm>
            <a:off x="2280347" y="1143000"/>
            <a:ext cx="45833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Delay De-energize Output</a:t>
            </a:r>
            <a:endParaRPr/>
          </a:p>
        </p:txBody>
      </p:sp>
      <p:sp>
        <p:nvSpPr>
          <p:cNvPr id="630" name="Google Shape;630;p56"/>
          <p:cNvSpPr txBox="1"/>
          <p:nvPr/>
        </p:nvSpPr>
        <p:spPr>
          <a:xfrm>
            <a:off x="337174" y="4791670"/>
            <a:ext cx="472440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TONR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times out and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set,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discontinues power flow to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de-energizes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57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636" name="Google Shape;636;p57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637" name="Google Shape;637;p57"/>
            <p:cNvSpPr txBox="1"/>
            <p:nvPr/>
          </p:nvSpPr>
          <p:spPr>
            <a:xfrm>
              <a:off x="3838466" y="622559"/>
              <a:ext cx="14670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Power Flow</a:t>
              </a:r>
              <a:endParaRPr/>
            </a:p>
          </p:txBody>
        </p:sp>
      </p:grpSp>
      <p:pic>
        <p:nvPicPr>
          <p:cNvPr descr="A picture containing diagram&#10;&#10;Description automatically generated" id="638" name="Google Shape;63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762" y="1414714"/>
            <a:ext cx="7120476" cy="382714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39" name="Google Shape;639;p57"/>
          <p:cNvSpPr/>
          <p:nvPr/>
        </p:nvSpPr>
        <p:spPr>
          <a:xfrm>
            <a:off x="2413205" y="3124200"/>
            <a:ext cx="190501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7"/>
          <p:cNvSpPr/>
          <p:nvPr/>
        </p:nvSpPr>
        <p:spPr>
          <a:xfrm>
            <a:off x="3667629" y="3124200"/>
            <a:ext cx="190501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7"/>
          <p:cNvSpPr/>
          <p:nvPr/>
        </p:nvSpPr>
        <p:spPr>
          <a:xfrm>
            <a:off x="4714568" y="2922640"/>
            <a:ext cx="190501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57"/>
          <p:cNvSpPr/>
          <p:nvPr/>
        </p:nvSpPr>
        <p:spPr>
          <a:xfrm>
            <a:off x="5855112" y="2922640"/>
            <a:ext cx="190501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7"/>
          <p:cNvSpPr txBox="1"/>
          <p:nvPr/>
        </p:nvSpPr>
        <p:spPr>
          <a:xfrm>
            <a:off x="3538336" y="1946292"/>
            <a:ext cx="4633552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flow is not graphically shown.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 value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shown at the instruction’s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644" name="Google Shape;644;p57"/>
          <p:cNvSpPr txBox="1"/>
          <p:nvPr/>
        </p:nvSpPr>
        <p:spPr>
          <a:xfrm>
            <a:off x="1971368" y="4302109"/>
            <a:ext cx="548640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Normally Open and shows a 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Logic 0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Normally closed and shows a 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Logic 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de-energized and shows a 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Logic 0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iagram&#10;&#10;Description automatically generated" id="649" name="Google Shape;64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762" y="1414714"/>
            <a:ext cx="7120476" cy="382714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50" name="Google Shape;650;p58"/>
          <p:cNvSpPr/>
          <p:nvPr/>
        </p:nvSpPr>
        <p:spPr>
          <a:xfrm>
            <a:off x="2413205" y="3124200"/>
            <a:ext cx="190501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8"/>
          <p:cNvSpPr/>
          <p:nvPr/>
        </p:nvSpPr>
        <p:spPr>
          <a:xfrm>
            <a:off x="3667629" y="3124200"/>
            <a:ext cx="190501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8"/>
          <p:cNvSpPr/>
          <p:nvPr/>
        </p:nvSpPr>
        <p:spPr>
          <a:xfrm>
            <a:off x="4714568" y="2922640"/>
            <a:ext cx="190501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8"/>
          <p:cNvSpPr/>
          <p:nvPr/>
        </p:nvSpPr>
        <p:spPr>
          <a:xfrm>
            <a:off x="5855112" y="2922640"/>
            <a:ext cx="190501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4" name="Google Shape;654;p5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655" name="Google Shape;655;p5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656" name="Google Shape;656;p58"/>
            <p:cNvSpPr txBox="1"/>
            <p:nvPr/>
          </p:nvSpPr>
          <p:spPr>
            <a:xfrm>
              <a:off x="3838466" y="622559"/>
              <a:ext cx="14670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Power Flow</a:t>
              </a:r>
              <a:endParaRPr/>
            </a:p>
          </p:txBody>
        </p:sp>
      </p:grpSp>
      <p:sp>
        <p:nvSpPr>
          <p:cNvPr id="657" name="Google Shape;657;p58"/>
          <p:cNvSpPr txBox="1"/>
          <p:nvPr/>
        </p:nvSpPr>
        <p:spPr>
          <a:xfrm>
            <a:off x="2195052" y="4191000"/>
            <a:ext cx="5039032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pressed and shows a 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Logic 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energized and shows a 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Logic 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iagram&#10;&#10;Description automatically generated" id="662" name="Google Shape;66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762" y="1414714"/>
            <a:ext cx="7120476" cy="382714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63" name="Google Shape;663;p59"/>
          <p:cNvSpPr/>
          <p:nvPr/>
        </p:nvSpPr>
        <p:spPr>
          <a:xfrm>
            <a:off x="2417750" y="3094704"/>
            <a:ext cx="190501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4" name="Google Shape;664;p5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665" name="Google Shape;665;p5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666" name="Google Shape;666;p59"/>
            <p:cNvSpPr txBox="1"/>
            <p:nvPr/>
          </p:nvSpPr>
          <p:spPr>
            <a:xfrm>
              <a:off x="3838466" y="622559"/>
              <a:ext cx="14670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Power Flow</a:t>
              </a:r>
              <a:endParaRPr/>
            </a:p>
          </p:txBody>
        </p:sp>
      </p:grpSp>
      <p:sp>
        <p:nvSpPr>
          <p:cNvPr id="667" name="Google Shape;667;p59"/>
          <p:cNvSpPr txBox="1"/>
          <p:nvPr/>
        </p:nvSpPr>
        <p:spPr>
          <a:xfrm>
            <a:off x="1981200" y="4218942"/>
            <a:ext cx="5039032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START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released it returns to a 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Logic 0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Logic 1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creates the “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Holding Circuit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to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OR’d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START.</a:t>
            </a:r>
            <a:endParaRPr/>
          </a:p>
        </p:txBody>
      </p:sp>
      <p:sp>
        <p:nvSpPr>
          <p:cNvPr id="668" name="Google Shape;668;p59"/>
          <p:cNvSpPr/>
          <p:nvPr/>
        </p:nvSpPr>
        <p:spPr>
          <a:xfrm>
            <a:off x="5867400" y="2920182"/>
            <a:ext cx="190501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9"/>
          <p:cNvSpPr/>
          <p:nvPr/>
        </p:nvSpPr>
        <p:spPr>
          <a:xfrm rot="-5400000">
            <a:off x="2474899" y="3709646"/>
            <a:ext cx="190501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674" name="Google Shape;67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75" name="Google Shape;675;p60"/>
          <p:cNvSpPr/>
          <p:nvPr/>
        </p:nvSpPr>
        <p:spPr>
          <a:xfrm>
            <a:off x="457200" y="2050397"/>
            <a:ext cx="2555734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click and Hold and drag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IREF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input onto the editor </a:t>
            </a:r>
            <a:endParaRPr/>
          </a:p>
        </p:txBody>
      </p:sp>
      <p:sp>
        <p:nvSpPr>
          <p:cNvPr id="676" name="Google Shape;676;p60"/>
          <p:cNvSpPr/>
          <p:nvPr/>
        </p:nvSpPr>
        <p:spPr>
          <a:xfrm>
            <a:off x="3316712" y="2659996"/>
            <a:ext cx="838200" cy="593671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:\documents_1\2140\Presentations\Function Block\Graphics\Instructions\Toolbar.png" id="677" name="Google Shape;677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798" y="1219200"/>
            <a:ext cx="3991429" cy="61809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78" name="Google Shape;678;p60"/>
          <p:cNvSpPr/>
          <p:nvPr/>
        </p:nvSpPr>
        <p:spPr>
          <a:xfrm>
            <a:off x="562275" y="1296421"/>
            <a:ext cx="381000" cy="28875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9" name="Google Shape;679;p6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680" name="Google Shape;680;p6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681" name="Google Shape;681;p60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  <p:sp>
        <p:nvSpPr>
          <p:cNvPr id="682" name="Google Shape;682;p60"/>
          <p:cNvSpPr txBox="1"/>
          <p:nvPr/>
        </p:nvSpPr>
        <p:spPr>
          <a:xfrm>
            <a:off x="748975" y="4782550"/>
            <a:ext cx="519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Careful oval and square look alot alike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687" name="Google Shape;68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4560" y="1831539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A picture containing text, screenshot, font, line&#10;&#10;Description automatically generated" id="688" name="Google Shape;688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1280160"/>
            <a:ext cx="4285714" cy="5619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689" name="Google Shape;689;p61"/>
          <p:cNvSpPr/>
          <p:nvPr/>
        </p:nvSpPr>
        <p:spPr>
          <a:xfrm>
            <a:off x="1047136" y="1321274"/>
            <a:ext cx="381000" cy="28875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61"/>
          <p:cNvSpPr/>
          <p:nvPr/>
        </p:nvSpPr>
        <p:spPr>
          <a:xfrm>
            <a:off x="2819400" y="2994108"/>
            <a:ext cx="838200" cy="112069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1"/>
          <p:cNvSpPr/>
          <p:nvPr/>
        </p:nvSpPr>
        <p:spPr>
          <a:xfrm>
            <a:off x="4160274" y="2973328"/>
            <a:ext cx="3554976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example, two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IREF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inputs are dragged onto the editor </a:t>
            </a:r>
            <a:endParaRPr/>
          </a:p>
        </p:txBody>
      </p:sp>
      <p:grpSp>
        <p:nvGrpSpPr>
          <p:cNvPr id="692" name="Google Shape;692;p6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693" name="Google Shape;693;p6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694" name="Google Shape;694;p61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screenshot, font, line&#10;&#10;Description automatically generated" id="699" name="Google Shape;69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80160"/>
            <a:ext cx="4285714" cy="5619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A screenshot of a computer&#10;&#10;Description automatically generated" id="700" name="Google Shape;700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01" name="Google Shape;701;p62"/>
          <p:cNvSpPr/>
          <p:nvPr/>
        </p:nvSpPr>
        <p:spPr>
          <a:xfrm>
            <a:off x="5641304" y="2998891"/>
            <a:ext cx="2739081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is dragged onto the editor.</a:t>
            </a:r>
            <a:endParaRPr/>
          </a:p>
        </p:txBody>
      </p:sp>
      <p:sp>
        <p:nvSpPr>
          <p:cNvPr id="702" name="Google Shape;702;p62"/>
          <p:cNvSpPr/>
          <p:nvPr/>
        </p:nvSpPr>
        <p:spPr>
          <a:xfrm>
            <a:off x="3687096" y="1325917"/>
            <a:ext cx="381000" cy="28875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62"/>
          <p:cNvSpPr/>
          <p:nvPr/>
        </p:nvSpPr>
        <p:spPr>
          <a:xfrm>
            <a:off x="4267200" y="2605515"/>
            <a:ext cx="1067592" cy="143308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4" name="Google Shape;704;p6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705" name="Google Shape;705;p6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706" name="Google Shape;706;p62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711" name="Google Shape;71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12" name="Google Shape;712;p63"/>
          <p:cNvSpPr/>
          <p:nvPr/>
        </p:nvSpPr>
        <p:spPr>
          <a:xfrm>
            <a:off x="5334000" y="3720179"/>
            <a:ext cx="2739081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Finally, the OREF output dragged onto the editor.</a:t>
            </a:r>
            <a:endParaRPr/>
          </a:p>
        </p:txBody>
      </p:sp>
      <p:sp>
        <p:nvSpPr>
          <p:cNvPr id="713" name="Google Shape;713;p63"/>
          <p:cNvSpPr/>
          <p:nvPr/>
        </p:nvSpPr>
        <p:spPr>
          <a:xfrm>
            <a:off x="5493777" y="3060159"/>
            <a:ext cx="875270" cy="434546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screenshot, font, line&#10;&#10;Description automatically generated" id="714" name="Google Shape;714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1280160"/>
            <a:ext cx="4285714" cy="56190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15" name="Google Shape;715;p63"/>
          <p:cNvSpPr/>
          <p:nvPr/>
        </p:nvSpPr>
        <p:spPr>
          <a:xfrm>
            <a:off x="1314996" y="1325917"/>
            <a:ext cx="381000" cy="28875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6" name="Google Shape;716;p6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717" name="Google Shape;717;p6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718" name="Google Shape;718;p63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723" name="Google Shape;72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24" name="Google Shape;724;p64"/>
          <p:cNvSpPr/>
          <p:nvPr/>
        </p:nvSpPr>
        <p:spPr>
          <a:xfrm>
            <a:off x="4807974" y="2674790"/>
            <a:ext cx="304801" cy="294553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64"/>
          <p:cNvSpPr txBox="1"/>
          <p:nvPr/>
        </p:nvSpPr>
        <p:spPr>
          <a:xfrm>
            <a:off x="693951" y="1307068"/>
            <a:ext cx="3878049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inputs are used with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726" name="Google Shape;726;p64"/>
          <p:cNvSpPr txBox="1"/>
          <p:nvPr/>
        </p:nvSpPr>
        <p:spPr>
          <a:xfrm>
            <a:off x="5208372" y="2438400"/>
            <a:ext cx="2590800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instruction’s </a:t>
            </a:r>
            <a:r>
              <a:rPr b="1"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Properties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button.</a:t>
            </a:r>
            <a:endParaRPr/>
          </a:p>
        </p:txBody>
      </p:sp>
      <p:grpSp>
        <p:nvGrpSpPr>
          <p:cNvPr id="727" name="Google Shape;727;p64"/>
          <p:cNvGrpSpPr/>
          <p:nvPr/>
        </p:nvGrpSpPr>
        <p:grpSpPr>
          <a:xfrm>
            <a:off x="731520" y="365760"/>
            <a:ext cx="3826689" cy="710338"/>
            <a:chOff x="2590800" y="281553"/>
            <a:chExt cx="3826689" cy="710338"/>
          </a:xfrm>
        </p:grpSpPr>
        <p:sp>
          <p:nvSpPr>
            <p:cNvPr id="728" name="Google Shape;728;p6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729" name="Google Shape;729;p64"/>
            <p:cNvSpPr txBox="1"/>
            <p:nvPr/>
          </p:nvSpPr>
          <p:spPr>
            <a:xfrm>
              <a:off x="2590800" y="622559"/>
              <a:ext cx="38266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Changing Instruction Parameters</a:t>
              </a:r>
              <a:endParaRPr/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734" name="Google Shape;73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A screenshot of a computer&#10;&#10;Description automatically generated with medium confidence" id="735" name="Google Shape;735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1371600"/>
            <a:ext cx="3557143" cy="387857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36" name="Google Shape;736;p65"/>
          <p:cNvSpPr txBox="1"/>
          <p:nvPr/>
        </p:nvSpPr>
        <p:spPr>
          <a:xfrm>
            <a:off x="1955518" y="2570223"/>
            <a:ext cx="242887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Uncheck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In3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In4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737" name="Google Shape;737;p65"/>
          <p:cNvSpPr/>
          <p:nvPr/>
        </p:nvSpPr>
        <p:spPr>
          <a:xfrm>
            <a:off x="1373959" y="2325328"/>
            <a:ext cx="368809" cy="32400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65"/>
          <p:cNvSpPr txBox="1"/>
          <p:nvPr/>
        </p:nvSpPr>
        <p:spPr>
          <a:xfrm>
            <a:off x="2714700" y="1259186"/>
            <a:ext cx="333937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Properties dialog appears.</a:t>
            </a:r>
            <a:endParaRPr/>
          </a:p>
        </p:txBody>
      </p:sp>
      <p:grpSp>
        <p:nvGrpSpPr>
          <p:cNvPr id="739" name="Google Shape;739;p65"/>
          <p:cNvGrpSpPr/>
          <p:nvPr/>
        </p:nvGrpSpPr>
        <p:grpSpPr>
          <a:xfrm>
            <a:off x="731520" y="365760"/>
            <a:ext cx="3826689" cy="710338"/>
            <a:chOff x="2590800" y="281553"/>
            <a:chExt cx="3826689" cy="710338"/>
          </a:xfrm>
        </p:grpSpPr>
        <p:sp>
          <p:nvSpPr>
            <p:cNvPr id="740" name="Google Shape;740;p65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741" name="Google Shape;741;p65"/>
            <p:cNvSpPr txBox="1"/>
            <p:nvPr/>
          </p:nvSpPr>
          <p:spPr>
            <a:xfrm>
              <a:off x="2590800" y="622559"/>
              <a:ext cx="38266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Changing Instruction Parameters</a:t>
              </a:r>
              <a:endParaRPr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746" name="Google Shape;74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47" name="Google Shape;747;p66"/>
          <p:cNvSpPr txBox="1"/>
          <p:nvPr/>
        </p:nvSpPr>
        <p:spPr>
          <a:xfrm>
            <a:off x="1955518" y="2570223"/>
            <a:ext cx="242887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Uncheck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In3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In4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748" name="Google Shape;748;p66"/>
          <p:cNvSpPr/>
          <p:nvPr/>
        </p:nvSpPr>
        <p:spPr>
          <a:xfrm>
            <a:off x="1373959" y="2325328"/>
            <a:ext cx="368809" cy="32400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Description automatically generated with medium confidence" id="749" name="Google Shape;749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1371600"/>
            <a:ext cx="3557143" cy="387857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50" name="Google Shape;750;p66"/>
          <p:cNvSpPr txBox="1"/>
          <p:nvPr/>
        </p:nvSpPr>
        <p:spPr>
          <a:xfrm>
            <a:off x="2917063" y="4226488"/>
            <a:ext cx="3200400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apply and close the properties dialog.</a:t>
            </a:r>
            <a:endParaRPr/>
          </a:p>
        </p:txBody>
      </p:sp>
      <p:grpSp>
        <p:nvGrpSpPr>
          <p:cNvPr id="751" name="Google Shape;751;p66"/>
          <p:cNvGrpSpPr/>
          <p:nvPr/>
        </p:nvGrpSpPr>
        <p:grpSpPr>
          <a:xfrm>
            <a:off x="731520" y="365760"/>
            <a:ext cx="3826689" cy="710338"/>
            <a:chOff x="2590800" y="281553"/>
            <a:chExt cx="3826689" cy="710338"/>
          </a:xfrm>
        </p:grpSpPr>
        <p:sp>
          <p:nvSpPr>
            <p:cNvPr id="752" name="Google Shape;752;p66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753" name="Google Shape;753;p66"/>
            <p:cNvSpPr txBox="1"/>
            <p:nvPr/>
          </p:nvSpPr>
          <p:spPr>
            <a:xfrm>
              <a:off x="2590800" y="622559"/>
              <a:ext cx="38266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Changing Instruction Parameters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758" name="Google Shape;75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59" name="Google Shape;759;p67"/>
          <p:cNvSpPr/>
          <p:nvPr/>
        </p:nvSpPr>
        <p:spPr>
          <a:xfrm>
            <a:off x="4221016" y="3154151"/>
            <a:ext cx="566777" cy="435582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7"/>
          <p:cNvSpPr txBox="1"/>
          <p:nvPr/>
        </p:nvSpPr>
        <p:spPr>
          <a:xfrm>
            <a:off x="4093389" y="3719434"/>
            <a:ext cx="4441011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In2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are visible and will be used as the input condition for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logic.</a:t>
            </a:r>
            <a:endParaRPr/>
          </a:p>
        </p:txBody>
      </p:sp>
      <p:grpSp>
        <p:nvGrpSpPr>
          <p:cNvPr id="761" name="Google Shape;761;p67"/>
          <p:cNvGrpSpPr/>
          <p:nvPr/>
        </p:nvGrpSpPr>
        <p:grpSpPr>
          <a:xfrm>
            <a:off x="731520" y="365760"/>
            <a:ext cx="3826689" cy="710338"/>
            <a:chOff x="2590800" y="281553"/>
            <a:chExt cx="3826689" cy="710338"/>
          </a:xfrm>
        </p:grpSpPr>
        <p:sp>
          <p:nvSpPr>
            <p:cNvPr id="762" name="Google Shape;762;p67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763" name="Google Shape;763;p67"/>
            <p:cNvSpPr txBox="1"/>
            <p:nvPr/>
          </p:nvSpPr>
          <p:spPr>
            <a:xfrm>
              <a:off x="2590800" y="622559"/>
              <a:ext cx="38266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Changing Instruction Parameters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768" name="Google Shape;76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69" name="Google Shape;769;p68"/>
          <p:cNvSpPr txBox="1"/>
          <p:nvPr/>
        </p:nvSpPr>
        <p:spPr>
          <a:xfrm>
            <a:off x="457200" y="1676400"/>
            <a:ext cx="3753062" cy="120032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assign a Tag to the instruction, double left click on the question mark (?). In this example, the top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IREF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instruction.</a:t>
            </a:r>
            <a:endParaRPr/>
          </a:p>
        </p:txBody>
      </p:sp>
      <p:grpSp>
        <p:nvGrpSpPr>
          <p:cNvPr id="770" name="Google Shape;770;p6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771" name="Google Shape;771;p6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772" name="Google Shape;772;p68"/>
            <p:cNvSpPr txBox="1"/>
            <p:nvPr/>
          </p:nvSpPr>
          <p:spPr>
            <a:xfrm>
              <a:off x="3552817" y="622559"/>
              <a:ext cx="18859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Assigning Tags</a:t>
              </a:r>
              <a:endParaRPr/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777" name="Google Shape;77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5714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78" name="Google Shape;778;p69"/>
          <p:cNvSpPr txBox="1"/>
          <p:nvPr/>
        </p:nvSpPr>
        <p:spPr>
          <a:xfrm>
            <a:off x="4191000" y="3306173"/>
            <a:ext cx="38100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dropdown arrow field will appear, left click on the down arrowhead.</a:t>
            </a:r>
            <a:endParaRPr/>
          </a:p>
        </p:txBody>
      </p:sp>
      <p:grpSp>
        <p:nvGrpSpPr>
          <p:cNvPr id="779" name="Google Shape;779;p6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780" name="Google Shape;780;p6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781" name="Google Shape;781;p69"/>
            <p:cNvSpPr txBox="1"/>
            <p:nvPr/>
          </p:nvSpPr>
          <p:spPr>
            <a:xfrm>
              <a:off x="3552817" y="622559"/>
              <a:ext cx="18859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Assigning Tags</a:t>
              </a:r>
              <a:endParaRPr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786" name="Google Shape;78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1477308"/>
            <a:ext cx="4571429" cy="418095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87" name="Google Shape;787;p70"/>
          <p:cNvSpPr txBox="1"/>
          <p:nvPr/>
        </p:nvSpPr>
        <p:spPr>
          <a:xfrm>
            <a:off x="4475151" y="3580074"/>
            <a:ext cx="33528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the Tag Selection dialog, left click on the Tag name. </a:t>
            </a:r>
            <a:endParaRPr/>
          </a:p>
        </p:txBody>
      </p:sp>
      <p:grpSp>
        <p:nvGrpSpPr>
          <p:cNvPr id="788" name="Google Shape;788;p7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789" name="Google Shape;789;p7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790" name="Google Shape;790;p70"/>
            <p:cNvSpPr txBox="1"/>
            <p:nvPr/>
          </p:nvSpPr>
          <p:spPr>
            <a:xfrm>
              <a:off x="3552817" y="622559"/>
              <a:ext cx="18859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Assigning Tags</a:t>
              </a:r>
              <a:endParaRPr/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795" name="Google Shape;79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796" name="Google Shape;796;p71"/>
          <p:cNvSpPr txBox="1"/>
          <p:nvPr/>
        </p:nvSpPr>
        <p:spPr>
          <a:xfrm>
            <a:off x="3733800" y="2362200"/>
            <a:ext cx="28956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Tag name is assigned to the instruction.</a:t>
            </a:r>
            <a:endParaRPr/>
          </a:p>
        </p:txBody>
      </p:sp>
      <p:grpSp>
        <p:nvGrpSpPr>
          <p:cNvPr id="797" name="Google Shape;797;p7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798" name="Google Shape;798;p7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799" name="Google Shape;799;p71"/>
            <p:cNvSpPr txBox="1"/>
            <p:nvPr/>
          </p:nvSpPr>
          <p:spPr>
            <a:xfrm>
              <a:off x="3552817" y="622559"/>
              <a:ext cx="18859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Assigning Tags</a:t>
              </a:r>
              <a:endParaRPr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2"/>
          <p:cNvSpPr txBox="1"/>
          <p:nvPr/>
        </p:nvSpPr>
        <p:spPr>
          <a:xfrm>
            <a:off x="1524000" y="4566772"/>
            <a:ext cx="64722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Once, the Tags have been assigned, the connectors to the instruction’s pins are drawn.</a:t>
            </a:r>
            <a:endParaRPr/>
          </a:p>
        </p:txBody>
      </p:sp>
      <p:grpSp>
        <p:nvGrpSpPr>
          <p:cNvPr id="805" name="Google Shape;805;p7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806" name="Google Shape;806;p7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807" name="Google Shape;807;p72"/>
            <p:cNvSpPr txBox="1"/>
            <p:nvPr/>
          </p:nvSpPr>
          <p:spPr>
            <a:xfrm>
              <a:off x="3332661" y="622559"/>
              <a:ext cx="23262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Connectors</a:t>
              </a:r>
              <a:endParaRPr/>
            </a:p>
          </p:txBody>
        </p:sp>
      </p:grpSp>
      <p:pic>
        <p:nvPicPr>
          <p:cNvPr descr="A screenshot of a computer&#10;&#10;Description automatically generated" id="808" name="Google Shape;80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813" name="Google Shape;81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814" name="Google Shape;814;p73"/>
          <p:cNvSpPr txBox="1"/>
          <p:nvPr/>
        </p:nvSpPr>
        <p:spPr>
          <a:xfrm>
            <a:off x="1167917" y="1828800"/>
            <a:ext cx="2365397" cy="1200329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click and hold on the instruction’s pin. In this example the top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IREF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instruction.</a:t>
            </a:r>
            <a:endParaRPr/>
          </a:p>
        </p:txBody>
      </p:sp>
      <p:sp>
        <p:nvSpPr>
          <p:cNvPr id="815" name="Google Shape;815;p73"/>
          <p:cNvSpPr txBox="1"/>
          <p:nvPr/>
        </p:nvSpPr>
        <p:spPr>
          <a:xfrm>
            <a:off x="3581400" y="3657600"/>
            <a:ext cx="4532302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green marker appears and the cursor changes to the “draw” connection line. </a:t>
            </a:r>
            <a:endParaRPr/>
          </a:p>
        </p:txBody>
      </p:sp>
      <p:grpSp>
        <p:nvGrpSpPr>
          <p:cNvPr id="816" name="Google Shape;816;p7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817" name="Google Shape;817;p7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818" name="Google Shape;818;p73"/>
            <p:cNvSpPr txBox="1"/>
            <p:nvPr/>
          </p:nvSpPr>
          <p:spPr>
            <a:xfrm>
              <a:off x="3332661" y="622559"/>
              <a:ext cx="23262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Connectors</a:t>
              </a:r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823" name="Google Shape;823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824" name="Google Shape;824;p74"/>
          <p:cNvSpPr txBox="1"/>
          <p:nvPr/>
        </p:nvSpPr>
        <p:spPr>
          <a:xfrm>
            <a:off x="3886200" y="3883140"/>
            <a:ext cx="419100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holding the left mouse button down, “drag” the connector to the other instructions pin. </a:t>
            </a:r>
            <a:endParaRPr/>
          </a:p>
        </p:txBody>
      </p:sp>
      <p:grpSp>
        <p:nvGrpSpPr>
          <p:cNvPr id="825" name="Google Shape;825;p74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826" name="Google Shape;826;p7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827" name="Google Shape;827;p74"/>
            <p:cNvSpPr txBox="1"/>
            <p:nvPr/>
          </p:nvSpPr>
          <p:spPr>
            <a:xfrm>
              <a:off x="3332661" y="622559"/>
              <a:ext cx="23262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Connectors</a:t>
              </a:r>
              <a:endParaRPr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832" name="Google Shape;83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833" name="Google Shape;833;p75"/>
          <p:cNvSpPr txBox="1"/>
          <p:nvPr/>
        </p:nvSpPr>
        <p:spPr>
          <a:xfrm>
            <a:off x="4038600" y="3810000"/>
            <a:ext cx="4191000" cy="7848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example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pin.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 the green marker at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In1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pin.</a:t>
            </a:r>
            <a:endParaRPr/>
          </a:p>
        </p:txBody>
      </p:sp>
      <p:grpSp>
        <p:nvGrpSpPr>
          <p:cNvPr id="834" name="Google Shape;834;p75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835" name="Google Shape;835;p75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836" name="Google Shape;836;p75"/>
            <p:cNvSpPr txBox="1"/>
            <p:nvPr/>
          </p:nvSpPr>
          <p:spPr>
            <a:xfrm>
              <a:off x="3332661" y="622559"/>
              <a:ext cx="23262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Connectors</a:t>
              </a:r>
              <a:endParaRPr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841" name="Google Shape;84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842" name="Google Shape;842;p76"/>
          <p:cNvSpPr txBox="1"/>
          <p:nvPr/>
        </p:nvSpPr>
        <p:spPr>
          <a:xfrm>
            <a:off x="4191000" y="3657600"/>
            <a:ext cx="2895599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Release the mouse button to set the connection.</a:t>
            </a:r>
            <a:endParaRPr/>
          </a:p>
        </p:txBody>
      </p:sp>
      <p:grpSp>
        <p:nvGrpSpPr>
          <p:cNvPr id="843" name="Google Shape;843;p76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844" name="Google Shape;844;p76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845" name="Google Shape;845;p76"/>
            <p:cNvSpPr txBox="1"/>
            <p:nvPr/>
          </p:nvSpPr>
          <p:spPr>
            <a:xfrm>
              <a:off x="3332661" y="622559"/>
              <a:ext cx="23262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Connectors</a:t>
              </a:r>
              <a:endParaRPr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omputer&#10;&#10;Description automatically generated" id="850" name="Google Shape;85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1828800"/>
            <a:ext cx="4190476" cy="266666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851" name="Google Shape;851;p77"/>
          <p:cNvSpPr txBox="1"/>
          <p:nvPr/>
        </p:nvSpPr>
        <p:spPr>
          <a:xfrm>
            <a:off x="1531358" y="1267783"/>
            <a:ext cx="62484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the connections as required for the logic circuit.</a:t>
            </a:r>
            <a:endParaRPr/>
          </a:p>
        </p:txBody>
      </p:sp>
      <p:grpSp>
        <p:nvGrpSpPr>
          <p:cNvPr id="852" name="Google Shape;852;p77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853" name="Google Shape;853;p77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854" name="Google Shape;854;p77"/>
            <p:cNvSpPr txBox="1"/>
            <p:nvPr/>
          </p:nvSpPr>
          <p:spPr>
            <a:xfrm>
              <a:off x="3332661" y="622559"/>
              <a:ext cx="23262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Connectors</a:t>
              </a:r>
              <a:endParaRPr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8"/>
          <p:cNvSpPr txBox="1"/>
          <p:nvPr/>
        </p:nvSpPr>
        <p:spPr>
          <a:xfrm>
            <a:off x="596482" y="1447800"/>
            <a:ext cx="7951036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make it easier to navigate through a function block routine, divide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routine into a series of sheets.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Sheets help in the organization and finding of the function blocks. They do not affect the order in which the function blocks execute.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use one sheet for each device (motor, valve, solenoids) or programming function.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routine executes, all the sheets execute.</a:t>
            </a:r>
            <a:endParaRPr/>
          </a:p>
        </p:txBody>
      </p:sp>
      <p:grpSp>
        <p:nvGrpSpPr>
          <p:cNvPr id="860" name="Google Shape;860;p7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861" name="Google Shape;861;p7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862" name="Google Shape;862;p78"/>
            <p:cNvSpPr txBox="1"/>
            <p:nvPr/>
          </p:nvSpPr>
          <p:spPr>
            <a:xfrm>
              <a:off x="4025159" y="622559"/>
              <a:ext cx="941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</a:t>
              </a:r>
              <a:endParaRPr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9"/>
          <p:cNvSpPr txBox="1"/>
          <p:nvPr/>
        </p:nvSpPr>
        <p:spPr>
          <a:xfrm>
            <a:off x="773525" y="1600200"/>
            <a:ext cx="75969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Execution of the “wired” function Block instructions are from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to right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M:\documents_1\2140\Presentations\Function Block\Graphics\Instructions\Execution 1B.png" id="868" name="Google Shape;86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781" y="2362200"/>
            <a:ext cx="7818438" cy="18288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M:\documents_1\2140\Presentations\Function Block\Graphics\Instructions\Execution 1A..png" id="869" name="Google Shape;869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781" y="2362200"/>
            <a:ext cx="7818437" cy="18288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M:\documents_1\2140\Presentations\Function Block\Graphics\Instructions\Execution 1C.png" id="870" name="Google Shape;870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781" y="2362200"/>
            <a:ext cx="7818438" cy="18288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M:\documents_1\2140\Presentations\Function Block\Graphics\Instructions\Execution 1D.png" id="871" name="Google Shape;871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781" y="2362200"/>
            <a:ext cx="7818438" cy="18288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872" name="Google Shape;872;p7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873" name="Google Shape;873;p7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874" name="Google Shape;874;p79"/>
            <p:cNvSpPr txBox="1"/>
            <p:nvPr/>
          </p:nvSpPr>
          <p:spPr>
            <a:xfrm>
              <a:off x="4025159" y="622559"/>
              <a:ext cx="941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50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50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, Word&#10;&#10;Description automatically generated" id="879" name="Google Shape;87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803" y="1438464"/>
            <a:ext cx="6871429" cy="43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ocuments_1\2140\Presentations\Function Block\Graphics\Instructions\Execution 2A.png" id="880" name="Google Shape;880;p80"/>
          <p:cNvPicPr preferRelativeResize="0"/>
          <p:nvPr/>
        </p:nvPicPr>
        <p:blipFill rotWithShape="1">
          <a:blip r:embed="rId4">
            <a:alphaModFix/>
          </a:blip>
          <a:srcRect b="6943" l="5903" r="5479" t="23784"/>
          <a:stretch/>
        </p:blipFill>
        <p:spPr>
          <a:xfrm>
            <a:off x="1699491" y="2382982"/>
            <a:ext cx="5772727" cy="2992582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80"/>
          <p:cNvSpPr txBox="1"/>
          <p:nvPr/>
        </p:nvSpPr>
        <p:spPr>
          <a:xfrm>
            <a:off x="381000" y="1295400"/>
            <a:ext cx="71628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there are multiple instruction levels on the sheet the execution is all left objects and then proceeds to the next right objects.</a:t>
            </a:r>
            <a:endParaRPr/>
          </a:p>
        </p:txBody>
      </p:sp>
      <p:sp>
        <p:nvSpPr>
          <p:cNvPr id="882" name="Google Shape;882;p80"/>
          <p:cNvSpPr/>
          <p:nvPr/>
        </p:nvSpPr>
        <p:spPr>
          <a:xfrm>
            <a:off x="2333298" y="2551331"/>
            <a:ext cx="1143000" cy="2514600"/>
          </a:xfrm>
          <a:prstGeom prst="rect">
            <a:avLst/>
          </a:prstGeom>
          <a:noFill/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80"/>
          <p:cNvSpPr/>
          <p:nvPr/>
        </p:nvSpPr>
        <p:spPr>
          <a:xfrm>
            <a:off x="3739053" y="2551331"/>
            <a:ext cx="1143000" cy="2514600"/>
          </a:xfrm>
          <a:prstGeom prst="rect">
            <a:avLst/>
          </a:prstGeom>
          <a:noFill/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80"/>
          <p:cNvSpPr/>
          <p:nvPr/>
        </p:nvSpPr>
        <p:spPr>
          <a:xfrm>
            <a:off x="5136932" y="2551331"/>
            <a:ext cx="1143000" cy="2514600"/>
          </a:xfrm>
          <a:prstGeom prst="rect">
            <a:avLst/>
          </a:prstGeom>
          <a:noFill/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5" name="Google Shape;885;p8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886" name="Google Shape;886;p8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887" name="Google Shape;887;p80"/>
            <p:cNvSpPr txBox="1"/>
            <p:nvPr/>
          </p:nvSpPr>
          <p:spPr>
            <a:xfrm>
              <a:off x="4025159" y="622559"/>
              <a:ext cx="941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</a:t>
              </a:r>
              <a:endParaRPr/>
            </a:p>
          </p:txBody>
        </p:sp>
      </p:grpSp>
      <p:sp>
        <p:nvSpPr>
          <p:cNvPr id="888" name="Google Shape;888;p80"/>
          <p:cNvSpPr txBox="1"/>
          <p:nvPr/>
        </p:nvSpPr>
        <p:spPr>
          <a:xfrm>
            <a:off x="1353525" y="2006900"/>
            <a:ext cx="52968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sweeps across the sheet all at once, function blocks watch out move instructions.  Try one action per sheet better.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, Word&#10;&#10;Description automatically generated" id="893" name="Google Shape;89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803" y="1438464"/>
            <a:ext cx="6871429" cy="430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4" name="Google Shape;894;p81"/>
          <p:cNvGrpSpPr/>
          <p:nvPr/>
        </p:nvGrpSpPr>
        <p:grpSpPr>
          <a:xfrm>
            <a:off x="731520" y="365760"/>
            <a:ext cx="3733799" cy="710338"/>
            <a:chOff x="2689506" y="281553"/>
            <a:chExt cx="3733799" cy="710338"/>
          </a:xfrm>
        </p:grpSpPr>
        <p:sp>
          <p:nvSpPr>
            <p:cNvPr id="895" name="Google Shape;895;p81"/>
            <p:cNvSpPr txBox="1"/>
            <p:nvPr/>
          </p:nvSpPr>
          <p:spPr>
            <a:xfrm>
              <a:off x="2689506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896" name="Google Shape;896;p81"/>
            <p:cNvSpPr txBox="1"/>
            <p:nvPr/>
          </p:nvSpPr>
          <p:spPr>
            <a:xfrm>
              <a:off x="3327030" y="622559"/>
              <a:ext cx="2458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 Assume Data</a:t>
              </a:r>
              <a:endParaRPr/>
            </a:p>
          </p:txBody>
        </p:sp>
      </p:grpSp>
      <p:pic>
        <p:nvPicPr>
          <p:cNvPr descr="A diagram of a block diagram&#10;&#10;Description automatically generated with low confidence" id="897" name="Google Shape;897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0" y="2560320"/>
            <a:ext cx="5864286" cy="2085714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81"/>
          <p:cNvSpPr/>
          <p:nvPr/>
        </p:nvSpPr>
        <p:spPr>
          <a:xfrm>
            <a:off x="2209800" y="2551331"/>
            <a:ext cx="1447800" cy="2094703"/>
          </a:xfrm>
          <a:prstGeom prst="rect">
            <a:avLst/>
          </a:prstGeom>
          <a:noFill/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81"/>
          <p:cNvSpPr txBox="1"/>
          <p:nvPr/>
        </p:nvSpPr>
        <p:spPr>
          <a:xfrm>
            <a:off x="3788048" y="4410670"/>
            <a:ext cx="3755752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left to right sheet scan begins there is initially no data for the instruction’s second pin.</a:t>
            </a:r>
            <a:endParaRPr/>
          </a:p>
        </p:txBody>
      </p:sp>
      <p:sp>
        <p:nvSpPr>
          <p:cNvPr id="900" name="Google Shape;900;p81"/>
          <p:cNvSpPr txBox="1"/>
          <p:nvPr/>
        </p:nvSpPr>
        <p:spPr>
          <a:xfrm>
            <a:off x="1413725" y="4205050"/>
            <a:ext cx="17988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This is why we make it assume data.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01" name="Google Shape;901;p81"/>
          <p:cNvSpPr txBox="1"/>
          <p:nvPr/>
        </p:nvSpPr>
        <p:spPr>
          <a:xfrm>
            <a:off x="6298525" y="2725150"/>
            <a:ext cx="2860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, Word&#10;&#10;Description automatically generated" id="906" name="Google Shape;906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803" y="1438464"/>
            <a:ext cx="6871429" cy="430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7" name="Google Shape;907;p82"/>
          <p:cNvGrpSpPr/>
          <p:nvPr/>
        </p:nvGrpSpPr>
        <p:grpSpPr>
          <a:xfrm>
            <a:off x="731520" y="365760"/>
            <a:ext cx="3733799" cy="710338"/>
            <a:chOff x="2689506" y="281553"/>
            <a:chExt cx="3733799" cy="710338"/>
          </a:xfrm>
        </p:grpSpPr>
        <p:sp>
          <p:nvSpPr>
            <p:cNvPr id="908" name="Google Shape;908;p82"/>
            <p:cNvSpPr txBox="1"/>
            <p:nvPr/>
          </p:nvSpPr>
          <p:spPr>
            <a:xfrm>
              <a:off x="2689506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909" name="Google Shape;909;p82"/>
            <p:cNvSpPr txBox="1"/>
            <p:nvPr/>
          </p:nvSpPr>
          <p:spPr>
            <a:xfrm>
              <a:off x="3327030" y="622559"/>
              <a:ext cx="2458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 Assume Data</a:t>
              </a:r>
              <a:endParaRPr/>
            </a:p>
          </p:txBody>
        </p:sp>
      </p:grpSp>
      <p:pic>
        <p:nvPicPr>
          <p:cNvPr descr="A diagram of a block diagram&#10;&#10;Description automatically generated with low confidence" id="910" name="Google Shape;910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0" y="2560320"/>
            <a:ext cx="5864286" cy="2085714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2"/>
          <p:cNvSpPr/>
          <p:nvPr/>
        </p:nvSpPr>
        <p:spPr>
          <a:xfrm>
            <a:off x="2209800" y="2551331"/>
            <a:ext cx="1447800" cy="2094703"/>
          </a:xfrm>
          <a:prstGeom prst="rect">
            <a:avLst/>
          </a:prstGeom>
          <a:noFill/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82"/>
          <p:cNvSpPr txBox="1"/>
          <p:nvPr/>
        </p:nvSpPr>
        <p:spPr>
          <a:xfrm>
            <a:off x="3788048" y="4410670"/>
            <a:ext cx="2688952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Data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 assigned to the pin.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, Word&#10;&#10;Description automatically generated" id="917" name="Google Shape;917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803" y="1438464"/>
            <a:ext cx="6871429" cy="43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block diagram&#10;&#10;Description automatically generated with low confidence" id="918" name="Google Shape;918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0" y="2560320"/>
            <a:ext cx="5864286" cy="20857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9" name="Google Shape;919;p83"/>
          <p:cNvGrpSpPr/>
          <p:nvPr/>
        </p:nvGrpSpPr>
        <p:grpSpPr>
          <a:xfrm>
            <a:off x="731520" y="365760"/>
            <a:ext cx="3733799" cy="710338"/>
            <a:chOff x="2689506" y="281553"/>
            <a:chExt cx="3733799" cy="710338"/>
          </a:xfrm>
        </p:grpSpPr>
        <p:sp>
          <p:nvSpPr>
            <p:cNvPr id="920" name="Google Shape;920;p83"/>
            <p:cNvSpPr txBox="1"/>
            <p:nvPr/>
          </p:nvSpPr>
          <p:spPr>
            <a:xfrm>
              <a:off x="2689506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921" name="Google Shape;921;p83"/>
            <p:cNvSpPr txBox="1"/>
            <p:nvPr/>
          </p:nvSpPr>
          <p:spPr>
            <a:xfrm>
              <a:off x="3327030" y="622559"/>
              <a:ext cx="2458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 Assume Data</a:t>
              </a:r>
              <a:endParaRPr/>
            </a:p>
          </p:txBody>
        </p:sp>
      </p:grpSp>
      <p:sp>
        <p:nvSpPr>
          <p:cNvPr id="922" name="Google Shape;922;p83"/>
          <p:cNvSpPr txBox="1"/>
          <p:nvPr/>
        </p:nvSpPr>
        <p:spPr>
          <a:xfrm>
            <a:off x="1238702" y="4795255"/>
            <a:ext cx="4648200" cy="92333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the left to right sheet scan continues the status of the signal for the first instruction pin is solved.</a:t>
            </a:r>
            <a:endParaRPr/>
          </a:p>
        </p:txBody>
      </p:sp>
      <p:sp>
        <p:nvSpPr>
          <p:cNvPr id="923" name="Google Shape;923;p83"/>
          <p:cNvSpPr/>
          <p:nvPr/>
        </p:nvSpPr>
        <p:spPr>
          <a:xfrm>
            <a:off x="3893576" y="2551330"/>
            <a:ext cx="1143000" cy="2094703"/>
          </a:xfrm>
          <a:prstGeom prst="rect">
            <a:avLst/>
          </a:prstGeom>
          <a:noFill/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83"/>
          <p:cNvSpPr/>
          <p:nvPr/>
        </p:nvSpPr>
        <p:spPr>
          <a:xfrm>
            <a:off x="5358156" y="2551330"/>
            <a:ext cx="1143000" cy="2094703"/>
          </a:xfrm>
          <a:prstGeom prst="rect">
            <a:avLst/>
          </a:prstGeom>
          <a:noFill/>
          <a:ln cap="flat" cmpd="sng" w="254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83"/>
          <p:cNvSpPr txBox="1"/>
          <p:nvPr/>
        </p:nvSpPr>
        <p:spPr>
          <a:xfrm>
            <a:off x="5842196" y="3843404"/>
            <a:ext cx="18288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sheet scan is completed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, Word&#10;&#10;Description automatically generated" id="930" name="Google Shape;930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803" y="1438464"/>
            <a:ext cx="6871429" cy="43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iagram, plan, line, technical drawing&#10;&#10;Description automatically generated" id="931" name="Google Shape;931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0" y="2560320"/>
            <a:ext cx="5864286" cy="20857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2" name="Google Shape;932;p84"/>
          <p:cNvGrpSpPr/>
          <p:nvPr/>
        </p:nvGrpSpPr>
        <p:grpSpPr>
          <a:xfrm>
            <a:off x="731520" y="365760"/>
            <a:ext cx="3733799" cy="710338"/>
            <a:chOff x="2689506" y="281553"/>
            <a:chExt cx="3733799" cy="710338"/>
          </a:xfrm>
        </p:grpSpPr>
        <p:sp>
          <p:nvSpPr>
            <p:cNvPr id="933" name="Google Shape;933;p84"/>
            <p:cNvSpPr txBox="1"/>
            <p:nvPr/>
          </p:nvSpPr>
          <p:spPr>
            <a:xfrm>
              <a:off x="2689506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934" name="Google Shape;934;p84"/>
            <p:cNvSpPr txBox="1"/>
            <p:nvPr/>
          </p:nvSpPr>
          <p:spPr>
            <a:xfrm>
              <a:off x="3327030" y="622559"/>
              <a:ext cx="2458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 Assume Data</a:t>
              </a:r>
              <a:endParaRPr/>
            </a:p>
          </p:txBody>
        </p:sp>
      </p:grpSp>
      <p:sp>
        <p:nvSpPr>
          <p:cNvPr id="935" name="Google Shape;935;p84"/>
          <p:cNvSpPr txBox="1"/>
          <p:nvPr/>
        </p:nvSpPr>
        <p:spPr>
          <a:xfrm>
            <a:off x="1588893" y="4495800"/>
            <a:ext cx="3227766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the next sheet scan cycle the data for the pin is present.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0" name="Google Shape;940;p85"/>
          <p:cNvGrpSpPr/>
          <p:nvPr/>
        </p:nvGrpSpPr>
        <p:grpSpPr>
          <a:xfrm>
            <a:off x="1826286" y="1737360"/>
            <a:ext cx="5491429" cy="3702857"/>
            <a:chOff x="1826286" y="1737360"/>
            <a:chExt cx="5491429" cy="3702857"/>
          </a:xfrm>
        </p:grpSpPr>
        <p:pic>
          <p:nvPicPr>
            <p:cNvPr descr="Graphical user interface, text, application, Word&#10;&#10;Description automatically generated" id="941" name="Google Shape;941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26286" y="1737360"/>
              <a:ext cx="5491429" cy="3702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raphical user interface, application, Word&#10;&#10;Description automatically generated" id="942" name="Google Shape;942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33600" y="2638218"/>
              <a:ext cx="4936803" cy="10164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3" name="Google Shape;943;p85"/>
          <p:cNvSpPr/>
          <p:nvPr/>
        </p:nvSpPr>
        <p:spPr>
          <a:xfrm>
            <a:off x="2587959" y="1943822"/>
            <a:ext cx="228600" cy="28026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4" name="Google Shape;944;p85"/>
          <p:cNvCxnSpPr>
            <a:stCxn id="943" idx="3"/>
          </p:cNvCxnSpPr>
          <p:nvPr/>
        </p:nvCxnSpPr>
        <p:spPr>
          <a:xfrm>
            <a:off x="2816559" y="2083953"/>
            <a:ext cx="289200" cy="27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5" name="Google Shape;945;p85"/>
          <p:cNvSpPr txBox="1"/>
          <p:nvPr/>
        </p:nvSpPr>
        <p:spPr>
          <a:xfrm>
            <a:off x="1468855" y="1246344"/>
            <a:ext cx="1762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add a sheet.</a:t>
            </a:r>
            <a:endParaRPr/>
          </a:p>
        </p:txBody>
      </p:sp>
      <p:sp>
        <p:nvSpPr>
          <p:cNvPr id="946" name="Google Shape;946;p85"/>
          <p:cNvSpPr txBox="1"/>
          <p:nvPr/>
        </p:nvSpPr>
        <p:spPr>
          <a:xfrm>
            <a:off x="3814206" y="2083952"/>
            <a:ext cx="2800767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Sheet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button.</a:t>
            </a:r>
            <a:endParaRPr/>
          </a:p>
        </p:txBody>
      </p:sp>
      <p:pic>
        <p:nvPicPr>
          <p:cNvPr id="947" name="Google Shape;947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4612" y="2377091"/>
            <a:ext cx="609524" cy="47619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48" name="Google Shape;948;p85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949" name="Google Shape;949;p85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950" name="Google Shape;950;p85"/>
            <p:cNvSpPr txBox="1"/>
            <p:nvPr/>
          </p:nvSpPr>
          <p:spPr>
            <a:xfrm>
              <a:off x="4025159" y="622559"/>
              <a:ext cx="941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</a:t>
              </a:r>
              <a:endParaRPr/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, Word&#10;&#10;Description automatically generated" id="955" name="Google Shape;95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6286" y="1737360"/>
            <a:ext cx="5491429" cy="3702857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86"/>
          <p:cNvSpPr txBox="1"/>
          <p:nvPr/>
        </p:nvSpPr>
        <p:spPr>
          <a:xfrm>
            <a:off x="1468855" y="1246344"/>
            <a:ext cx="1762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add a sheet.</a:t>
            </a:r>
            <a:endParaRPr/>
          </a:p>
        </p:txBody>
      </p:sp>
      <p:sp>
        <p:nvSpPr>
          <p:cNvPr id="957" name="Google Shape;957;p86"/>
          <p:cNvSpPr txBox="1"/>
          <p:nvPr/>
        </p:nvSpPr>
        <p:spPr>
          <a:xfrm>
            <a:off x="3351120" y="3202286"/>
            <a:ext cx="2441759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new sheet is added.</a:t>
            </a:r>
            <a:endParaRPr/>
          </a:p>
        </p:txBody>
      </p:sp>
      <p:pic>
        <p:nvPicPr>
          <p:cNvPr id="958" name="Google Shape;958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365461"/>
            <a:ext cx="1621714" cy="41771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9" name="Google Shape;959;p86"/>
          <p:cNvSpPr/>
          <p:nvPr/>
        </p:nvSpPr>
        <p:spPr>
          <a:xfrm>
            <a:off x="4114800" y="1941393"/>
            <a:ext cx="695632" cy="28026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0" name="Google Shape;960;p86"/>
          <p:cNvCxnSpPr>
            <a:stCxn id="959" idx="3"/>
          </p:cNvCxnSpPr>
          <p:nvPr/>
        </p:nvCxnSpPr>
        <p:spPr>
          <a:xfrm>
            <a:off x="4810432" y="2081524"/>
            <a:ext cx="289200" cy="27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1" name="Google Shape;961;p86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962" name="Google Shape;962;p86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963" name="Google Shape;963;p86"/>
            <p:cNvSpPr txBox="1"/>
            <p:nvPr/>
          </p:nvSpPr>
          <p:spPr>
            <a:xfrm>
              <a:off x="4025159" y="622559"/>
              <a:ext cx="941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</a:t>
              </a:r>
              <a:endParaRPr/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application, Word&#10;&#10;Description automatically generated" id="968" name="Google Shape;968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6286" y="1737360"/>
            <a:ext cx="5491429" cy="3702857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7"/>
          <p:cNvSpPr txBox="1"/>
          <p:nvPr/>
        </p:nvSpPr>
        <p:spPr>
          <a:xfrm>
            <a:off x="1468855" y="1246344"/>
            <a:ext cx="20057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delete a sheet.</a:t>
            </a:r>
            <a:endParaRPr/>
          </a:p>
        </p:txBody>
      </p:sp>
      <p:sp>
        <p:nvSpPr>
          <p:cNvPr id="970" name="Google Shape;970;p87"/>
          <p:cNvSpPr/>
          <p:nvPr/>
        </p:nvSpPr>
        <p:spPr>
          <a:xfrm>
            <a:off x="2743200" y="1952785"/>
            <a:ext cx="228600" cy="28026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1" name="Google Shape;971;p87"/>
          <p:cNvCxnSpPr>
            <a:stCxn id="970" idx="3"/>
          </p:cNvCxnSpPr>
          <p:nvPr/>
        </p:nvCxnSpPr>
        <p:spPr>
          <a:xfrm>
            <a:off x="2971800" y="2092916"/>
            <a:ext cx="288000" cy="27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2" name="Google Shape;972;p87"/>
          <p:cNvSpPr txBox="1"/>
          <p:nvPr/>
        </p:nvSpPr>
        <p:spPr>
          <a:xfrm>
            <a:off x="4011807" y="2407262"/>
            <a:ext cx="3044423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Sheet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button.</a:t>
            </a:r>
            <a:endParaRPr/>
          </a:p>
        </p:txBody>
      </p:sp>
      <p:pic>
        <p:nvPicPr>
          <p:cNvPr id="973" name="Google Shape;973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0787" y="2369536"/>
            <a:ext cx="647620" cy="47619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74" name="Google Shape;974;p87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975" name="Google Shape;975;p87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976" name="Google Shape;976;p87"/>
            <p:cNvSpPr txBox="1"/>
            <p:nvPr/>
          </p:nvSpPr>
          <p:spPr>
            <a:xfrm>
              <a:off x="4025159" y="622559"/>
              <a:ext cx="941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, text, application, Word&#10;&#10;Description automatically generated" id="981" name="Google Shape;981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6286" y="1737360"/>
            <a:ext cx="5491429" cy="3702857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88"/>
          <p:cNvSpPr txBox="1"/>
          <p:nvPr/>
        </p:nvSpPr>
        <p:spPr>
          <a:xfrm>
            <a:off x="1468855" y="1246344"/>
            <a:ext cx="25058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navigate to a sheet.</a:t>
            </a:r>
            <a:endParaRPr/>
          </a:p>
        </p:txBody>
      </p:sp>
      <p:sp>
        <p:nvSpPr>
          <p:cNvPr id="983" name="Google Shape;983;p88"/>
          <p:cNvSpPr txBox="1"/>
          <p:nvPr/>
        </p:nvSpPr>
        <p:spPr>
          <a:xfrm>
            <a:off x="4049740" y="3179902"/>
            <a:ext cx="4185761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Previous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Next Sheet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button.</a:t>
            </a:r>
            <a:endParaRPr/>
          </a:p>
        </p:txBody>
      </p:sp>
      <p:grpSp>
        <p:nvGrpSpPr>
          <p:cNvPr id="984" name="Google Shape;984;p88"/>
          <p:cNvGrpSpPr/>
          <p:nvPr/>
        </p:nvGrpSpPr>
        <p:grpSpPr>
          <a:xfrm>
            <a:off x="3108613" y="1946400"/>
            <a:ext cx="681723" cy="470995"/>
            <a:chOff x="2971800" y="1946400"/>
            <a:chExt cx="681723" cy="470995"/>
          </a:xfrm>
        </p:grpSpPr>
        <p:sp>
          <p:nvSpPr>
            <p:cNvPr id="985" name="Google Shape;985;p88"/>
            <p:cNvSpPr/>
            <p:nvPr/>
          </p:nvSpPr>
          <p:spPr>
            <a:xfrm>
              <a:off x="2971800" y="1946400"/>
              <a:ext cx="372248" cy="276621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86" name="Google Shape;986;p88"/>
            <p:cNvCxnSpPr/>
            <p:nvPr/>
          </p:nvCxnSpPr>
          <p:spPr>
            <a:xfrm>
              <a:off x="3365470" y="2140775"/>
              <a:ext cx="288053" cy="27662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987" name="Google Shape;987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7849" y="2405202"/>
            <a:ext cx="1180952" cy="47619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88" name="Google Shape;988;p8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989" name="Google Shape;989;p8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990" name="Google Shape;990;p88"/>
            <p:cNvSpPr txBox="1"/>
            <p:nvPr/>
          </p:nvSpPr>
          <p:spPr>
            <a:xfrm>
              <a:off x="4025159" y="622559"/>
              <a:ext cx="941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</a:t>
              </a:r>
              <a:endParaRPr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9"/>
          <p:cNvSpPr/>
          <p:nvPr/>
        </p:nvSpPr>
        <p:spPr>
          <a:xfrm>
            <a:off x="2917243" y="2094185"/>
            <a:ext cx="3309514" cy="301121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89"/>
          <p:cNvSpPr/>
          <p:nvPr/>
        </p:nvSpPr>
        <p:spPr>
          <a:xfrm>
            <a:off x="3453125" y="3702007"/>
            <a:ext cx="2621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Connector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ICON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997" name="Google Shape;997;p89"/>
          <p:cNvSpPr/>
          <p:nvPr/>
        </p:nvSpPr>
        <p:spPr>
          <a:xfrm>
            <a:off x="3158172" y="2364835"/>
            <a:ext cx="29161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Connector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OCON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998" name="Google Shape;998;p89"/>
          <p:cNvSpPr txBox="1"/>
          <p:nvPr/>
        </p:nvSpPr>
        <p:spPr>
          <a:xfrm>
            <a:off x="1121350" y="1219200"/>
            <a:ext cx="69013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pass data between sheets, Input Connector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ICON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Output Connectors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OCON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are used.</a:t>
            </a:r>
            <a:endParaRPr/>
          </a:p>
        </p:txBody>
      </p:sp>
      <p:pic>
        <p:nvPicPr>
          <p:cNvPr descr="A picture containing diagram&#10;&#10;Description automatically generated" id="999" name="Google Shape;99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6262" y="2685370"/>
            <a:ext cx="1600001" cy="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4371" y="4059832"/>
            <a:ext cx="1342857" cy="700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1" name="Google Shape;1001;p8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002" name="Google Shape;1002;p8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003" name="Google Shape;1003;p89"/>
            <p:cNvSpPr txBox="1"/>
            <p:nvPr/>
          </p:nvSpPr>
          <p:spPr>
            <a:xfrm>
              <a:off x="4025159" y="622559"/>
              <a:ext cx="941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</a:t>
              </a:r>
              <a:endParaRPr/>
            </a:p>
          </p:txBody>
        </p:sp>
      </p:grpSp>
      <p:sp>
        <p:nvSpPr>
          <p:cNvPr id="1004" name="Google Shape;1004;p89"/>
          <p:cNvSpPr txBox="1"/>
          <p:nvPr/>
        </p:nvSpPr>
        <p:spPr>
          <a:xfrm>
            <a:off x="314325" y="2333625"/>
            <a:ext cx="2219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Ovals - Connectors 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It’s how you pass information from one sheet to another. 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90"/>
          <p:cNvSpPr txBox="1"/>
          <p:nvPr/>
        </p:nvSpPr>
        <p:spPr>
          <a:xfrm>
            <a:off x="1121350" y="1219200"/>
            <a:ext cx="69013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pass data between sheets, Input Connector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ICON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Output Connectors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OCON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are used.</a:t>
            </a:r>
            <a:endParaRPr/>
          </a:p>
        </p:txBody>
      </p:sp>
      <p:grpSp>
        <p:nvGrpSpPr>
          <p:cNvPr id="1010" name="Google Shape;1010;p90"/>
          <p:cNvGrpSpPr/>
          <p:nvPr/>
        </p:nvGrpSpPr>
        <p:grpSpPr>
          <a:xfrm>
            <a:off x="2917243" y="2094185"/>
            <a:ext cx="3309514" cy="3011215"/>
            <a:chOff x="2917243" y="2094185"/>
            <a:chExt cx="3309514" cy="3011215"/>
          </a:xfrm>
        </p:grpSpPr>
        <p:sp>
          <p:nvSpPr>
            <p:cNvPr id="1011" name="Google Shape;1011;p90"/>
            <p:cNvSpPr/>
            <p:nvPr/>
          </p:nvSpPr>
          <p:spPr>
            <a:xfrm>
              <a:off x="2917243" y="2094185"/>
              <a:ext cx="3309514" cy="301121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90"/>
            <p:cNvSpPr/>
            <p:nvPr/>
          </p:nvSpPr>
          <p:spPr>
            <a:xfrm>
              <a:off x="3276600" y="3735412"/>
              <a:ext cx="26212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 Connector (</a:t>
              </a:r>
              <a:r>
                <a:rPr lang="en-US" sz="18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ICON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sp>
          <p:nvSpPr>
            <p:cNvPr id="1013" name="Google Shape;1013;p90"/>
            <p:cNvSpPr/>
            <p:nvPr/>
          </p:nvSpPr>
          <p:spPr>
            <a:xfrm>
              <a:off x="3113908" y="2362200"/>
              <a:ext cx="29161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 Connector (</a:t>
              </a:r>
              <a:r>
                <a:rPr lang="en-US" sz="18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OCON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pic>
          <p:nvPicPr>
            <p:cNvPr descr="Graphical user interface&#10;&#10;Description automatically generated with medium confidence" id="1014" name="Google Shape;1014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15800" y="2708934"/>
              <a:ext cx="2360000" cy="9466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raphical user interface, application&#10;&#10;Description automatically generated" id="1015" name="Google Shape;1015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15800" y="4043688"/>
              <a:ext cx="2600000" cy="1013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6" name="Google Shape;1016;p9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017" name="Google Shape;1017;p9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018" name="Google Shape;1018;p90"/>
            <p:cNvSpPr txBox="1"/>
            <p:nvPr/>
          </p:nvSpPr>
          <p:spPr>
            <a:xfrm>
              <a:off x="4025159" y="622559"/>
              <a:ext cx="941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</a:t>
              </a:r>
              <a:endParaRPr/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91"/>
          <p:cNvSpPr txBox="1"/>
          <p:nvPr/>
        </p:nvSpPr>
        <p:spPr>
          <a:xfrm>
            <a:off x="533400" y="1219200"/>
            <a:ext cx="8077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text identifier for Input Connector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ICON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Output Connectors (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OCON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</a:t>
            </a:r>
            <a:r>
              <a:rPr b="1"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controller or program tag.</a:t>
            </a:r>
            <a:endParaRPr/>
          </a:p>
        </p:txBody>
      </p:sp>
      <p:grpSp>
        <p:nvGrpSpPr>
          <p:cNvPr id="1024" name="Google Shape;1024;p91"/>
          <p:cNvGrpSpPr/>
          <p:nvPr/>
        </p:nvGrpSpPr>
        <p:grpSpPr>
          <a:xfrm>
            <a:off x="2917243" y="2094185"/>
            <a:ext cx="3309514" cy="3011215"/>
            <a:chOff x="2917243" y="2094185"/>
            <a:chExt cx="3309514" cy="3011215"/>
          </a:xfrm>
        </p:grpSpPr>
        <p:sp>
          <p:nvSpPr>
            <p:cNvPr id="1025" name="Google Shape;1025;p91"/>
            <p:cNvSpPr/>
            <p:nvPr/>
          </p:nvSpPr>
          <p:spPr>
            <a:xfrm>
              <a:off x="2917243" y="2094185"/>
              <a:ext cx="3309514" cy="301121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91"/>
            <p:cNvSpPr/>
            <p:nvPr/>
          </p:nvSpPr>
          <p:spPr>
            <a:xfrm>
              <a:off x="3276600" y="3735412"/>
              <a:ext cx="26212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 Connector (</a:t>
              </a:r>
              <a:r>
                <a:rPr lang="en-US" sz="18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ICON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sp>
          <p:nvSpPr>
            <p:cNvPr id="1027" name="Google Shape;1027;p91"/>
            <p:cNvSpPr/>
            <p:nvPr/>
          </p:nvSpPr>
          <p:spPr>
            <a:xfrm>
              <a:off x="3113908" y="2362200"/>
              <a:ext cx="29161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 Connector (</a:t>
              </a:r>
              <a:r>
                <a:rPr lang="en-US" sz="180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OCON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pic>
          <p:nvPicPr>
            <p:cNvPr descr="Graphical user interface&#10;&#10;Description automatically generated with medium confidence" id="1028" name="Google Shape;1028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15800" y="2708934"/>
              <a:ext cx="2360000" cy="9466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Graphical user interface, application&#10;&#10;Description automatically generated" id="1029" name="Google Shape;1029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15800" y="4043688"/>
              <a:ext cx="2600000" cy="1013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0" name="Google Shape;1030;p91"/>
          <p:cNvSpPr txBox="1"/>
          <p:nvPr/>
        </p:nvSpPr>
        <p:spPr>
          <a:xfrm>
            <a:off x="6089105" y="3077024"/>
            <a:ext cx="2161400" cy="1477328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identifier for the connector is an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instance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only by the sheets to pass data.</a:t>
            </a:r>
            <a:endParaRPr/>
          </a:p>
        </p:txBody>
      </p:sp>
      <p:grpSp>
        <p:nvGrpSpPr>
          <p:cNvPr id="1031" name="Google Shape;1031;p9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032" name="Google Shape;1032;p9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033" name="Google Shape;1033;p91"/>
            <p:cNvSpPr txBox="1"/>
            <p:nvPr/>
          </p:nvSpPr>
          <p:spPr>
            <a:xfrm>
              <a:off x="4025159" y="622559"/>
              <a:ext cx="941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</a:t>
              </a:r>
              <a:endParaRPr/>
            </a:p>
          </p:txBody>
        </p:sp>
      </p:grpSp>
      <p:sp>
        <p:nvSpPr>
          <p:cNvPr id="1034" name="Google Shape;1034;p91"/>
          <p:cNvSpPr txBox="1"/>
          <p:nvPr/>
        </p:nvSpPr>
        <p:spPr>
          <a:xfrm>
            <a:off x="1095375" y="2447925"/>
            <a:ext cx="1695600" cy="14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4AA8C"/>
                </a:solidFill>
              </a:rPr>
              <a:t>Just text so you know what data you want to exchange between sheets</a:t>
            </a:r>
            <a:endParaRPr>
              <a:solidFill>
                <a:srgbClr val="84AA8C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92"/>
          <p:cNvSpPr txBox="1"/>
          <p:nvPr/>
        </p:nvSpPr>
        <p:spPr>
          <a:xfrm>
            <a:off x="2333950" y="1295400"/>
            <a:ext cx="1142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SHEET 1</a:t>
            </a:r>
            <a:endParaRPr/>
          </a:p>
        </p:txBody>
      </p:sp>
      <p:sp>
        <p:nvSpPr>
          <p:cNvPr id="1040" name="Google Shape;1040;p92"/>
          <p:cNvSpPr txBox="1"/>
          <p:nvPr/>
        </p:nvSpPr>
        <p:spPr>
          <a:xfrm>
            <a:off x="5969554" y="3023658"/>
            <a:ext cx="1142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SHEET 2</a:t>
            </a:r>
            <a:endParaRPr/>
          </a:p>
        </p:txBody>
      </p:sp>
      <p:sp>
        <p:nvSpPr>
          <p:cNvPr id="1041" name="Google Shape;1041;p92"/>
          <p:cNvSpPr txBox="1"/>
          <p:nvPr/>
        </p:nvSpPr>
        <p:spPr>
          <a:xfrm>
            <a:off x="5562632" y="1828800"/>
            <a:ext cx="289556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result of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Sheet 1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passed to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TONR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enable on Sheet 2. </a:t>
            </a:r>
            <a:endParaRPr/>
          </a:p>
        </p:txBody>
      </p:sp>
      <p:grpSp>
        <p:nvGrpSpPr>
          <p:cNvPr id="1042" name="Google Shape;1042;p92"/>
          <p:cNvGrpSpPr/>
          <p:nvPr/>
        </p:nvGrpSpPr>
        <p:grpSpPr>
          <a:xfrm>
            <a:off x="401292" y="3791458"/>
            <a:ext cx="3011434" cy="923329"/>
            <a:chOff x="401292" y="3886200"/>
            <a:chExt cx="3011434" cy="923329"/>
          </a:xfrm>
        </p:grpSpPr>
        <p:sp>
          <p:nvSpPr>
            <p:cNvPr id="1043" name="Google Shape;1043;p92"/>
            <p:cNvSpPr txBox="1"/>
            <p:nvPr/>
          </p:nvSpPr>
          <p:spPr>
            <a:xfrm>
              <a:off x="401292" y="3886200"/>
              <a:ext cx="3011434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 text below the connector is a cross-reference.</a:t>
              </a:r>
              <a:endParaRPr/>
            </a:p>
          </p:txBody>
        </p:sp>
        <p:sp>
          <p:nvSpPr>
            <p:cNvPr id="1044" name="Google Shape;1044;p92"/>
            <p:cNvSpPr txBox="1"/>
            <p:nvPr/>
          </p:nvSpPr>
          <p:spPr>
            <a:xfrm>
              <a:off x="963561" y="4470975"/>
              <a:ext cx="18373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sheet-column row</a:t>
              </a:r>
              <a:endParaRPr/>
            </a:p>
          </p:txBody>
        </p:sp>
      </p:grpSp>
      <p:pic>
        <p:nvPicPr>
          <p:cNvPr descr="Diagram&#10;&#10;Description automatically generated" id="1045" name="Google Shape;1045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767" y="1758093"/>
            <a:ext cx="4986666" cy="1560953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raphical user interface&#10;&#10;Description automatically generated" id="1046" name="Google Shape;1046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7234" y="3580619"/>
            <a:ext cx="5248572" cy="1372381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1047" name="Google Shape;1047;p9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048" name="Google Shape;1048;p9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049" name="Google Shape;1049;p92"/>
            <p:cNvSpPr txBox="1"/>
            <p:nvPr/>
          </p:nvSpPr>
          <p:spPr>
            <a:xfrm>
              <a:off x="4025159" y="622559"/>
              <a:ext cx="941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Sheets</a:t>
              </a:r>
              <a:endParaRPr/>
            </a:p>
          </p:txBody>
        </p:sp>
      </p:grpSp>
      <p:sp>
        <p:nvSpPr>
          <p:cNvPr id="1050" name="Google Shape;1050;p92"/>
          <p:cNvSpPr txBox="1"/>
          <p:nvPr/>
        </p:nvSpPr>
        <p:spPr>
          <a:xfrm>
            <a:off x="428625" y="5191125"/>
            <a:ext cx="362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Sheet number 2 row A </a:t>
            </a:r>
            <a:r>
              <a:rPr lang="en-US">
                <a:solidFill>
                  <a:schemeClr val="dk1"/>
                </a:solidFill>
              </a:rPr>
              <a:t>column 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