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2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2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 txBox="1"/>
          <p:nvPr/>
        </p:nvSpPr>
        <p:spPr>
          <a:xfrm>
            <a:off x="6705600" y="6172200"/>
            <a:ext cx="22429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endParaRPr/>
          </a:p>
        </p:txBody>
      </p:sp>
      <p:pic>
        <p:nvPicPr>
          <p:cNvPr descr="Text&#10;&#10;Description automatically generated"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-12234" y="356600"/>
            <a:ext cx="6874495" cy="710200"/>
            <a:chOff x="-12234" y="356600"/>
            <a:chExt cx="6874495" cy="710200"/>
          </a:xfrm>
        </p:grpSpPr>
        <p:sp>
          <p:nvSpPr>
            <p:cNvPr id="29" name="Google Shape;29;p3"/>
            <p:cNvSpPr/>
            <p:nvPr/>
          </p:nvSpPr>
          <p:spPr>
            <a:xfrm rot="2949928">
              <a:off x="462292" y="456220"/>
              <a:ext cx="274320" cy="274320"/>
            </a:xfrm>
            <a:prstGeom prst="rect">
              <a:avLst/>
            </a:prstGeom>
            <a:solidFill>
              <a:srgbClr val="B4CAB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" name="Google Shape;30;p3"/>
            <p:cNvCxnSpPr/>
            <p:nvPr/>
          </p:nvCxnSpPr>
          <p:spPr>
            <a:xfrm>
              <a:off x="-12234" y="1066800"/>
              <a:ext cx="6874495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31" name="Google Shape;31;p3"/>
            <p:cNvSpPr/>
            <p:nvPr/>
          </p:nvSpPr>
          <p:spPr>
            <a:xfrm rot="2949928">
              <a:off x="249762" y="456220"/>
              <a:ext cx="274320" cy="274320"/>
            </a:xfrm>
            <a:prstGeom prst="rect">
              <a:avLst/>
            </a:prstGeom>
            <a:solidFill>
              <a:srgbClr val="84AA8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2949928">
              <a:off x="56300" y="456220"/>
              <a:ext cx="274320" cy="274320"/>
            </a:xfrm>
            <a:prstGeom prst="rect">
              <a:avLst/>
            </a:prstGeom>
            <a:solidFill>
              <a:srgbClr val="046A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" name="Google Shape;33;p3"/>
            <p:cNvCxnSpPr/>
            <p:nvPr/>
          </p:nvCxnSpPr>
          <p:spPr>
            <a:xfrm>
              <a:off x="-12234" y="356600"/>
              <a:ext cx="5661596" cy="0"/>
            </a:xfrm>
            <a:prstGeom prst="straightConnector1">
              <a:avLst/>
            </a:prstGeom>
            <a:noFill/>
            <a:ln cap="flat" cmpd="sng" w="28575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- No Title">
  <p:cSld name="Content - No 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-12234" y="5943600"/>
            <a:ext cx="9144000" cy="912812"/>
          </a:xfrm>
          <a:prstGeom prst="rect">
            <a:avLst/>
          </a:prstGeom>
          <a:solidFill>
            <a:srgbClr val="EAF0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" name="Google Shape;37;p4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4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Text&#10;&#10;Description automatically generated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0191" y="6130071"/>
            <a:ext cx="3383280" cy="5040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 txBox="1"/>
          <p:nvPr/>
        </p:nvSpPr>
        <p:spPr>
          <a:xfrm>
            <a:off x="7696200" y="6172200"/>
            <a:ext cx="5484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757474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B050">
              <a:alpha val="1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0" y="6019800"/>
            <a:ext cx="2209800" cy="676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5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5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5"/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gradFill>
            <a:gsLst>
              <a:gs pos="0">
                <a:srgbClr val="DBE4CE">
                  <a:alpha val="20000"/>
                </a:srgbClr>
              </a:gs>
              <a:gs pos="38000">
                <a:srgbClr val="DBE4CE">
                  <a:alpha val="20000"/>
                </a:srgbClr>
              </a:gs>
              <a:gs pos="80000">
                <a:srgbClr val="00D05E">
                  <a:alpha val="7843"/>
                </a:srgbClr>
              </a:gs>
              <a:gs pos="100000">
                <a:srgbClr val="00D05E">
                  <a:alpha val="7843"/>
                </a:srgbClr>
              </a:gs>
            </a:gsLst>
            <a:lin ang="10800000" scaled="0"/>
          </a:gradFill>
          <a:ln>
            <a:noFill/>
          </a:ln>
          <a:effectLst>
            <a:outerShdw blurRad="76200" kx="-800400" rotWithShape="0" algn="bl" dir="2700000" dist="12700" sy="-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0" y="0"/>
            <a:ext cx="9144000" cy="5943600"/>
          </a:xfrm>
          <a:prstGeom prst="rect">
            <a:avLst/>
          </a:prstGeom>
          <a:gradFill>
            <a:gsLst>
              <a:gs pos="0">
                <a:srgbClr val="D0DCC0">
                  <a:alpha val="20000"/>
                </a:srgbClr>
              </a:gs>
              <a:gs pos="50000">
                <a:srgbClr val="D0DCC0">
                  <a:alpha val="20000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B050">
              <a:alpha val="1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4800" y="6019800"/>
            <a:ext cx="2209800" cy="676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6"/>
          <p:cNvCxnSpPr/>
          <p:nvPr/>
        </p:nvCxnSpPr>
        <p:spPr>
          <a:xfrm>
            <a:off x="0" y="5976302"/>
            <a:ext cx="9144000" cy="1588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6"/>
          <p:cNvCxnSpPr/>
          <p:nvPr/>
        </p:nvCxnSpPr>
        <p:spPr>
          <a:xfrm>
            <a:off x="0" y="5943600"/>
            <a:ext cx="9144000" cy="1588"/>
          </a:xfrm>
          <a:prstGeom prst="straightConnector1">
            <a:avLst/>
          </a:prstGeom>
          <a:noFill/>
          <a:ln cap="flat" cmpd="sng" w="381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6"/>
          <p:cNvSpPr txBox="1"/>
          <p:nvPr/>
        </p:nvSpPr>
        <p:spPr>
          <a:xfrm>
            <a:off x="6672478" y="6169223"/>
            <a:ext cx="22429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0" name="Google Shape;70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1" name="Google Shape;7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7" name="Google Shape;77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8" name="Google Shape;78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9" name="Google Shape;79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2" name="Google Shape;92;p1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8.png"/><Relationship Id="rId6" Type="http://schemas.openxmlformats.org/officeDocument/2006/relationships/image" Target="../media/image10.png"/><Relationship Id="rId7" Type="http://schemas.openxmlformats.org/officeDocument/2006/relationships/image" Target="../media/image43.png"/><Relationship Id="rId8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4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5" Type="http://schemas.openxmlformats.org/officeDocument/2006/relationships/image" Target="../media/image49.png"/><Relationship Id="rId6" Type="http://schemas.openxmlformats.org/officeDocument/2006/relationships/image" Target="../media/image42.png"/><Relationship Id="rId7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3048000" y="2362200"/>
            <a:ext cx="43053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SIEMENS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7391400" y="5562600"/>
            <a:ext cx="1524000" cy="246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2014 John Sefcovic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914400" y="1466250"/>
            <a:ext cx="731520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Diagram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uses instructions in a graphical format to connect the functions into procedures for the controlled application.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914400" y="2598051"/>
            <a:ext cx="7620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instructions in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Diagram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programming are primarily used in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event processes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analog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process control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motion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alarming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grpSp>
        <p:nvGrpSpPr>
          <p:cNvPr id="128" name="Google Shape;128;p1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29" name="Google Shape;129;p1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30" name="Google Shape;130;p18"/>
            <p:cNvSpPr txBox="1"/>
            <p:nvPr/>
          </p:nvSpPr>
          <p:spPr>
            <a:xfrm>
              <a:off x="3890506" y="622559"/>
              <a:ext cx="12105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Overview</a:t>
              </a:r>
              <a:endParaRPr/>
            </a:p>
          </p:txBody>
        </p:sp>
      </p:grpSp>
      <p:sp>
        <p:nvSpPr>
          <p:cNvPr id="131" name="Google Shape;131;p18"/>
          <p:cNvSpPr/>
          <p:nvPr/>
        </p:nvSpPr>
        <p:spPr>
          <a:xfrm>
            <a:off x="914400" y="3452852"/>
            <a:ext cx="73914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programming instructions are included to allow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Diagram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structures to be inclusive for the procedure being programmed.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/>
        </p:nvSpPr>
        <p:spPr>
          <a:xfrm>
            <a:off x="914400" y="1304581"/>
            <a:ext cx="731520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circuit is made up of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Inputs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Outputs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which are assigned to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PLC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Block Tags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914400" y="2057525"/>
            <a:ext cx="76962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Instructions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connected to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read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and write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 from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Instruction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The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Function Block Instructions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arranged in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914400" y="3087469"/>
            <a:ext cx="720458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Connections are made by drawing lines between the “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pins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on the instructions. </a:t>
            </a:r>
            <a:endParaRPr/>
          </a:p>
        </p:txBody>
      </p:sp>
      <p:pic>
        <p:nvPicPr>
          <p:cNvPr descr="N:\documents_1\2140\Presentations\SIEMENS Function Blocks\Graphics\AND.png" id="139" name="Google Shape;1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2250" y="3886200"/>
            <a:ext cx="3619500" cy="16192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140" name="Google Shape;140;p1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41" name="Google Shape;141;p1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42" name="Google Shape;142;p19"/>
            <p:cNvSpPr txBox="1"/>
            <p:nvPr/>
          </p:nvSpPr>
          <p:spPr>
            <a:xfrm>
              <a:off x="3890506" y="622559"/>
              <a:ext cx="12105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Overview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1624693" y="1295010"/>
            <a:ext cx="58946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Project Tree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double left click on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Add new block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148" name="Google Shape;148;p2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49" name="Google Shape;149;p2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50" name="Google Shape;150;p20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  <p:pic>
        <p:nvPicPr>
          <p:cNvPr descr="N:\documents_1\2140\Presentations\SIEMENS Function Blocks\Graphics\New Add Block.png" id="151" name="Google Shape;1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4381" y="1920240"/>
            <a:ext cx="3095239" cy="2117144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New Add New Blank.png" id="156" name="Google Shape;15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286" y="1371600"/>
            <a:ext cx="4347429" cy="412114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1"/>
          <p:cNvSpPr txBox="1"/>
          <p:nvPr/>
        </p:nvSpPr>
        <p:spPr>
          <a:xfrm>
            <a:off x="5122671" y="2438400"/>
            <a:ext cx="3775457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Add new block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dialog appears.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152400" y="3200400"/>
            <a:ext cx="2126271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type of Block to be added.</a:t>
            </a:r>
            <a:endParaRPr/>
          </a:p>
        </p:txBody>
      </p:sp>
      <p:grpSp>
        <p:nvGrpSpPr>
          <p:cNvPr id="159" name="Google Shape;159;p2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60" name="Google Shape;160;p2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61" name="Google Shape;161;p21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New Add New Blank.png" id="166" name="Google Shape;1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286" y="1371600"/>
            <a:ext cx="4347429" cy="4121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New Name.png" id="167" name="Google Shape;1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4742" y="1204725"/>
            <a:ext cx="2354000" cy="988477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New Name.png" id="168" name="Google Shape;1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8286" y="1371600"/>
            <a:ext cx="1584000" cy="66514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4724400" y="1235690"/>
            <a:ext cx="24384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in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the Block.</a:t>
            </a:r>
            <a:endParaRPr/>
          </a:p>
        </p:txBody>
      </p:sp>
      <p:grpSp>
        <p:nvGrpSpPr>
          <p:cNvPr id="170" name="Google Shape;170;p2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71" name="Google Shape;171;p2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72" name="Google Shape;172;p22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New Named.png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286" y="1371600"/>
            <a:ext cx="4347429" cy="4121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new Language.png" id="178" name="Google Shape;1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8286" y="1371600"/>
            <a:ext cx="2941715" cy="1385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new Language.png" id="179" name="Google Shape;1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3486" y="1360714"/>
            <a:ext cx="4086225" cy="19240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80" name="Google Shape;180;p23"/>
          <p:cNvSpPr txBox="1"/>
          <p:nvPr/>
        </p:nvSpPr>
        <p:spPr>
          <a:xfrm>
            <a:off x="6019800" y="2173069"/>
            <a:ext cx="2819400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dropdown for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type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FBD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181" name="Google Shape;181;p2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82" name="Google Shape;182;p2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83" name="Google Shape;183;p23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New Filled.png" id="188" name="Google Shape;1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286" y="1371600"/>
            <a:ext cx="4347429" cy="4121143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4"/>
          <p:cNvSpPr txBox="1"/>
          <p:nvPr/>
        </p:nvSpPr>
        <p:spPr>
          <a:xfrm>
            <a:off x="5526515" y="4724400"/>
            <a:ext cx="2438400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button.</a:t>
            </a:r>
            <a:endParaRPr/>
          </a:p>
        </p:txBody>
      </p:sp>
      <p:pic>
        <p:nvPicPr>
          <p:cNvPr descr="N:\documents_1\2140\Presentations\SIEMENS Function Blocks\Graphics\New PT Added.png" id="190" name="Google Shape;19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0571" y="1920240"/>
            <a:ext cx="3082858" cy="2364762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191" name="Google Shape;191;p24"/>
          <p:cNvSpPr txBox="1"/>
          <p:nvPr/>
        </p:nvSpPr>
        <p:spPr>
          <a:xfrm>
            <a:off x="2202997" y="1295010"/>
            <a:ext cx="47380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Project Tree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New block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added.</a:t>
            </a:r>
            <a:endParaRPr/>
          </a:p>
        </p:txBody>
      </p:sp>
      <p:grpSp>
        <p:nvGrpSpPr>
          <p:cNvPr id="192" name="Google Shape;192;p24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193" name="Google Shape;193;p2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194" name="Google Shape;194;p24"/>
            <p:cNvSpPr txBox="1"/>
            <p:nvPr/>
          </p:nvSpPr>
          <p:spPr>
            <a:xfrm>
              <a:off x="2838936" y="622559"/>
              <a:ext cx="331372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New Function Block Routine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Blank Editor.png" id="199" name="Google Shape;1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0" y="1809538"/>
            <a:ext cx="4575856" cy="362829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00" name="Google Shape;200;p25"/>
          <p:cNvSpPr txBox="1"/>
          <p:nvPr/>
        </p:nvSpPr>
        <p:spPr>
          <a:xfrm>
            <a:off x="6172200" y="2895600"/>
            <a:ext cx="2659702" cy="36933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blank editor screen.</a:t>
            </a:r>
            <a:endParaRPr/>
          </a:p>
        </p:txBody>
      </p:sp>
      <p:sp>
        <p:nvSpPr>
          <p:cNvPr id="201" name="Google Shape;201;p25"/>
          <p:cNvSpPr txBox="1"/>
          <p:nvPr/>
        </p:nvSpPr>
        <p:spPr>
          <a:xfrm>
            <a:off x="576249" y="1447800"/>
            <a:ext cx="274320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are dragged into the editor from the Favorites toolbar.  </a:t>
            </a:r>
            <a:endParaRPr/>
          </a:p>
        </p:txBody>
      </p:sp>
      <p:grpSp>
        <p:nvGrpSpPr>
          <p:cNvPr id="202" name="Google Shape;202;p25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03" name="Google Shape;203;p25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04" name="Google Shape;204;p25"/>
            <p:cNvSpPr txBox="1"/>
            <p:nvPr/>
          </p:nvSpPr>
          <p:spPr>
            <a:xfrm>
              <a:off x="3341221" y="622559"/>
              <a:ext cx="23091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Editor and Tool Bar</a:t>
              </a:r>
              <a:endParaRPr/>
            </a:p>
          </p:txBody>
        </p:sp>
      </p:grpSp>
      <p:pic>
        <p:nvPicPr>
          <p:cNvPr descr="N:\documents_1\2140\Presentations\SIEMENS Function Blocks\Graphics\Std Toolbar.png" id="205" name="Google Shape;20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501384"/>
            <a:ext cx="3380388" cy="546616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Inst.png" id="206" name="Google Shape;20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1196169"/>
            <a:ext cx="2042858" cy="453571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5"/>
          <p:cNvSpPr txBox="1"/>
          <p:nvPr/>
        </p:nvSpPr>
        <p:spPr>
          <a:xfrm>
            <a:off x="2743200" y="3962398"/>
            <a:ext cx="4194274" cy="64633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Additional instruction may be selected from the folder listings.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/>
          <p:nvPr/>
        </p:nvSpPr>
        <p:spPr>
          <a:xfrm>
            <a:off x="1122627" y="1219200"/>
            <a:ext cx="6898747" cy="4495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1366967" y="1371600"/>
            <a:ext cx="64100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Various instruction function blocks can be selected to create the logic for the Function program.</a:t>
            </a:r>
            <a:endParaRPr/>
          </a:p>
        </p:txBody>
      </p:sp>
      <p:grpSp>
        <p:nvGrpSpPr>
          <p:cNvPr id="214" name="Google Shape;214;p26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15" name="Google Shape;215;p26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16" name="Google Shape;216;p26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pic>
        <p:nvPicPr>
          <p:cNvPr descr="N:\documents_1\2140\Presentations\SIEMENS Function Blocks\Graphics\Example TON.png" id="217" name="Google Shape;21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224" y="3943350"/>
            <a:ext cx="1743075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Example Add.png" id="218" name="Google Shape;21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5204" y="4171950"/>
            <a:ext cx="274320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Example AND.png" id="219" name="Google Shape;21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" y="2502352"/>
            <a:ext cx="164782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Example Assign.png" id="220" name="Google Shape;22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49566" y="2826202"/>
            <a:ext cx="15144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Example Equal.png" id="221" name="Google Shape;221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5150" y="4210050"/>
            <a:ext cx="19812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:\documents_1\2140\Presentations\SIEMENS Function Blocks\Graphics\Example OR.png" id="222" name="Google Shape;222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76650" y="2635702"/>
            <a:ext cx="17907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/>
        </p:nvSpPr>
        <p:spPr>
          <a:xfrm>
            <a:off x="2522085" y="2239998"/>
            <a:ext cx="5741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4615544" y="2359349"/>
            <a:ext cx="45397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6163165" y="2609848"/>
            <a:ext cx="8739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ASSIGN</a:t>
            </a:r>
            <a:endParaRPr/>
          </a:p>
        </p:txBody>
      </p:sp>
      <p:sp>
        <p:nvSpPr>
          <p:cNvPr id="226" name="Google Shape;226;p26"/>
          <p:cNvSpPr txBox="1"/>
          <p:nvPr/>
        </p:nvSpPr>
        <p:spPr>
          <a:xfrm>
            <a:off x="1744058" y="3701142"/>
            <a:ext cx="9893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4136572" y="4007556"/>
            <a:ext cx="8130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EQUAL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6230913" y="3956957"/>
            <a:ext cx="5741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2173650" y="3502475"/>
            <a:ext cx="32937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Click on star to get more inputs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Ladder NO.png" id="234" name="Google Shape;23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6888" y="1920240"/>
            <a:ext cx="5610225" cy="111442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NO.png" id="235" name="Google Shape;23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3383280"/>
            <a:ext cx="2667000" cy="1333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36" name="Google Shape;236;p27"/>
          <p:cNvSpPr txBox="1"/>
          <p:nvPr/>
        </p:nvSpPr>
        <p:spPr>
          <a:xfrm>
            <a:off x="3043377" y="1350220"/>
            <a:ext cx="30572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Normally Open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with Output</a:t>
            </a:r>
            <a:endParaRPr/>
          </a:p>
        </p:txBody>
      </p:sp>
      <p:grpSp>
        <p:nvGrpSpPr>
          <p:cNvPr id="237" name="Google Shape;237;p27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38" name="Google Shape;238;p27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39" name="Google Shape;239;p27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NC 1.png" id="244" name="Google Shape;2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0" y="3383280"/>
            <a:ext cx="2667000" cy="14287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Ladder NC.png" id="245" name="Google Shape;24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1920240"/>
            <a:ext cx="5715000" cy="1143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46" name="Google Shape;246;p28"/>
          <p:cNvSpPr txBox="1"/>
          <p:nvPr/>
        </p:nvSpPr>
        <p:spPr>
          <a:xfrm>
            <a:off x="2953608" y="1350220"/>
            <a:ext cx="3236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Normally Closed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with Output</a:t>
            </a:r>
            <a:endParaRPr/>
          </a:p>
        </p:txBody>
      </p:sp>
      <p:grpSp>
        <p:nvGrpSpPr>
          <p:cNvPr id="247" name="Google Shape;247;p2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48" name="Google Shape;248;p2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49" name="Google Shape;249;p28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250" name="Google Shape;250;p28"/>
          <p:cNvSpPr txBox="1"/>
          <p:nvPr/>
        </p:nvSpPr>
        <p:spPr>
          <a:xfrm>
            <a:off x="3347775" y="4909550"/>
            <a:ext cx="193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Circle for a not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Ladder AND.png" id="255" name="Google Shape;2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920240"/>
            <a:ext cx="5715000" cy="1143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AND.png" id="256" name="Google Shape;25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50" y="3383280"/>
            <a:ext cx="3619500" cy="16192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57" name="Google Shape;257;p29"/>
          <p:cNvSpPr txBox="1"/>
          <p:nvPr/>
        </p:nvSpPr>
        <p:spPr>
          <a:xfrm>
            <a:off x="3620458" y="1350220"/>
            <a:ext cx="19030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grpSp>
        <p:nvGrpSpPr>
          <p:cNvPr id="258" name="Google Shape;258;p2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59" name="Google Shape;259;p2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60" name="Google Shape;260;p29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Ladder OR.png" id="265" name="Google Shape;2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905000"/>
            <a:ext cx="5715000" cy="187642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OR.png" id="266" name="Google Shape;26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2250" y="4114800"/>
            <a:ext cx="3619500" cy="16192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67" name="Google Shape;267;p30"/>
          <p:cNvSpPr txBox="1"/>
          <p:nvPr/>
        </p:nvSpPr>
        <p:spPr>
          <a:xfrm>
            <a:off x="3690990" y="1350220"/>
            <a:ext cx="17620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grpSp>
        <p:nvGrpSpPr>
          <p:cNvPr id="268" name="Google Shape;268;p3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69" name="Google Shape;269;p3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70" name="Google Shape;270;p30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Ladder Stop Start.png" id="275" name="Google Shape;27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1905000"/>
            <a:ext cx="5715000" cy="1905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Stop Start.png" id="276" name="Google Shape;27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4500" y="4191000"/>
            <a:ext cx="5715000" cy="1333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77" name="Google Shape;277;p31"/>
          <p:cNvSpPr txBox="1"/>
          <p:nvPr/>
        </p:nvSpPr>
        <p:spPr>
          <a:xfrm>
            <a:off x="3075340" y="1350220"/>
            <a:ext cx="29933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STOP - START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grpSp>
        <p:nvGrpSpPr>
          <p:cNvPr id="278" name="Google Shape;278;p3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79" name="Google Shape;279;p3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80" name="Google Shape;280;p31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281" name="Google Shape;281;p31"/>
          <p:cNvSpPr txBox="1"/>
          <p:nvPr/>
        </p:nvSpPr>
        <p:spPr>
          <a:xfrm>
            <a:off x="117300" y="3880175"/>
            <a:ext cx="25086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no wrapping around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Timer 1.png" id="286" name="Google Shape;28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381" y="3886200"/>
            <a:ext cx="7585239" cy="1805239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87" name="Google Shape;287;p32"/>
          <p:cNvSpPr txBox="1"/>
          <p:nvPr/>
        </p:nvSpPr>
        <p:spPr>
          <a:xfrm>
            <a:off x="2658656" y="1143000"/>
            <a:ext cx="3826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1: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pic>
        <p:nvPicPr>
          <p:cNvPr descr="N:\documents_1\2140\Presentations\SIEMENS Function Blocks\Graphics\Ladder Timer 1.png" id="288" name="Google Shape;28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3428" y="1654632"/>
            <a:ext cx="7997144" cy="18600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grpSp>
        <p:nvGrpSpPr>
          <p:cNvPr id="289" name="Google Shape;289;p3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290" name="Google Shape;290;p3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291" name="Google Shape;291;p32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  <p:sp>
        <p:nvSpPr>
          <p:cNvPr id="292" name="Google Shape;292;p32"/>
          <p:cNvSpPr txBox="1"/>
          <p:nvPr/>
        </p:nvSpPr>
        <p:spPr>
          <a:xfrm>
            <a:off x="5296925" y="4549625"/>
            <a:ext cx="19221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not on outside also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Timer 2.png" id="297" name="Google Shape;29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476" y="3779762"/>
            <a:ext cx="6339048" cy="193523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Ladder Time 2.png" id="298" name="Google Shape;29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2476" y="1600200"/>
            <a:ext cx="5539048" cy="193523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299" name="Google Shape;299;p33"/>
          <p:cNvSpPr txBox="1"/>
          <p:nvPr/>
        </p:nvSpPr>
        <p:spPr>
          <a:xfrm>
            <a:off x="2658656" y="1143000"/>
            <a:ext cx="38266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1: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</a:t>
            </a:r>
            <a:endParaRPr/>
          </a:p>
        </p:txBody>
      </p:sp>
      <p:grpSp>
        <p:nvGrpSpPr>
          <p:cNvPr id="300" name="Google Shape;300;p3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01" name="Google Shape;301;p3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02" name="Google Shape;302;p33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Ladder Timer Indicator.png" id="307" name="Google Shape;30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600200"/>
            <a:ext cx="6827837" cy="3857625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N:\documents_1\2140\Presentations\SIEMENS Function Blocks\Graphics\Timer Indicators.png" id="308" name="Google Shape;30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800" y="1600200"/>
            <a:ext cx="6950476" cy="407704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09" name="Google Shape;309;p34"/>
          <p:cNvSpPr txBox="1"/>
          <p:nvPr/>
        </p:nvSpPr>
        <p:spPr>
          <a:xfrm>
            <a:off x="2158519" y="1143000"/>
            <a:ext cx="4826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Example 3: </a:t>
            </a:r>
            <a:r>
              <a:rPr b="1"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TIMER ON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with Output Indicators</a:t>
            </a:r>
            <a:endParaRPr/>
          </a:p>
        </p:txBody>
      </p:sp>
      <p:grpSp>
        <p:nvGrpSpPr>
          <p:cNvPr id="310" name="Google Shape;310;p34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11" name="Google Shape;311;p3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12" name="Google Shape;312;p34"/>
            <p:cNvSpPr txBox="1"/>
            <p:nvPr/>
          </p:nvSpPr>
          <p:spPr>
            <a:xfrm>
              <a:off x="3743030" y="622559"/>
              <a:ext cx="15055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Instructions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1.png" id="317" name="Google Shape;31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18" name="Google Shape;318;p35"/>
          <p:cNvSpPr/>
          <p:nvPr/>
        </p:nvSpPr>
        <p:spPr>
          <a:xfrm>
            <a:off x="507775" y="2782669"/>
            <a:ext cx="3554976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example,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is dragged onto the editor. </a:t>
            </a:r>
            <a:endParaRPr/>
          </a:p>
        </p:txBody>
      </p:sp>
      <p:pic>
        <p:nvPicPr>
          <p:cNvPr descr="N:\documents_1\2140\Presentations\SIEMENS Function Blocks\Graphics\Std Toolbar.png" id="319" name="Google Shape;31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75" y="1219200"/>
            <a:ext cx="2827421" cy="4572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20" name="Google Shape;320;p35"/>
          <p:cNvSpPr/>
          <p:nvPr/>
        </p:nvSpPr>
        <p:spPr>
          <a:xfrm>
            <a:off x="381000" y="1148156"/>
            <a:ext cx="609600" cy="60444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Google Shape;321;p35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22" name="Google Shape;322;p35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23" name="Google Shape;323;p35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2.png" id="328" name="Google Shape;32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29" name="Google Shape;329;p36"/>
          <p:cNvSpPr/>
          <p:nvPr/>
        </p:nvSpPr>
        <p:spPr>
          <a:xfrm>
            <a:off x="5460775" y="2782669"/>
            <a:ext cx="292122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ASSIGN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is dragged onto the editor. </a:t>
            </a:r>
            <a:endParaRPr/>
          </a:p>
        </p:txBody>
      </p:sp>
      <p:pic>
        <p:nvPicPr>
          <p:cNvPr descr="N:\documents_1\2140\Presentations\SIEMENS Function Blocks\Graphics\Std Toolbar.png" id="330" name="Google Shape;33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775" y="1219200"/>
            <a:ext cx="2827421" cy="4572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31" name="Google Shape;331;p36"/>
          <p:cNvSpPr/>
          <p:nvPr/>
        </p:nvSpPr>
        <p:spPr>
          <a:xfrm>
            <a:off x="2819400" y="1148156"/>
            <a:ext cx="609600" cy="60444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36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33" name="Google Shape;333;p36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34" name="Google Shape;334;p36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3.png" id="339" name="Google Shape;33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40" name="Google Shape;340;p37"/>
          <p:cNvSpPr/>
          <p:nvPr/>
        </p:nvSpPr>
        <p:spPr>
          <a:xfrm>
            <a:off x="518661" y="2686050"/>
            <a:ext cx="3226025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left click on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instruction’s first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question marks. </a:t>
            </a:r>
            <a:endParaRPr/>
          </a:p>
        </p:txBody>
      </p:sp>
      <p:grpSp>
        <p:nvGrpSpPr>
          <p:cNvPr id="341" name="Google Shape;341;p37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42" name="Google Shape;342;p37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43" name="Google Shape;343;p37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38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49" name="Google Shape;349;p38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50" name="Google Shape;350;p38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  <p:pic>
        <p:nvPicPr>
          <p:cNvPr descr="N:\documents_1\2140\Presentations\SIEMENS Function Blocks\Graphics\P4.png" id="351" name="Google Shape;35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52" name="Google Shape;352;p38"/>
          <p:cNvSpPr/>
          <p:nvPr/>
        </p:nvSpPr>
        <p:spPr>
          <a:xfrm>
            <a:off x="3631975" y="3200399"/>
            <a:ext cx="322602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from the dropdown list.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5.png" id="357" name="Google Shape;35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58" name="Google Shape;358;p39"/>
          <p:cNvSpPr/>
          <p:nvPr/>
        </p:nvSpPr>
        <p:spPr>
          <a:xfrm>
            <a:off x="518661" y="2971800"/>
            <a:ext cx="3443739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left click on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instruction’s second </a:t>
            </a:r>
            <a:r>
              <a:rPr lang="en-US" sz="1800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question marks. </a:t>
            </a:r>
            <a:endParaRPr/>
          </a:p>
        </p:txBody>
      </p:sp>
      <p:grpSp>
        <p:nvGrpSpPr>
          <p:cNvPr id="359" name="Google Shape;359;p39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60" name="Google Shape;360;p39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61" name="Google Shape;361;p39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6.png" id="366" name="Google Shape;36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67" name="Google Shape;367;p40"/>
          <p:cNvSpPr/>
          <p:nvPr/>
        </p:nvSpPr>
        <p:spPr>
          <a:xfrm>
            <a:off x="3784375" y="3468469"/>
            <a:ext cx="322602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from the dropdown list.</a:t>
            </a:r>
            <a:endParaRPr/>
          </a:p>
        </p:txBody>
      </p:sp>
      <p:grpSp>
        <p:nvGrpSpPr>
          <p:cNvPr id="368" name="Google Shape;368;p40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69" name="Google Shape;369;p40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70" name="Google Shape;370;p40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7.png" id="375" name="Google Shape;37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76" name="Google Shape;376;p41"/>
          <p:cNvSpPr/>
          <p:nvPr/>
        </p:nvSpPr>
        <p:spPr>
          <a:xfrm>
            <a:off x="5181600" y="1600200"/>
            <a:ext cx="3429000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Double left click on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ASSIGN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instruction’s question marks. </a:t>
            </a:r>
            <a:endParaRPr/>
          </a:p>
        </p:txBody>
      </p:sp>
      <p:grpSp>
        <p:nvGrpSpPr>
          <p:cNvPr id="377" name="Google Shape;377;p41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78" name="Google Shape;378;p41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79" name="Google Shape;379;p41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8.png" id="384" name="Google Shape;38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85" name="Google Shape;385;p42"/>
          <p:cNvSpPr/>
          <p:nvPr/>
        </p:nvSpPr>
        <p:spPr>
          <a:xfrm>
            <a:off x="5054487" y="3352800"/>
            <a:ext cx="322602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Tag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name from the dropdown list.</a:t>
            </a:r>
            <a:endParaRPr/>
          </a:p>
        </p:txBody>
      </p:sp>
      <p:grpSp>
        <p:nvGrpSpPr>
          <p:cNvPr id="386" name="Google Shape;386;p42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87" name="Google Shape;387;p42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88" name="Google Shape;388;p42"/>
            <p:cNvSpPr txBox="1"/>
            <p:nvPr/>
          </p:nvSpPr>
          <p:spPr>
            <a:xfrm>
              <a:off x="3713118" y="622559"/>
              <a:ext cx="15653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Tags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P9.png" id="393" name="Google Shape;39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6500" y="1828800"/>
            <a:ext cx="4191000" cy="17145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94" name="Google Shape;394;p43"/>
          <p:cNvSpPr/>
          <p:nvPr/>
        </p:nvSpPr>
        <p:spPr>
          <a:xfrm>
            <a:off x="3403544" y="3358634"/>
            <a:ext cx="233691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grpSp>
        <p:nvGrpSpPr>
          <p:cNvPr id="395" name="Google Shape;395;p43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396" name="Google Shape;396;p43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397" name="Google Shape;397;p43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:\documents_1\2140\Presentations\SIEMENS Function Blocks\Graphics\Std Toolbar.png" id="402" name="Google Shape;40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002" y="1896023"/>
            <a:ext cx="2827421" cy="45720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03" name="Google Shape;403;p44"/>
          <p:cNvSpPr/>
          <p:nvPr/>
        </p:nvSpPr>
        <p:spPr>
          <a:xfrm>
            <a:off x="2296640" y="1822401"/>
            <a:ext cx="609600" cy="604444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:\documents_1\2140\Presentations\Function Block Overview SIEMENS\Graphics\NOT 2.png" id="404" name="Google Shape;40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0571" y="3081542"/>
            <a:ext cx="4402858" cy="164285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:\documents_1\2140\Presentations\Function Block Overview SIEMENS\Graphics\NOT 3.png" id="405" name="Google Shape;40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70571" y="3081542"/>
            <a:ext cx="4402858" cy="164285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:\documents_1\2140\Presentations\Function Block Overview SIEMENS\Graphics\NOT 1.png" id="406" name="Google Shape;406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70571" y="3081542"/>
            <a:ext cx="4402858" cy="164285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descr="G:\documents_1\2140\Presentations\Function Block Overview SIEMENS\Graphics\NOT 4.png" id="407" name="Google Shape;407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70571" y="3081542"/>
            <a:ext cx="4402858" cy="1642858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08" name="Google Shape;408;p44"/>
          <p:cNvSpPr/>
          <p:nvPr/>
        </p:nvSpPr>
        <p:spPr>
          <a:xfrm>
            <a:off x="3781125" y="2281671"/>
            <a:ext cx="292122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instruction is dragged onto the editor. </a:t>
            </a:r>
            <a:endParaRPr/>
          </a:p>
        </p:txBody>
      </p:sp>
      <p:sp>
        <p:nvSpPr>
          <p:cNvPr id="409" name="Google Shape;409;p44"/>
          <p:cNvSpPr txBox="1"/>
          <p:nvPr/>
        </p:nvSpPr>
        <p:spPr>
          <a:xfrm>
            <a:off x="3071108" y="1219200"/>
            <a:ext cx="3001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Assigning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 pin.</a:t>
            </a:r>
            <a:endParaRPr/>
          </a:p>
        </p:txBody>
      </p:sp>
      <p:sp>
        <p:nvSpPr>
          <p:cNvPr id="410" name="Google Shape;410;p44"/>
          <p:cNvSpPr txBox="1"/>
          <p:nvPr/>
        </p:nvSpPr>
        <p:spPr>
          <a:xfrm>
            <a:off x="3810000" y="4648200"/>
            <a:ext cx="3143995" cy="646331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pin changes to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inverting 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RLO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11" name="Google Shape;411;p44"/>
          <p:cNvSpPr txBox="1"/>
          <p:nvPr/>
        </p:nvSpPr>
        <p:spPr>
          <a:xfrm>
            <a:off x="5052999" y="3332602"/>
            <a:ext cx="2438400" cy="92333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also be assigned to the “OUT” pin.</a:t>
            </a:r>
            <a:endParaRPr/>
          </a:p>
        </p:txBody>
      </p:sp>
      <p:sp>
        <p:nvSpPr>
          <p:cNvPr id="412" name="Google Shape;412;p44"/>
          <p:cNvSpPr/>
          <p:nvPr/>
        </p:nvSpPr>
        <p:spPr>
          <a:xfrm>
            <a:off x="3139807" y="4105830"/>
            <a:ext cx="1127393" cy="576339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3" name="Google Shape;413;p44"/>
          <p:cNvGrpSpPr/>
          <p:nvPr/>
        </p:nvGrpSpPr>
        <p:grpSpPr>
          <a:xfrm>
            <a:off x="731520" y="365760"/>
            <a:ext cx="3733799" cy="710338"/>
            <a:chOff x="2628901" y="281553"/>
            <a:chExt cx="3733799" cy="710338"/>
          </a:xfrm>
        </p:grpSpPr>
        <p:sp>
          <p:nvSpPr>
            <p:cNvPr id="414" name="Google Shape;414;p44"/>
            <p:cNvSpPr txBox="1"/>
            <p:nvPr/>
          </p:nvSpPr>
          <p:spPr>
            <a:xfrm>
              <a:off x="2628901" y="281553"/>
              <a:ext cx="37337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Function Block Diagram</a:t>
              </a:r>
              <a:endParaRPr/>
            </a:p>
          </p:txBody>
        </p:sp>
        <p:sp>
          <p:nvSpPr>
            <p:cNvPr id="415" name="Google Shape;415;p44"/>
            <p:cNvSpPr txBox="1"/>
            <p:nvPr/>
          </p:nvSpPr>
          <p:spPr>
            <a:xfrm>
              <a:off x="3313425" y="622559"/>
              <a:ext cx="23647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Adding Instructions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