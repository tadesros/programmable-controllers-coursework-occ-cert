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7186325" y="6172200"/>
            <a:ext cx="14938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/>
          </a:p>
        </p:txBody>
      </p:sp>
      <p:pic>
        <p:nvPicPr>
          <p:cNvPr descr="Text&#10;&#10;Description automatically generated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-12234" y="356600"/>
            <a:ext cx="6874495" cy="710200"/>
            <a:chOff x="-12234" y="356600"/>
            <a:chExt cx="6874495" cy="710200"/>
          </a:xfrm>
        </p:grpSpPr>
        <p:sp>
          <p:nvSpPr>
            <p:cNvPr id="29" name="Google Shape;29;p3"/>
            <p:cNvSpPr/>
            <p:nvPr/>
          </p:nvSpPr>
          <p:spPr>
            <a:xfrm rot="2949928">
              <a:off x="462292" y="456220"/>
              <a:ext cx="274320" cy="274320"/>
            </a:xfrm>
            <a:prstGeom prst="rect">
              <a:avLst/>
            </a:prstGeom>
            <a:solidFill>
              <a:srgbClr val="B4CAB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-12234" y="1066800"/>
              <a:ext cx="6874495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31" name="Google Shape;31;p3"/>
            <p:cNvSpPr/>
            <p:nvPr/>
          </p:nvSpPr>
          <p:spPr>
            <a:xfrm rot="2949928">
              <a:off x="249762" y="456220"/>
              <a:ext cx="274320" cy="274320"/>
            </a:xfrm>
            <a:prstGeom prst="rect">
              <a:avLst/>
            </a:prstGeom>
            <a:solidFill>
              <a:srgbClr val="84AA8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2949928">
              <a:off x="56300" y="456220"/>
              <a:ext cx="274320" cy="27432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12234" y="356600"/>
              <a:ext cx="5661596" cy="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No Title">
  <p:cSld name="Content - No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7186325" y="6172200"/>
            <a:ext cx="14938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9" name="Google Shape;69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3" name="Google Shape;83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4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7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2857500" y="2362200"/>
            <a:ext cx="430530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Studio 5000 and 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638800" y="5562600"/>
            <a:ext cx="33528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2022 John Sefcovic and Oakland Community College.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914400" y="1295400"/>
            <a:ext cx="7315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uses statements to define the execution logic of the procedures for the controlled application.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914400" y="2115150"/>
            <a:ext cx="7620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instructions in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are primarily used in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process control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mathematical equations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programming instructions are included to allow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 inclusive for the procedure being programmed. </a:t>
            </a:r>
            <a:endParaRPr/>
          </a:p>
        </p:txBody>
      </p:sp>
      <p:cxnSp>
        <p:nvCxnSpPr>
          <p:cNvPr id="119" name="Google Shape;119;p17"/>
          <p:cNvCxnSpPr/>
          <p:nvPr/>
        </p:nvCxnSpPr>
        <p:spPr>
          <a:xfrm>
            <a:off x="419100" y="379155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grpSp>
        <p:nvGrpSpPr>
          <p:cNvPr id="120" name="Google Shape;120;p17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121" name="Google Shape;121;p17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3333751" y="622559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  <p:sp>
        <p:nvSpPr>
          <p:cNvPr id="123" name="Google Shape;123;p17"/>
          <p:cNvSpPr txBox="1"/>
          <p:nvPr/>
        </p:nvSpPr>
        <p:spPr>
          <a:xfrm>
            <a:off x="819150" y="3990623"/>
            <a:ext cx="7810500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both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basic instructions are the same.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instructions, such as,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Counters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operate similar to the Ladder Logic instructions.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syntax differences between a Studio 5000 and Siemens Timers and Counters in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Ladder Logic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454867" y="1143000"/>
            <a:ext cx="79271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Timer and Counter, and other instructions are selected from the Instruction lists.</a:t>
            </a:r>
            <a:endParaRPr/>
          </a:p>
        </p:txBody>
      </p:sp>
      <p:cxnSp>
        <p:nvCxnSpPr>
          <p:cNvPr id="129" name="Google Shape;129;p18"/>
          <p:cNvCxnSpPr/>
          <p:nvPr/>
        </p:nvCxnSpPr>
        <p:spPr>
          <a:xfrm>
            <a:off x="419100" y="274320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pic>
        <p:nvPicPr>
          <p:cNvPr descr="A screenshot of a social media post&#10;&#10;Description automatically generated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507" y="2949819"/>
            <a:ext cx="2891282" cy="276518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31" name="Google Shape;131;p18"/>
          <p:cNvSpPr txBox="1"/>
          <p:nvPr/>
        </p:nvSpPr>
        <p:spPr>
          <a:xfrm>
            <a:off x="1719668" y="2013145"/>
            <a:ext cx="163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1719668" y="3897868"/>
            <a:ext cx="1642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SIEMENS TIA</a:t>
            </a:r>
            <a:endParaRPr/>
          </a:p>
        </p:txBody>
      </p:sp>
      <p:pic>
        <p:nvPicPr>
          <p:cNvPr descr="Graphical user interface, text&#10;&#10;Description automatically generated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5693" y="1863352"/>
            <a:ext cx="2157619" cy="64619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34" name="Google Shape;134;p18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135" name="Google Shape;135;p18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3333751" y="622559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9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142" name="Google Shape;142;p19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3793582" y="622559"/>
              <a:ext cx="15568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Expressions</a:t>
              </a:r>
              <a:endParaRPr/>
            </a:p>
          </p:txBody>
        </p:sp>
      </p:grpSp>
      <p:sp>
        <p:nvSpPr>
          <p:cNvPr id="144" name="Google Shape;144;p19"/>
          <p:cNvSpPr txBox="1"/>
          <p:nvPr/>
        </p:nvSpPr>
        <p:spPr>
          <a:xfrm>
            <a:off x="1200150" y="3702784"/>
            <a:ext cx="67437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lines must end with a semi-colon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Structured text is not case sensitive.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 of Tab (indent) and Enter (separate lines) to make the structured text easier to read. They have no effect on the execution of the structured text.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2983835" y="1628001"/>
            <a:ext cx="28264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 := expression;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2838385" y="2198034"/>
            <a:ext cx="5250155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data value in the program.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assignment operator.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assigned to the tag.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1299117" y="2190816"/>
            <a:ext cx="1539268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:=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200150" y="1219200"/>
            <a:ext cx="40790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 of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statement: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1085850" y="3613666"/>
            <a:ext cx="6857999" cy="2057400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2133600" y="1785877"/>
            <a:ext cx="5029200" cy="3802167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1447800" y="1246944"/>
            <a:ext cx="3134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contain: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2375438" y="1938278"/>
            <a:ext cx="1877502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constant value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STUDIO 5000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SIEMENS TIA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4252940" y="1938278"/>
            <a:ext cx="2966581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:=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:= Tag2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:= Tag2 + Tag3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&gt;= Tag2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TONR(Tag4)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"Tag4".TON(IN:=_bool_in_,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PT:=_time_in_,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Q=&gt;_bool_out_,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ET=&gt;_time_out_);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20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159" name="Google Shape;159;p20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160" name="Google Shape;160;p20"/>
            <p:cNvSpPr txBox="1"/>
            <p:nvPr/>
          </p:nvSpPr>
          <p:spPr>
            <a:xfrm>
              <a:off x="3333751" y="622559"/>
              <a:ext cx="15568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Expressions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3566981" y="1219200"/>
            <a:ext cx="20100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 OPERATOR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838200" y="1638934"/>
            <a:ext cx="43313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operator inverts the bit’s value.</a:t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3700698" y="2226645"/>
            <a:ext cx="20551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:=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Tag2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1902097" y="2703217"/>
            <a:ext cx="56523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value “1” in Tag2 would result in a “0” value in Tag1.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value “0” in Tag2 would result in a “1” value in Tag1.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3151285" y="4076700"/>
            <a:ext cx="3218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:= Tag2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Tag3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1750851" y="4611392"/>
            <a:ext cx="59548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 will have a value “1” when Tag2 has a value “1” and Tag2 have a value “0”.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turns the “0” values to a “1” value for the expression.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1680285" y="3962400"/>
            <a:ext cx="6095999" cy="1634083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1680286" y="2075257"/>
            <a:ext cx="6095999" cy="1563293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21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174" name="Google Shape;174;p21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175" name="Google Shape;175;p21"/>
            <p:cNvSpPr txBox="1"/>
            <p:nvPr/>
          </p:nvSpPr>
          <p:spPr>
            <a:xfrm>
              <a:off x="3333751" y="622559"/>
              <a:ext cx="15568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Expressions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/>
        </p:nvSpPr>
        <p:spPr>
          <a:xfrm>
            <a:off x="2141335" y="1219200"/>
            <a:ext cx="4861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LOGIC OPERATORS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TRUTH TABLE and LOGICAL OPERATORS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1362462" y="2643134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4191000" y="2640949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7096735" y="2640949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XOR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335611" y="4999341"/>
            <a:ext cx="24826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Tag1:=Tag2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Tag3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3327583" y="5040868"/>
            <a:ext cx="23543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Tag1:=Tag2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Tag3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6300138" y="4999341"/>
            <a:ext cx="25082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Tag1:=Tag2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XOR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Tag3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979" y="3070858"/>
            <a:ext cx="2770872" cy="190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6564" y="3070858"/>
            <a:ext cx="2770872" cy="190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6736" y="3070858"/>
            <a:ext cx="2765385" cy="1909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1910534" y="2098862"/>
            <a:ext cx="53229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Logical Operator produces a different results</a:t>
            </a:r>
            <a:endParaRPr/>
          </a:p>
        </p:txBody>
      </p:sp>
      <p:grpSp>
        <p:nvGrpSpPr>
          <p:cNvPr id="191" name="Google Shape;191;p22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192" name="Google Shape;192;p22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193" name="Google Shape;193;p22"/>
            <p:cNvSpPr txBox="1"/>
            <p:nvPr/>
          </p:nvSpPr>
          <p:spPr>
            <a:xfrm>
              <a:off x="3333751" y="622559"/>
              <a:ext cx="15568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Expressions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/>
        </p:nvSpPr>
        <p:spPr>
          <a:xfrm>
            <a:off x="2208439" y="2514600"/>
            <a:ext cx="47271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Basic Structures STUDIO 5000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5854286" cy="45771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04" name="Google Shape;204;p24"/>
          <p:cNvGrpSpPr/>
          <p:nvPr/>
        </p:nvGrpSpPr>
        <p:grpSpPr>
          <a:xfrm>
            <a:off x="775240" y="325892"/>
            <a:ext cx="3531736" cy="710338"/>
            <a:chOff x="2806132" y="281553"/>
            <a:chExt cx="3531736" cy="710338"/>
          </a:xfrm>
        </p:grpSpPr>
        <p:sp>
          <p:nvSpPr>
            <p:cNvPr id="205" name="Google Shape;205;p24"/>
            <p:cNvSpPr txBox="1"/>
            <p:nvPr/>
          </p:nvSpPr>
          <p:spPr>
            <a:xfrm>
              <a:off x="2806132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06" name="Google Shape;206;p24"/>
            <p:cNvSpPr txBox="1"/>
            <p:nvPr/>
          </p:nvSpPr>
          <p:spPr>
            <a:xfrm>
              <a:off x="2806132" y="622559"/>
              <a:ext cx="3531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STUDIO 5000</a:t>
              </a:r>
              <a:endParaRPr/>
            </a:p>
          </p:txBody>
        </p:sp>
      </p:grpSp>
      <p:sp>
        <p:nvSpPr>
          <p:cNvPr id="207" name="Google Shape;207;p24"/>
          <p:cNvSpPr txBox="1"/>
          <p:nvPr/>
        </p:nvSpPr>
        <p:spPr>
          <a:xfrm>
            <a:off x="4724400" y="1642905"/>
            <a:ext cx="35052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Examine On (XIC). </a:t>
            </a:r>
            <a:endParaRPr/>
          </a:p>
        </p:txBody>
      </p:sp>
      <p:pic>
        <p:nvPicPr>
          <p:cNvPr descr="A close up of a mans face&#10;&#10;Description automatically generated"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1285" y="2594217"/>
            <a:ext cx="4771429" cy="72381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09" name="Google Shape;209;p24"/>
          <p:cNvSpPr/>
          <p:nvPr/>
        </p:nvSpPr>
        <p:spPr>
          <a:xfrm>
            <a:off x="1149314" y="1858298"/>
            <a:ext cx="2783589" cy="53094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5854286" cy="45771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15" name="Google Shape;215;p25"/>
          <p:cNvSpPr txBox="1"/>
          <p:nvPr/>
        </p:nvSpPr>
        <p:spPr>
          <a:xfrm>
            <a:off x="4337078" y="2143809"/>
            <a:ext cx="351152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Examine Off (XIO). 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1143000" y="2486025"/>
            <a:ext cx="2895600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mans face&#10;&#10;Description automatically generated" id="218" name="Google Shape;2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3171" y="3174605"/>
            <a:ext cx="4771429" cy="72381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19" name="Google Shape;219;p25"/>
          <p:cNvGrpSpPr/>
          <p:nvPr/>
        </p:nvGrpSpPr>
        <p:grpSpPr>
          <a:xfrm>
            <a:off x="775240" y="325892"/>
            <a:ext cx="3531736" cy="710338"/>
            <a:chOff x="2806132" y="281553"/>
            <a:chExt cx="3531736" cy="710338"/>
          </a:xfrm>
        </p:grpSpPr>
        <p:sp>
          <p:nvSpPr>
            <p:cNvPr id="220" name="Google Shape;220;p25"/>
            <p:cNvSpPr txBox="1"/>
            <p:nvPr/>
          </p:nvSpPr>
          <p:spPr>
            <a:xfrm>
              <a:off x="2806132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2806132" y="622559"/>
              <a:ext cx="3531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STUDIO 5000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5854286" cy="45771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27" name="Google Shape;227;p26"/>
          <p:cNvSpPr txBox="1"/>
          <p:nvPr/>
        </p:nvSpPr>
        <p:spPr>
          <a:xfrm>
            <a:off x="4406958" y="2686734"/>
            <a:ext cx="344164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series AND circuit. 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1143000" y="3097160"/>
            <a:ext cx="2730558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mans face&#10;&#10;Description automatically generated" id="230" name="Google Shape;2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571" y="3723341"/>
            <a:ext cx="4771429" cy="75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31" name="Google Shape;231;p26"/>
          <p:cNvGrpSpPr/>
          <p:nvPr/>
        </p:nvGrpSpPr>
        <p:grpSpPr>
          <a:xfrm>
            <a:off x="775240" y="325892"/>
            <a:ext cx="3531736" cy="710338"/>
            <a:chOff x="2806132" y="281553"/>
            <a:chExt cx="3531736" cy="710338"/>
          </a:xfrm>
        </p:grpSpPr>
        <p:sp>
          <p:nvSpPr>
            <p:cNvPr id="232" name="Google Shape;232;p26"/>
            <p:cNvSpPr txBox="1"/>
            <p:nvPr/>
          </p:nvSpPr>
          <p:spPr>
            <a:xfrm>
              <a:off x="2806132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33" name="Google Shape;233;p26"/>
            <p:cNvSpPr txBox="1"/>
            <p:nvPr/>
          </p:nvSpPr>
          <p:spPr>
            <a:xfrm>
              <a:off x="2806132" y="622559"/>
              <a:ext cx="3531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STUDIO 5000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5854286" cy="45771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39" name="Google Shape;239;p27"/>
          <p:cNvSpPr txBox="1"/>
          <p:nvPr/>
        </p:nvSpPr>
        <p:spPr>
          <a:xfrm>
            <a:off x="4406958" y="3256865"/>
            <a:ext cx="351784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parallel OR circuit. </a:t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1143000" y="3713215"/>
            <a:ext cx="2590800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bird&#10;&#10;Description automatically generated" id="241" name="Google Shape;2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5371" y="4097968"/>
            <a:ext cx="4771429" cy="118095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42" name="Google Shape;242;p27"/>
          <p:cNvGrpSpPr/>
          <p:nvPr/>
        </p:nvGrpSpPr>
        <p:grpSpPr>
          <a:xfrm>
            <a:off x="775240" y="325892"/>
            <a:ext cx="3531736" cy="710338"/>
            <a:chOff x="2806132" y="281553"/>
            <a:chExt cx="3531736" cy="710338"/>
          </a:xfrm>
        </p:grpSpPr>
        <p:sp>
          <p:nvSpPr>
            <p:cNvPr id="243" name="Google Shape;243;p27"/>
            <p:cNvSpPr txBox="1"/>
            <p:nvPr/>
          </p:nvSpPr>
          <p:spPr>
            <a:xfrm>
              <a:off x="2806132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44" name="Google Shape;244;p27"/>
            <p:cNvSpPr txBox="1"/>
            <p:nvPr/>
          </p:nvSpPr>
          <p:spPr>
            <a:xfrm>
              <a:off x="2806132" y="622559"/>
              <a:ext cx="3531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STUDIO 5000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49" name="Google Shape;2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5854286" cy="45771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50" name="Google Shape;250;p28"/>
          <p:cNvSpPr txBox="1"/>
          <p:nvPr/>
        </p:nvSpPr>
        <p:spPr>
          <a:xfrm>
            <a:off x="4562474" y="4067175"/>
            <a:ext cx="387044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interlock XOR circuit. </a:t>
            </a:r>
            <a:endParaRPr/>
          </a:p>
        </p:txBody>
      </p:sp>
      <p:sp>
        <p:nvSpPr>
          <p:cNvPr id="251" name="Google Shape;251;p28"/>
          <p:cNvSpPr/>
          <p:nvPr/>
        </p:nvSpPr>
        <p:spPr>
          <a:xfrm>
            <a:off x="1143000" y="4295775"/>
            <a:ext cx="2743200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mans face&#10;&#10;Description automatically generated" id="252" name="Google Shape;25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2633157"/>
            <a:ext cx="4771429" cy="117142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53" name="Google Shape;253;p28"/>
          <p:cNvGrpSpPr/>
          <p:nvPr/>
        </p:nvGrpSpPr>
        <p:grpSpPr>
          <a:xfrm>
            <a:off x="775240" y="325892"/>
            <a:ext cx="3531736" cy="710338"/>
            <a:chOff x="2806132" y="281553"/>
            <a:chExt cx="3531736" cy="710338"/>
          </a:xfrm>
        </p:grpSpPr>
        <p:sp>
          <p:nvSpPr>
            <p:cNvPr id="254" name="Google Shape;254;p28"/>
            <p:cNvSpPr txBox="1"/>
            <p:nvPr/>
          </p:nvSpPr>
          <p:spPr>
            <a:xfrm>
              <a:off x="2806132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55" name="Google Shape;255;p28"/>
            <p:cNvSpPr txBox="1"/>
            <p:nvPr/>
          </p:nvSpPr>
          <p:spPr>
            <a:xfrm>
              <a:off x="2806132" y="622559"/>
              <a:ext cx="3531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STUDIO 5000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&#10;&#10;Description automatically generated" id="260" name="Google Shape;2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5854286" cy="45771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61" name="Google Shape;261;p29"/>
          <p:cNvSpPr txBox="1"/>
          <p:nvPr/>
        </p:nvSpPr>
        <p:spPr>
          <a:xfrm>
            <a:off x="5334000" y="4526384"/>
            <a:ext cx="2924769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AND – OR circuit. </a:t>
            </a: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1143000" y="4899797"/>
            <a:ext cx="3886200" cy="5553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logo&#10;&#10;Description automatically generated" id="263" name="Google Shape;26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0165" y="3058705"/>
            <a:ext cx="4771429" cy="123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64" name="Google Shape;264;p29"/>
          <p:cNvGrpSpPr/>
          <p:nvPr/>
        </p:nvGrpSpPr>
        <p:grpSpPr>
          <a:xfrm>
            <a:off x="775240" y="325892"/>
            <a:ext cx="3531736" cy="710338"/>
            <a:chOff x="2806132" y="281553"/>
            <a:chExt cx="3531736" cy="710338"/>
          </a:xfrm>
        </p:grpSpPr>
        <p:sp>
          <p:nvSpPr>
            <p:cNvPr id="265" name="Google Shape;265;p29"/>
            <p:cNvSpPr txBox="1"/>
            <p:nvPr/>
          </p:nvSpPr>
          <p:spPr>
            <a:xfrm>
              <a:off x="2806132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66" name="Google Shape;266;p29"/>
            <p:cNvSpPr txBox="1"/>
            <p:nvPr/>
          </p:nvSpPr>
          <p:spPr>
            <a:xfrm>
              <a:off x="2806132" y="622559"/>
              <a:ext cx="3531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STUDIO 5000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/>
        </p:nvSpPr>
        <p:spPr>
          <a:xfrm>
            <a:off x="2475820" y="2514600"/>
            <a:ext cx="41923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Basic Structures SIEMENS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76" name="Google Shape;27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488" y="1143002"/>
            <a:ext cx="6695024" cy="45719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77" name="Google Shape;277;p31"/>
          <p:cNvSpPr txBox="1"/>
          <p:nvPr/>
        </p:nvSpPr>
        <p:spPr>
          <a:xfrm>
            <a:off x="4455056" y="2218886"/>
            <a:ext cx="31242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NO. </a:t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bird&#10;&#10;Description automatically generated" id="279" name="Google Shape;27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3118093"/>
            <a:ext cx="4302857" cy="121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80" name="Google Shape;280;p31"/>
          <p:cNvSpPr/>
          <p:nvPr/>
        </p:nvSpPr>
        <p:spPr>
          <a:xfrm>
            <a:off x="1905000" y="2334320"/>
            <a:ext cx="2209800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31"/>
          <p:cNvGrpSpPr/>
          <p:nvPr/>
        </p:nvGrpSpPr>
        <p:grpSpPr>
          <a:xfrm>
            <a:off x="731520" y="365760"/>
            <a:ext cx="3031599" cy="710338"/>
            <a:chOff x="3056201" y="281553"/>
            <a:chExt cx="3031599" cy="710338"/>
          </a:xfrm>
        </p:grpSpPr>
        <p:sp>
          <p:nvSpPr>
            <p:cNvPr id="282" name="Google Shape;282;p31"/>
            <p:cNvSpPr txBox="1"/>
            <p:nvPr/>
          </p:nvSpPr>
          <p:spPr>
            <a:xfrm>
              <a:off x="305620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83" name="Google Shape;283;p31"/>
            <p:cNvSpPr txBox="1"/>
            <p:nvPr/>
          </p:nvSpPr>
          <p:spPr>
            <a:xfrm>
              <a:off x="3056201" y="622559"/>
              <a:ext cx="30315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Siemens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288" name="Google Shape;2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488" y="1143002"/>
            <a:ext cx="6695024" cy="45719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89" name="Google Shape;289;p32"/>
          <p:cNvSpPr txBox="1"/>
          <p:nvPr/>
        </p:nvSpPr>
        <p:spPr>
          <a:xfrm>
            <a:off x="4552950" y="2533483"/>
            <a:ext cx="31242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NO. </a:t>
            </a:r>
            <a:endParaRPr/>
          </a:p>
        </p:txBody>
      </p:sp>
      <p:sp>
        <p:nvSpPr>
          <p:cNvPr id="290" name="Google Shape;290;p32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2"/>
          <p:cNvSpPr/>
          <p:nvPr/>
        </p:nvSpPr>
        <p:spPr>
          <a:xfrm>
            <a:off x="1904999" y="2847975"/>
            <a:ext cx="2428875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bird&#10;&#10;Description automatically generated" id="292" name="Google Shape;29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3505201"/>
            <a:ext cx="4302857" cy="121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93" name="Google Shape;293;p32"/>
          <p:cNvGrpSpPr/>
          <p:nvPr/>
        </p:nvGrpSpPr>
        <p:grpSpPr>
          <a:xfrm>
            <a:off x="731520" y="365760"/>
            <a:ext cx="3031599" cy="710338"/>
            <a:chOff x="3056201" y="281553"/>
            <a:chExt cx="3031599" cy="710338"/>
          </a:xfrm>
        </p:grpSpPr>
        <p:sp>
          <p:nvSpPr>
            <p:cNvPr id="294" name="Google Shape;294;p32"/>
            <p:cNvSpPr txBox="1"/>
            <p:nvPr/>
          </p:nvSpPr>
          <p:spPr>
            <a:xfrm>
              <a:off x="305620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295" name="Google Shape;295;p32"/>
            <p:cNvSpPr txBox="1"/>
            <p:nvPr/>
          </p:nvSpPr>
          <p:spPr>
            <a:xfrm>
              <a:off x="3056201" y="622559"/>
              <a:ext cx="30315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Siemens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00" name="Google Shape;3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488" y="1143002"/>
            <a:ext cx="6695024" cy="45719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01" name="Google Shape;301;p33"/>
          <p:cNvSpPr txBox="1"/>
          <p:nvPr/>
        </p:nvSpPr>
        <p:spPr>
          <a:xfrm>
            <a:off x="4552950" y="2533483"/>
            <a:ext cx="352425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series AND circuit. </a:t>
            </a:r>
            <a:endParaRPr/>
          </a:p>
        </p:txBody>
      </p:sp>
      <p:sp>
        <p:nvSpPr>
          <p:cNvPr id="302" name="Google Shape;302;p33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1904999" y="3371850"/>
            <a:ext cx="3286126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42108"/>
            <a:ext cx="4302857" cy="121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05" name="Google Shape;305;p33"/>
          <p:cNvGrpSpPr/>
          <p:nvPr/>
        </p:nvGrpSpPr>
        <p:grpSpPr>
          <a:xfrm>
            <a:off x="731520" y="365760"/>
            <a:ext cx="3031599" cy="710338"/>
            <a:chOff x="3056201" y="281553"/>
            <a:chExt cx="3031599" cy="710338"/>
          </a:xfrm>
        </p:grpSpPr>
        <p:sp>
          <p:nvSpPr>
            <p:cNvPr id="306" name="Google Shape;306;p33"/>
            <p:cNvSpPr txBox="1"/>
            <p:nvPr/>
          </p:nvSpPr>
          <p:spPr>
            <a:xfrm>
              <a:off x="305620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07" name="Google Shape;307;p33"/>
            <p:cNvSpPr txBox="1"/>
            <p:nvPr/>
          </p:nvSpPr>
          <p:spPr>
            <a:xfrm>
              <a:off x="3056201" y="622559"/>
              <a:ext cx="30315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Siemens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12" name="Google Shape;3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488" y="1143002"/>
            <a:ext cx="6695024" cy="45719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13" name="Google Shape;313;p34"/>
          <p:cNvSpPr txBox="1"/>
          <p:nvPr/>
        </p:nvSpPr>
        <p:spPr>
          <a:xfrm>
            <a:off x="4775766" y="4606142"/>
            <a:ext cx="3453833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parallel OR circuit. </a:t>
            </a:r>
            <a:endParaRPr/>
          </a:p>
        </p:txBody>
      </p:sp>
      <p:sp>
        <p:nvSpPr>
          <p:cNvPr id="314" name="Google Shape;314;p34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1904999" y="3914775"/>
            <a:ext cx="3286126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ell phone&#10;&#10;Description automatically generated" id="316" name="Google Shape;31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6439" y="1828800"/>
            <a:ext cx="4302857" cy="186857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17" name="Google Shape;317;p34"/>
          <p:cNvGrpSpPr/>
          <p:nvPr/>
        </p:nvGrpSpPr>
        <p:grpSpPr>
          <a:xfrm>
            <a:off x="731520" y="365760"/>
            <a:ext cx="3031599" cy="710338"/>
            <a:chOff x="3056201" y="281553"/>
            <a:chExt cx="3031599" cy="710338"/>
          </a:xfrm>
        </p:grpSpPr>
        <p:sp>
          <p:nvSpPr>
            <p:cNvPr id="318" name="Google Shape;318;p34"/>
            <p:cNvSpPr txBox="1"/>
            <p:nvPr/>
          </p:nvSpPr>
          <p:spPr>
            <a:xfrm>
              <a:off x="305620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19" name="Google Shape;319;p34"/>
            <p:cNvSpPr txBox="1"/>
            <p:nvPr/>
          </p:nvSpPr>
          <p:spPr>
            <a:xfrm>
              <a:off x="3056201" y="622559"/>
              <a:ext cx="30315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Siemens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24" name="Google Shape;3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488" y="1143002"/>
            <a:ext cx="6695024" cy="45719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5" name="Google Shape;325;p35"/>
          <p:cNvSpPr txBox="1"/>
          <p:nvPr/>
        </p:nvSpPr>
        <p:spPr>
          <a:xfrm>
            <a:off x="5257800" y="5049512"/>
            <a:ext cx="3581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interlock OR circuit. </a:t>
            </a:r>
            <a:endParaRPr/>
          </a:p>
        </p:txBody>
      </p:sp>
      <p:sp>
        <p:nvSpPr>
          <p:cNvPr id="326" name="Google Shape;326;p35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5"/>
          <p:cNvSpPr/>
          <p:nvPr/>
        </p:nvSpPr>
        <p:spPr>
          <a:xfrm>
            <a:off x="1904999" y="4448175"/>
            <a:ext cx="3286126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clock&#10;&#10;Description automatically generated" id="328" name="Google Shape;32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6439" y="2231986"/>
            <a:ext cx="4302857" cy="20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29" name="Google Shape;329;p35"/>
          <p:cNvGrpSpPr/>
          <p:nvPr/>
        </p:nvGrpSpPr>
        <p:grpSpPr>
          <a:xfrm>
            <a:off x="731520" y="365760"/>
            <a:ext cx="3031599" cy="710338"/>
            <a:chOff x="3056201" y="281553"/>
            <a:chExt cx="3031599" cy="710338"/>
          </a:xfrm>
        </p:grpSpPr>
        <p:sp>
          <p:nvSpPr>
            <p:cNvPr id="330" name="Google Shape;330;p35"/>
            <p:cNvSpPr txBox="1"/>
            <p:nvPr/>
          </p:nvSpPr>
          <p:spPr>
            <a:xfrm>
              <a:off x="305620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31" name="Google Shape;331;p35"/>
            <p:cNvSpPr txBox="1"/>
            <p:nvPr/>
          </p:nvSpPr>
          <p:spPr>
            <a:xfrm>
              <a:off x="3056201" y="622559"/>
              <a:ext cx="30315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Siemens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36" name="Google Shape;3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488" y="1143002"/>
            <a:ext cx="6695024" cy="45719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37" name="Google Shape;337;p36"/>
          <p:cNvSpPr txBox="1"/>
          <p:nvPr/>
        </p:nvSpPr>
        <p:spPr>
          <a:xfrm>
            <a:off x="5562600" y="4193840"/>
            <a:ext cx="34290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Ladder Logic AND – OR circuit. </a:t>
            </a:r>
            <a:endParaRPr/>
          </a:p>
        </p:txBody>
      </p:sp>
      <p:sp>
        <p:nvSpPr>
          <p:cNvPr id="338" name="Google Shape;338;p36"/>
          <p:cNvSpPr txBox="1"/>
          <p:nvPr/>
        </p:nvSpPr>
        <p:spPr>
          <a:xfrm>
            <a:off x="5181600" y="35814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1904999" y="4981575"/>
            <a:ext cx="4543426" cy="50482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ell phone&#10;&#10;Description automatically generated" id="340" name="Google Shape;3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566" y="2565685"/>
            <a:ext cx="4302857" cy="203142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41" name="Google Shape;341;p36"/>
          <p:cNvGrpSpPr/>
          <p:nvPr/>
        </p:nvGrpSpPr>
        <p:grpSpPr>
          <a:xfrm>
            <a:off x="731520" y="365760"/>
            <a:ext cx="3031599" cy="710338"/>
            <a:chOff x="3056201" y="281553"/>
            <a:chExt cx="3031599" cy="710338"/>
          </a:xfrm>
        </p:grpSpPr>
        <p:sp>
          <p:nvSpPr>
            <p:cNvPr id="342" name="Google Shape;342;p36"/>
            <p:cNvSpPr txBox="1"/>
            <p:nvPr/>
          </p:nvSpPr>
          <p:spPr>
            <a:xfrm>
              <a:off x="305620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43" name="Google Shape;343;p36"/>
            <p:cNvSpPr txBox="1"/>
            <p:nvPr/>
          </p:nvSpPr>
          <p:spPr>
            <a:xfrm>
              <a:off x="3056201" y="622559"/>
              <a:ext cx="30315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Basic Structures Siemens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/>
          <p:cNvSpPr txBox="1"/>
          <p:nvPr/>
        </p:nvSpPr>
        <p:spPr>
          <a:xfrm>
            <a:off x="2513920" y="2514600"/>
            <a:ext cx="41161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Structures Text Comments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38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354" name="Google Shape;354;p38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55" name="Google Shape;355;p38"/>
            <p:cNvSpPr txBox="1"/>
            <p:nvPr/>
          </p:nvSpPr>
          <p:spPr>
            <a:xfrm>
              <a:off x="3333751" y="622559"/>
              <a:ext cx="13773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Comments</a:t>
              </a:r>
              <a:endParaRPr/>
            </a:p>
          </p:txBody>
        </p:sp>
      </p:grpSp>
      <p:sp>
        <p:nvSpPr>
          <p:cNvPr id="356" name="Google Shape;356;p38"/>
          <p:cNvSpPr/>
          <p:nvPr/>
        </p:nvSpPr>
        <p:spPr>
          <a:xfrm>
            <a:off x="1209675" y="1839227"/>
            <a:ext cx="6724650" cy="2732774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8"/>
          <p:cNvSpPr txBox="1"/>
          <p:nvPr/>
        </p:nvSpPr>
        <p:spPr>
          <a:xfrm>
            <a:off x="1138228" y="1320455"/>
            <a:ext cx="38867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documented:</a:t>
            </a:r>
            <a:endParaRPr/>
          </a:p>
        </p:txBody>
      </p:sp>
      <p:sp>
        <p:nvSpPr>
          <p:cNvPr id="358" name="Google Shape;358;p38"/>
          <p:cNvSpPr txBox="1"/>
          <p:nvPr/>
        </p:nvSpPr>
        <p:spPr>
          <a:xfrm>
            <a:off x="1397541" y="1997681"/>
            <a:ext cx="63489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// Text preceded by double slashes is a single line comment. </a:t>
            </a:r>
            <a:endParaRPr/>
          </a:p>
        </p:txBody>
      </p:sp>
      <p:sp>
        <p:nvSpPr>
          <p:cNvPr id="359" name="Google Shape;359;p38"/>
          <p:cNvSpPr txBox="1"/>
          <p:nvPr/>
        </p:nvSpPr>
        <p:spPr>
          <a:xfrm>
            <a:off x="1397540" y="2590800"/>
            <a:ext cx="62986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(* An alternative is text which is bounded by parentheses and asterisks are multiple line comments*)</a:t>
            </a:r>
            <a:endParaRPr/>
          </a:p>
        </p:txBody>
      </p:sp>
      <p:sp>
        <p:nvSpPr>
          <p:cNvPr id="360" name="Google Shape;360;p38"/>
          <p:cNvSpPr txBox="1"/>
          <p:nvPr/>
        </p:nvSpPr>
        <p:spPr>
          <a:xfrm>
            <a:off x="1397541" y="3810000"/>
            <a:ext cx="5943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/* Text which is bounded by a slashes and asterisks are multiple line comments*/</a:t>
            </a:r>
            <a:endParaRPr/>
          </a:p>
        </p:txBody>
      </p:sp>
      <p:sp>
        <p:nvSpPr>
          <p:cNvPr id="361" name="Google Shape;361;p38"/>
          <p:cNvSpPr txBox="1"/>
          <p:nvPr/>
        </p:nvSpPr>
        <p:spPr>
          <a:xfrm>
            <a:off x="1447800" y="3419367"/>
            <a:ext cx="163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"/>
          <p:cNvSpPr txBox="1"/>
          <p:nvPr/>
        </p:nvSpPr>
        <p:spPr>
          <a:xfrm>
            <a:off x="2513920" y="2514600"/>
            <a:ext cx="41161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Structures Text Constructs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40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372" name="Google Shape;372;p40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73" name="Google Shape;373;p40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  <p:sp>
        <p:nvSpPr>
          <p:cNvPr id="374" name="Google Shape;374;p40"/>
          <p:cNvSpPr txBox="1"/>
          <p:nvPr/>
        </p:nvSpPr>
        <p:spPr>
          <a:xfrm>
            <a:off x="517726" y="1927308"/>
            <a:ext cx="7330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common 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constructs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with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programming.</a:t>
            </a:r>
            <a:endParaRPr/>
          </a:p>
        </p:txBody>
      </p:sp>
      <p:sp>
        <p:nvSpPr>
          <p:cNvPr id="375" name="Google Shape;375;p40"/>
          <p:cNvSpPr/>
          <p:nvPr/>
        </p:nvSpPr>
        <p:spPr>
          <a:xfrm>
            <a:off x="3595838" y="2362200"/>
            <a:ext cx="19523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IF...THEN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endParaRPr/>
          </a:p>
        </p:txBody>
      </p:sp>
      <p:sp>
        <p:nvSpPr>
          <p:cNvPr id="376" name="Google Shape;376;p40"/>
          <p:cNvSpPr/>
          <p:nvPr/>
        </p:nvSpPr>
        <p:spPr>
          <a:xfrm>
            <a:off x="3595838" y="3974574"/>
            <a:ext cx="195232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FOR...DO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WHILE...DO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REPEAT...UNTIL</a:t>
            </a:r>
            <a:endParaRPr/>
          </a:p>
        </p:txBody>
      </p:sp>
      <p:sp>
        <p:nvSpPr>
          <p:cNvPr id="377" name="Google Shape;377;p40"/>
          <p:cNvSpPr txBox="1"/>
          <p:nvPr/>
        </p:nvSpPr>
        <p:spPr>
          <a:xfrm>
            <a:off x="517726" y="1219200"/>
            <a:ext cx="7848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constructs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using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determine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Output Actions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</a:t>
            </a:r>
            <a:endParaRPr/>
          </a:p>
        </p:txBody>
      </p:sp>
      <p:sp>
        <p:nvSpPr>
          <p:cNvPr id="378" name="Google Shape;378;p40"/>
          <p:cNvSpPr txBox="1"/>
          <p:nvPr/>
        </p:nvSpPr>
        <p:spPr>
          <a:xfrm>
            <a:off x="517726" y="3472554"/>
            <a:ext cx="7467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“looping” constructs in Structured Text but are only used in special cases.</a:t>
            </a:r>
            <a:endParaRPr/>
          </a:p>
        </p:txBody>
      </p:sp>
      <p:sp>
        <p:nvSpPr>
          <p:cNvPr id="379" name="Google Shape;379;p40"/>
          <p:cNvSpPr txBox="1"/>
          <p:nvPr/>
        </p:nvSpPr>
        <p:spPr>
          <a:xfrm>
            <a:off x="517726" y="5206425"/>
            <a:ext cx="82010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looping constructs causes the program execution to remain in the loop slowing down the PLC scan time. Usually these loops are used in computations or for sorting data.</a:t>
            </a:r>
            <a:endParaRPr/>
          </a:p>
        </p:txBody>
      </p:sp>
      <p:cxnSp>
        <p:nvCxnSpPr>
          <p:cNvPr id="380" name="Google Shape;380;p40"/>
          <p:cNvCxnSpPr/>
          <p:nvPr/>
        </p:nvCxnSpPr>
        <p:spPr>
          <a:xfrm>
            <a:off x="419100" y="3288774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/>
        </p:nvSpPr>
        <p:spPr>
          <a:xfrm>
            <a:off x="914400" y="1295400"/>
            <a:ext cx="5715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IF...THEN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most commonly used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construct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1"/>
          <p:cNvSpPr txBox="1"/>
          <p:nvPr/>
        </p:nvSpPr>
        <p:spPr>
          <a:xfrm>
            <a:off x="914400" y="1811471"/>
            <a:ext cx="7467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then is a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 of construct,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defines the start of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END_IF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end of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87" name="Google Shape;387;p41"/>
          <p:cNvSpPr txBox="1"/>
          <p:nvPr/>
        </p:nvSpPr>
        <p:spPr>
          <a:xfrm>
            <a:off x="5358001" y="4639270"/>
            <a:ext cx="23903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388" name="Google Shape;388;p41"/>
          <p:cNvSpPr/>
          <p:nvPr/>
        </p:nvSpPr>
        <p:spPr>
          <a:xfrm>
            <a:off x="1242628" y="4529435"/>
            <a:ext cx="3484378" cy="1143000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914400" y="2994302"/>
            <a:ext cx="74771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logic condition is </a:t>
            </a: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the logic action statement following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executed.</a:t>
            </a:r>
            <a:endParaRPr/>
          </a:p>
        </p:txBody>
      </p:sp>
      <p:sp>
        <p:nvSpPr>
          <p:cNvPr id="390" name="Google Shape;390;p41"/>
          <p:cNvSpPr txBox="1"/>
          <p:nvPr/>
        </p:nvSpPr>
        <p:spPr>
          <a:xfrm>
            <a:off x="914400" y="3787373"/>
            <a:ext cx="74771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logic condition is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execution goes to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END_IF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logic action statement in between is not executed. </a:t>
            </a:r>
            <a:endParaRPr/>
          </a:p>
        </p:txBody>
      </p:sp>
      <p:cxnSp>
        <p:nvCxnSpPr>
          <p:cNvPr id="391" name="Google Shape;391;p41"/>
          <p:cNvCxnSpPr/>
          <p:nvPr/>
        </p:nvCxnSpPr>
        <p:spPr>
          <a:xfrm>
            <a:off x="419100" y="274320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392" name="Google Shape;392;p41"/>
          <p:cNvSpPr txBox="1"/>
          <p:nvPr/>
        </p:nvSpPr>
        <p:spPr>
          <a:xfrm>
            <a:off x="1307114" y="4639270"/>
            <a:ext cx="33554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logic condition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logic action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393" name="Google Shape;393;p41"/>
          <p:cNvSpPr/>
          <p:nvPr/>
        </p:nvSpPr>
        <p:spPr>
          <a:xfrm>
            <a:off x="5257800" y="4529435"/>
            <a:ext cx="2590800" cy="1143000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4" name="Google Shape;394;p41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395" name="Google Shape;395;p41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396" name="Google Shape;396;p41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/>
        </p:nvSpPr>
        <p:spPr>
          <a:xfrm>
            <a:off x="1371600" y="1295400"/>
            <a:ext cx="23903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cxnSp>
        <p:nvCxnSpPr>
          <p:cNvPr id="402" name="Google Shape;402;p42"/>
          <p:cNvCxnSpPr/>
          <p:nvPr/>
        </p:nvCxnSpPr>
        <p:spPr>
          <a:xfrm>
            <a:off x="419100" y="251460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03" name="Google Shape;403;p42"/>
          <p:cNvSpPr txBox="1"/>
          <p:nvPr/>
        </p:nvSpPr>
        <p:spPr>
          <a:xfrm>
            <a:off x="4038600" y="1433900"/>
            <a:ext cx="37238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 value of “1”,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condition is </a:t>
            </a: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set to a value of “1”.</a:t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1371600" y="2905264"/>
            <a:ext cx="23903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405" name="Google Shape;405;p42"/>
          <p:cNvSpPr txBox="1"/>
          <p:nvPr/>
        </p:nvSpPr>
        <p:spPr>
          <a:xfrm>
            <a:off x="4038600" y="2895600"/>
            <a:ext cx="43815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 value of “0” the condition is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 program execution goes to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END_IF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not changed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cxnSp>
        <p:nvCxnSpPr>
          <p:cNvPr id="406" name="Google Shape;406;p42"/>
          <p:cNvCxnSpPr/>
          <p:nvPr/>
        </p:nvCxnSpPr>
        <p:spPr>
          <a:xfrm>
            <a:off x="419100" y="411480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07" name="Google Shape;407;p42"/>
          <p:cNvSpPr txBox="1"/>
          <p:nvPr/>
        </p:nvSpPr>
        <p:spPr>
          <a:xfrm>
            <a:off x="723900" y="4429721"/>
            <a:ext cx="7696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the Equal comparison to determine if the condition is True or False.  The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:=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Assign a value, see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2"/>
          <p:cNvSpPr txBox="1"/>
          <p:nvPr/>
        </p:nvSpPr>
        <p:spPr>
          <a:xfrm>
            <a:off x="723900" y="5193268"/>
            <a:ext cx="71225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the phrase “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not changed” when the condition is False.</a:t>
            </a:r>
            <a:endParaRPr/>
          </a:p>
        </p:txBody>
      </p:sp>
      <p:grpSp>
        <p:nvGrpSpPr>
          <p:cNvPr id="409" name="Google Shape;409;p42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410" name="Google Shape;410;p42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411" name="Google Shape;411;p42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 txBox="1"/>
          <p:nvPr/>
        </p:nvSpPr>
        <p:spPr>
          <a:xfrm>
            <a:off x="523876" y="1285759"/>
            <a:ext cx="8077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major difference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unlike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Ladder Logic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programming the Output Bit retains its value.</a:t>
            </a:r>
            <a:endParaRPr/>
          </a:p>
        </p:txBody>
      </p:sp>
      <p:sp>
        <p:nvSpPr>
          <p:cNvPr id="417" name="Google Shape;417;p43"/>
          <p:cNvSpPr txBox="1"/>
          <p:nvPr/>
        </p:nvSpPr>
        <p:spPr>
          <a:xfrm>
            <a:off x="523876" y="2010304"/>
            <a:ext cx="7772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Ladder Logic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programming if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goes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Output Action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goes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514351" y="2832795"/>
            <a:ext cx="80105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Structure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goes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Output Action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remains </a:t>
            </a: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/>
          </a:p>
        </p:txBody>
      </p:sp>
      <p:grpSp>
        <p:nvGrpSpPr>
          <p:cNvPr id="419" name="Google Shape;419;p43"/>
          <p:cNvGrpSpPr/>
          <p:nvPr/>
        </p:nvGrpSpPr>
        <p:grpSpPr>
          <a:xfrm>
            <a:off x="676277" y="4025205"/>
            <a:ext cx="2590800" cy="1143000"/>
            <a:chOff x="5257800" y="4529435"/>
            <a:chExt cx="2590800" cy="1143000"/>
          </a:xfrm>
        </p:grpSpPr>
        <p:sp>
          <p:nvSpPr>
            <p:cNvPr id="420" name="Google Shape;420;p43"/>
            <p:cNvSpPr txBox="1"/>
            <p:nvPr/>
          </p:nvSpPr>
          <p:spPr>
            <a:xfrm>
              <a:off x="5358001" y="4639270"/>
              <a:ext cx="23903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Tag1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1 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Tag2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end_if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</p:txBody>
        </p:sp>
        <p:sp>
          <p:nvSpPr>
            <p:cNvPr id="421" name="Google Shape;421;p43"/>
            <p:cNvSpPr/>
            <p:nvPr/>
          </p:nvSpPr>
          <p:spPr>
            <a:xfrm>
              <a:off x="5257800" y="4529435"/>
              <a:ext cx="2590800" cy="1143000"/>
            </a:xfrm>
            <a:prstGeom prst="rect">
              <a:avLst/>
            </a:prstGeom>
            <a:solidFill>
              <a:srgbClr val="F2F2F2">
                <a:alpha val="3921"/>
              </a:srgbClr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43"/>
          <p:cNvSpPr txBox="1"/>
          <p:nvPr/>
        </p:nvSpPr>
        <p:spPr>
          <a:xfrm>
            <a:off x="3581401" y="3925669"/>
            <a:ext cx="4419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previous scan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 equal to “1”, assigning a “1” to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23" name="Google Shape;423;p43"/>
          <p:cNvSpPr txBox="1"/>
          <p:nvPr/>
        </p:nvSpPr>
        <p:spPr>
          <a:xfrm>
            <a:off x="3571875" y="4687669"/>
            <a:ext cx="53435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in this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scanTag1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 “0”, program execution goes to the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changed.</a:t>
            </a:r>
            <a:endParaRPr/>
          </a:p>
        </p:txBody>
      </p:sp>
      <p:cxnSp>
        <p:nvCxnSpPr>
          <p:cNvPr id="424" name="Google Shape;424;p43"/>
          <p:cNvCxnSpPr/>
          <p:nvPr/>
        </p:nvCxnSpPr>
        <p:spPr>
          <a:xfrm>
            <a:off x="419100" y="365760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grpSp>
        <p:nvGrpSpPr>
          <p:cNvPr id="425" name="Google Shape;425;p43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426" name="Google Shape;426;p43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427" name="Google Shape;427;p43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  <p:sp>
        <p:nvSpPr>
          <p:cNvPr id="428" name="Google Shape;428;p43"/>
          <p:cNvSpPr txBox="1"/>
          <p:nvPr/>
        </p:nvSpPr>
        <p:spPr>
          <a:xfrm>
            <a:off x="3522475" y="265675"/>
            <a:ext cx="5078700" cy="94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IMPORTANT Retentative like Latch you turn on you need turn off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/>
          <p:nvPr/>
        </p:nvSpPr>
        <p:spPr>
          <a:xfrm>
            <a:off x="685800" y="1307613"/>
            <a:ext cx="80105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Structure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an output action TRUE.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programmed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make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Output Action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to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/>
          </a:p>
        </p:txBody>
      </p:sp>
      <p:sp>
        <p:nvSpPr>
          <p:cNvPr id="434" name="Google Shape;434;p44"/>
          <p:cNvSpPr/>
          <p:nvPr/>
        </p:nvSpPr>
        <p:spPr>
          <a:xfrm>
            <a:off x="685800" y="3732428"/>
            <a:ext cx="7772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must be programmed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make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Output Action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to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435" name="Google Shape;435;p44"/>
          <p:cNvGrpSpPr/>
          <p:nvPr/>
        </p:nvGrpSpPr>
        <p:grpSpPr>
          <a:xfrm>
            <a:off x="3270150" y="2057400"/>
            <a:ext cx="2590800" cy="1143000"/>
            <a:chOff x="5257800" y="4529435"/>
            <a:chExt cx="2590800" cy="1143000"/>
          </a:xfrm>
        </p:grpSpPr>
        <p:sp>
          <p:nvSpPr>
            <p:cNvPr id="436" name="Google Shape;436;p44"/>
            <p:cNvSpPr txBox="1"/>
            <p:nvPr/>
          </p:nvSpPr>
          <p:spPr>
            <a:xfrm>
              <a:off x="5358001" y="4639270"/>
              <a:ext cx="23903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Tag1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1 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Tag2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end_if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5257800" y="4529435"/>
              <a:ext cx="2590800" cy="1143000"/>
            </a:xfrm>
            <a:prstGeom prst="rect">
              <a:avLst/>
            </a:prstGeom>
            <a:solidFill>
              <a:srgbClr val="F2F2F2">
                <a:alpha val="3921"/>
              </a:srgbClr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44"/>
          <p:cNvGrpSpPr/>
          <p:nvPr/>
        </p:nvGrpSpPr>
        <p:grpSpPr>
          <a:xfrm>
            <a:off x="3283051" y="4343400"/>
            <a:ext cx="2590800" cy="1143000"/>
            <a:chOff x="3283051" y="4407387"/>
            <a:chExt cx="2590800" cy="1143000"/>
          </a:xfrm>
        </p:grpSpPr>
        <p:sp>
          <p:nvSpPr>
            <p:cNvPr id="439" name="Google Shape;439;p44"/>
            <p:cNvSpPr txBox="1"/>
            <p:nvPr/>
          </p:nvSpPr>
          <p:spPr>
            <a:xfrm>
              <a:off x="3383252" y="4517222"/>
              <a:ext cx="23903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Tag1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0 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Tag2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0;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end_if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3283051" y="4407387"/>
              <a:ext cx="2590800" cy="1143000"/>
            </a:xfrm>
            <a:prstGeom prst="rect">
              <a:avLst/>
            </a:prstGeom>
            <a:solidFill>
              <a:srgbClr val="F2F2F2">
                <a:alpha val="3921"/>
              </a:srgbClr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44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442" name="Google Shape;442;p44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443" name="Google Shape;443;p44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5"/>
          <p:cNvSpPr/>
          <p:nvPr/>
        </p:nvSpPr>
        <p:spPr>
          <a:xfrm>
            <a:off x="685800" y="1307613"/>
            <a:ext cx="80105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ELSE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 can be used to set a tag to “0” when the input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Logic Condition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/>
          </a:p>
        </p:txBody>
      </p:sp>
      <p:sp>
        <p:nvSpPr>
          <p:cNvPr id="449" name="Google Shape;449;p45"/>
          <p:cNvSpPr txBox="1"/>
          <p:nvPr/>
        </p:nvSpPr>
        <p:spPr>
          <a:xfrm>
            <a:off x="1090801" y="2183148"/>
            <a:ext cx="23903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450" name="Google Shape;450;p45"/>
          <p:cNvSpPr/>
          <p:nvPr/>
        </p:nvSpPr>
        <p:spPr>
          <a:xfrm>
            <a:off x="990600" y="2136171"/>
            <a:ext cx="2590800" cy="1571283"/>
          </a:xfrm>
          <a:prstGeom prst="rect">
            <a:avLst/>
          </a:prstGeom>
          <a:solidFill>
            <a:srgbClr val="F2F2F2">
              <a:alpha val="3921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5"/>
          <p:cNvSpPr txBox="1"/>
          <p:nvPr/>
        </p:nvSpPr>
        <p:spPr>
          <a:xfrm>
            <a:off x="3962400" y="2173069"/>
            <a:ext cx="4419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 “1”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set to “1” and execution goes to the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5"/>
          <p:cNvSpPr txBox="1"/>
          <p:nvPr/>
        </p:nvSpPr>
        <p:spPr>
          <a:xfrm>
            <a:off x="3990975" y="2921813"/>
            <a:ext cx="3810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“0” at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causes execution to go to the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resets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“0”.</a:t>
            </a:r>
            <a:endParaRPr/>
          </a:p>
        </p:txBody>
      </p:sp>
      <p:sp>
        <p:nvSpPr>
          <p:cNvPr id="453" name="Google Shape;453;p45"/>
          <p:cNvSpPr txBox="1"/>
          <p:nvPr/>
        </p:nvSpPr>
        <p:spPr>
          <a:xfrm>
            <a:off x="1230492" y="4230732"/>
            <a:ext cx="3672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construct will on each scan…</a:t>
            </a:r>
            <a:endParaRPr/>
          </a:p>
        </p:txBody>
      </p:sp>
      <p:sp>
        <p:nvSpPr>
          <p:cNvPr id="454" name="Google Shape;454;p45"/>
          <p:cNvSpPr/>
          <p:nvPr/>
        </p:nvSpPr>
        <p:spPr>
          <a:xfrm>
            <a:off x="2581275" y="4655496"/>
            <a:ext cx="46249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 Tag1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 “1”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set to “1” </a:t>
            </a:r>
            <a:endParaRPr/>
          </a:p>
        </p:txBody>
      </p:sp>
      <p:sp>
        <p:nvSpPr>
          <p:cNvPr id="455" name="Google Shape;455;p45"/>
          <p:cNvSpPr/>
          <p:nvPr/>
        </p:nvSpPr>
        <p:spPr>
          <a:xfrm>
            <a:off x="2581275" y="5046021"/>
            <a:ext cx="26949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Tag2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set to “0” </a:t>
            </a:r>
            <a:endParaRPr/>
          </a:p>
        </p:txBody>
      </p:sp>
      <p:grpSp>
        <p:nvGrpSpPr>
          <p:cNvPr id="456" name="Google Shape;456;p45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457" name="Google Shape;457;p45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458" name="Google Shape;458;p45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"/>
          <p:cNvSpPr txBox="1"/>
          <p:nvPr/>
        </p:nvSpPr>
        <p:spPr>
          <a:xfrm>
            <a:off x="685800" y="1138262"/>
            <a:ext cx="6669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Structured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Positive Logic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determining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64" name="Google Shape;464;p46"/>
          <p:cNvSpPr txBox="1"/>
          <p:nvPr/>
        </p:nvSpPr>
        <p:spPr>
          <a:xfrm>
            <a:off x="3643944" y="2057400"/>
            <a:ext cx="252825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465" name="Google Shape;465;p46"/>
          <p:cNvSpPr txBox="1"/>
          <p:nvPr/>
        </p:nvSpPr>
        <p:spPr>
          <a:xfrm>
            <a:off x="3643944" y="4237672"/>
            <a:ext cx="197682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466" name="Google Shape;466;p46"/>
          <p:cNvSpPr txBox="1"/>
          <p:nvPr/>
        </p:nvSpPr>
        <p:spPr>
          <a:xfrm>
            <a:off x="685800" y="1600200"/>
            <a:ext cx="6934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following example, if the </a:t>
            </a:r>
            <a:r>
              <a:rPr b="1" lang="en-US" sz="20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switch is set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US" sz="20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turns On.</a:t>
            </a:r>
            <a:endParaRPr/>
          </a:p>
        </p:txBody>
      </p:sp>
      <p:sp>
        <p:nvSpPr>
          <p:cNvPr id="467" name="Google Shape;467;p46"/>
          <p:cNvSpPr txBox="1"/>
          <p:nvPr/>
        </p:nvSpPr>
        <p:spPr>
          <a:xfrm>
            <a:off x="685800" y="3610928"/>
            <a:ext cx="72771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Positive Logic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assumes for the 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does not need to be written into the statement.</a:t>
            </a:r>
            <a:endParaRPr/>
          </a:p>
        </p:txBody>
      </p:sp>
      <p:grpSp>
        <p:nvGrpSpPr>
          <p:cNvPr id="468" name="Google Shape;468;p46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469" name="Google Shape;469;p46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470" name="Google Shape;470;p46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"/>
          <p:cNvSpPr txBox="1"/>
          <p:nvPr/>
        </p:nvSpPr>
        <p:spPr>
          <a:xfrm>
            <a:off x="419100" y="1239560"/>
            <a:ext cx="8305799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previous examples,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assignments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were shown as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separate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statements or with an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statement. These examples use a START – STOP turn switch.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two ways of turning On and Off the Motor would produce the same result</a:t>
            </a:r>
            <a:endParaRPr/>
          </a:p>
        </p:txBody>
      </p:sp>
      <p:sp>
        <p:nvSpPr>
          <p:cNvPr id="476" name="Google Shape;476;p47"/>
          <p:cNvSpPr txBox="1"/>
          <p:nvPr/>
        </p:nvSpPr>
        <p:spPr>
          <a:xfrm>
            <a:off x="762000" y="4248150"/>
            <a:ext cx="294183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START_SWITCH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477" name="Google Shape;477;p47"/>
          <p:cNvSpPr txBox="1"/>
          <p:nvPr/>
        </p:nvSpPr>
        <p:spPr>
          <a:xfrm>
            <a:off x="762001" y="2703493"/>
            <a:ext cx="3217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START_SWITCH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cxnSp>
        <p:nvCxnSpPr>
          <p:cNvPr id="478" name="Google Shape;478;p47"/>
          <p:cNvCxnSpPr/>
          <p:nvPr/>
        </p:nvCxnSpPr>
        <p:spPr>
          <a:xfrm>
            <a:off x="419100" y="2514600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79" name="Google Shape;479;p47"/>
          <p:cNvCxnSpPr/>
          <p:nvPr/>
        </p:nvCxnSpPr>
        <p:spPr>
          <a:xfrm>
            <a:off x="419100" y="3896678"/>
            <a:ext cx="8305800" cy="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80" name="Google Shape;480;p47"/>
          <p:cNvSpPr txBox="1"/>
          <p:nvPr/>
        </p:nvSpPr>
        <p:spPr>
          <a:xfrm>
            <a:off x="4304793" y="2677796"/>
            <a:ext cx="3886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switch is turned to START there is a “1” and the motor turns On.</a:t>
            </a:r>
            <a:endParaRPr/>
          </a:p>
        </p:txBody>
      </p:sp>
      <p:sp>
        <p:nvSpPr>
          <p:cNvPr id="481" name="Google Shape;481;p47"/>
          <p:cNvSpPr txBox="1"/>
          <p:nvPr/>
        </p:nvSpPr>
        <p:spPr>
          <a:xfrm>
            <a:off x="4304793" y="3225225"/>
            <a:ext cx="3886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switch is turned to STOP there is a “0” and the motor turns Off.</a:t>
            </a:r>
            <a:endParaRPr/>
          </a:p>
        </p:txBody>
      </p:sp>
      <p:sp>
        <p:nvSpPr>
          <p:cNvPr id="482" name="Google Shape;482;p47"/>
          <p:cNvSpPr txBox="1"/>
          <p:nvPr/>
        </p:nvSpPr>
        <p:spPr>
          <a:xfrm>
            <a:off x="4295267" y="4125278"/>
            <a:ext cx="3886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switch is turned to START there is a “1” </a:t>
            </a:r>
            <a:r>
              <a:rPr b="1" lang="en-US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motor turns On.</a:t>
            </a:r>
            <a:endParaRPr/>
          </a:p>
        </p:txBody>
      </p:sp>
      <p:sp>
        <p:nvSpPr>
          <p:cNvPr id="483" name="Google Shape;483;p47"/>
          <p:cNvSpPr txBox="1"/>
          <p:nvPr/>
        </p:nvSpPr>
        <p:spPr>
          <a:xfrm>
            <a:off x="4285742" y="5206425"/>
            <a:ext cx="40772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switch is turned to STOP there is a “0” and the </a:t>
            </a: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turns motor the Off.</a:t>
            </a:r>
            <a:endParaRPr/>
          </a:p>
        </p:txBody>
      </p:sp>
      <p:sp>
        <p:nvSpPr>
          <p:cNvPr id="484" name="Google Shape;484;p47"/>
          <p:cNvSpPr txBox="1"/>
          <p:nvPr/>
        </p:nvSpPr>
        <p:spPr>
          <a:xfrm>
            <a:off x="4285742" y="4651524"/>
            <a:ext cx="44391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Remember the assumed Positive logic, same as </a:t>
            </a:r>
            <a:r>
              <a:rPr b="1" lang="en-US" sz="16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START_SWITCH </a:t>
            </a: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/>
          </a:p>
        </p:txBody>
      </p:sp>
      <p:grpSp>
        <p:nvGrpSpPr>
          <p:cNvPr id="485" name="Google Shape;485;p47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486" name="Google Shape;486;p47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487" name="Google Shape;487;p47"/>
            <p:cNvSpPr txBox="1"/>
            <p:nvPr/>
          </p:nvSpPr>
          <p:spPr>
            <a:xfrm>
              <a:off x="3333751" y="622559"/>
              <a:ext cx="14029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Constructs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8"/>
          <p:cNvSpPr txBox="1"/>
          <p:nvPr/>
        </p:nvSpPr>
        <p:spPr>
          <a:xfrm>
            <a:off x="2513920" y="2514600"/>
            <a:ext cx="41161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Structures Text Examples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"/>
          <p:cNvSpPr txBox="1"/>
          <p:nvPr/>
        </p:nvSpPr>
        <p:spPr>
          <a:xfrm>
            <a:off x="608857" y="1409356"/>
            <a:ext cx="79262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more than one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required an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 must be used.</a:t>
            </a:r>
            <a:endParaRPr/>
          </a:p>
        </p:txBody>
      </p:sp>
      <p:grpSp>
        <p:nvGrpSpPr>
          <p:cNvPr id="498" name="Google Shape;498;p49"/>
          <p:cNvGrpSpPr/>
          <p:nvPr/>
        </p:nvGrpSpPr>
        <p:grpSpPr>
          <a:xfrm>
            <a:off x="1995810" y="2743200"/>
            <a:ext cx="5152381" cy="2925128"/>
            <a:chOff x="2362200" y="2743200"/>
            <a:chExt cx="5152381" cy="2925128"/>
          </a:xfrm>
        </p:grpSpPr>
        <p:sp>
          <p:nvSpPr>
            <p:cNvPr id="499" name="Google Shape;499;p49"/>
            <p:cNvSpPr txBox="1"/>
            <p:nvPr/>
          </p:nvSpPr>
          <p:spPr>
            <a:xfrm>
              <a:off x="2778184" y="4191000"/>
              <a:ext cx="4320413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STOP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&amp; (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START 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0;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end_if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</p:txBody>
        </p:sp>
        <p:pic>
          <p:nvPicPr>
            <p:cNvPr descr="A close up of a mans face&#10;&#10;Description automatically generated" id="500" name="Google Shape;500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2200" y="2743200"/>
              <a:ext cx="5152381" cy="1123810"/>
            </a:xfrm>
            <a:prstGeom prst="rect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501" name="Google Shape;501;p49"/>
          <p:cNvSpPr txBox="1"/>
          <p:nvPr/>
        </p:nvSpPr>
        <p:spPr>
          <a:xfrm>
            <a:off x="608857" y="2133901"/>
            <a:ext cx="5947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example is a STOP – START with a Holding Circuit.</a:t>
            </a:r>
            <a:endParaRPr/>
          </a:p>
        </p:txBody>
      </p:sp>
      <p:grpSp>
        <p:nvGrpSpPr>
          <p:cNvPr id="502" name="Google Shape;502;p49"/>
          <p:cNvGrpSpPr/>
          <p:nvPr/>
        </p:nvGrpSpPr>
        <p:grpSpPr>
          <a:xfrm>
            <a:off x="731520" y="365760"/>
            <a:ext cx="4952271" cy="710338"/>
            <a:chOff x="1779936" y="281553"/>
            <a:chExt cx="4952271" cy="710338"/>
          </a:xfrm>
        </p:grpSpPr>
        <p:sp>
          <p:nvSpPr>
            <p:cNvPr id="503" name="Google Shape;503;p49"/>
            <p:cNvSpPr txBox="1"/>
            <p:nvPr/>
          </p:nvSpPr>
          <p:spPr>
            <a:xfrm>
              <a:off x="1779936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04" name="Google Shape;504;p49"/>
            <p:cNvSpPr txBox="1"/>
            <p:nvPr/>
          </p:nvSpPr>
          <p:spPr>
            <a:xfrm>
              <a:off x="1779936" y="622559"/>
              <a:ext cx="49522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Program START – STOP Construct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50"/>
          <p:cNvGrpSpPr/>
          <p:nvPr/>
        </p:nvGrpSpPr>
        <p:grpSpPr>
          <a:xfrm>
            <a:off x="1995810" y="2743200"/>
            <a:ext cx="5152381" cy="2925128"/>
            <a:chOff x="2362200" y="2743200"/>
            <a:chExt cx="5152381" cy="2925128"/>
          </a:xfrm>
        </p:grpSpPr>
        <p:sp>
          <p:nvSpPr>
            <p:cNvPr id="510" name="Google Shape;510;p50"/>
            <p:cNvSpPr txBox="1"/>
            <p:nvPr/>
          </p:nvSpPr>
          <p:spPr>
            <a:xfrm>
              <a:off x="2778184" y="4191000"/>
              <a:ext cx="4320413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STOP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&amp; (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START 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0;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end_if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</p:txBody>
        </p:sp>
        <p:pic>
          <p:nvPicPr>
            <p:cNvPr descr="A close up of a mans face&#10;&#10;Description automatically generated" id="511" name="Google Shape;511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2200" y="2743200"/>
              <a:ext cx="5152381" cy="1123810"/>
            </a:xfrm>
            <a:prstGeom prst="rect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512" name="Google Shape;512;p50"/>
          <p:cNvSpPr/>
          <p:nvPr/>
        </p:nvSpPr>
        <p:spPr>
          <a:xfrm>
            <a:off x="3048000" y="2800350"/>
            <a:ext cx="1371600" cy="10096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0"/>
          <p:cNvSpPr/>
          <p:nvPr/>
        </p:nvSpPr>
        <p:spPr>
          <a:xfrm>
            <a:off x="3800475" y="4173114"/>
            <a:ext cx="2343150" cy="370312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0"/>
          <p:cNvSpPr txBox="1"/>
          <p:nvPr/>
        </p:nvSpPr>
        <p:spPr>
          <a:xfrm>
            <a:off x="1256477" y="1511742"/>
            <a:ext cx="6887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START is OR’d with the MOTOR to create the Holding Circuit.</a:t>
            </a:r>
            <a:endParaRPr/>
          </a:p>
        </p:txBody>
      </p:sp>
      <p:sp>
        <p:nvSpPr>
          <p:cNvPr id="515" name="Google Shape;515;p50"/>
          <p:cNvSpPr txBox="1"/>
          <p:nvPr/>
        </p:nvSpPr>
        <p:spPr>
          <a:xfrm>
            <a:off x="1256477" y="2016596"/>
            <a:ext cx="6631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Parentheses are used to group the Tags as one logic condition. </a:t>
            </a:r>
            <a:endParaRPr/>
          </a:p>
        </p:txBody>
      </p:sp>
      <p:grpSp>
        <p:nvGrpSpPr>
          <p:cNvPr id="516" name="Google Shape;516;p50"/>
          <p:cNvGrpSpPr/>
          <p:nvPr/>
        </p:nvGrpSpPr>
        <p:grpSpPr>
          <a:xfrm>
            <a:off x="731520" y="365760"/>
            <a:ext cx="4952271" cy="710338"/>
            <a:chOff x="1779936" y="281553"/>
            <a:chExt cx="4952271" cy="710338"/>
          </a:xfrm>
        </p:grpSpPr>
        <p:sp>
          <p:nvSpPr>
            <p:cNvPr id="517" name="Google Shape;517;p50"/>
            <p:cNvSpPr txBox="1"/>
            <p:nvPr/>
          </p:nvSpPr>
          <p:spPr>
            <a:xfrm>
              <a:off x="1779936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18" name="Google Shape;518;p50"/>
            <p:cNvSpPr txBox="1"/>
            <p:nvPr/>
          </p:nvSpPr>
          <p:spPr>
            <a:xfrm>
              <a:off x="1779936" y="622559"/>
              <a:ext cx="49522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Program START – STOP Construct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51"/>
          <p:cNvGrpSpPr/>
          <p:nvPr/>
        </p:nvGrpSpPr>
        <p:grpSpPr>
          <a:xfrm>
            <a:off x="1995810" y="2743200"/>
            <a:ext cx="5152381" cy="2925128"/>
            <a:chOff x="2362200" y="2743200"/>
            <a:chExt cx="5152381" cy="2925128"/>
          </a:xfrm>
        </p:grpSpPr>
        <p:sp>
          <p:nvSpPr>
            <p:cNvPr id="524" name="Google Shape;524;p51"/>
            <p:cNvSpPr txBox="1"/>
            <p:nvPr/>
          </p:nvSpPr>
          <p:spPr>
            <a:xfrm>
              <a:off x="2778184" y="4191000"/>
              <a:ext cx="4320413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STOP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&amp; (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START 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537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MOTOR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:= 0;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end_if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</p:txBody>
        </p:sp>
        <p:pic>
          <p:nvPicPr>
            <p:cNvPr descr="A close up of a mans face&#10;&#10;Description automatically generated" id="525" name="Google Shape;52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2200" y="2743200"/>
              <a:ext cx="5152381" cy="1123810"/>
            </a:xfrm>
            <a:prstGeom prst="rect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526" name="Google Shape;526;p51"/>
          <p:cNvSpPr/>
          <p:nvPr/>
        </p:nvSpPr>
        <p:spPr>
          <a:xfrm>
            <a:off x="2362200" y="2800350"/>
            <a:ext cx="2057400" cy="10096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1"/>
          <p:cNvSpPr/>
          <p:nvPr/>
        </p:nvSpPr>
        <p:spPr>
          <a:xfrm>
            <a:off x="2819400" y="4173114"/>
            <a:ext cx="3324225" cy="370312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1"/>
          <p:cNvSpPr txBox="1"/>
          <p:nvPr/>
        </p:nvSpPr>
        <p:spPr>
          <a:xfrm>
            <a:off x="1256477" y="1511742"/>
            <a:ext cx="75975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 is AND’d with the grouped OR’d START - MOTOR Holding Circuit.</a:t>
            </a:r>
            <a:endParaRPr/>
          </a:p>
        </p:txBody>
      </p:sp>
      <p:sp>
        <p:nvSpPr>
          <p:cNvPr id="529" name="Google Shape;529;p51"/>
          <p:cNvSpPr txBox="1"/>
          <p:nvPr/>
        </p:nvSpPr>
        <p:spPr>
          <a:xfrm>
            <a:off x="1256477" y="2016596"/>
            <a:ext cx="65630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the &amp; “and” symbol can be used in place of typing AND. </a:t>
            </a:r>
            <a:endParaRPr/>
          </a:p>
        </p:txBody>
      </p:sp>
      <p:grpSp>
        <p:nvGrpSpPr>
          <p:cNvPr id="530" name="Google Shape;530;p51"/>
          <p:cNvGrpSpPr/>
          <p:nvPr/>
        </p:nvGrpSpPr>
        <p:grpSpPr>
          <a:xfrm>
            <a:off x="731520" y="365760"/>
            <a:ext cx="4952271" cy="710338"/>
            <a:chOff x="1779936" y="281553"/>
            <a:chExt cx="4952271" cy="710338"/>
          </a:xfrm>
        </p:grpSpPr>
        <p:sp>
          <p:nvSpPr>
            <p:cNvPr id="531" name="Google Shape;531;p51"/>
            <p:cNvSpPr txBox="1"/>
            <p:nvPr/>
          </p:nvSpPr>
          <p:spPr>
            <a:xfrm>
              <a:off x="1779936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32" name="Google Shape;532;p51"/>
            <p:cNvSpPr txBox="1"/>
            <p:nvPr/>
          </p:nvSpPr>
          <p:spPr>
            <a:xfrm>
              <a:off x="1779936" y="622559"/>
              <a:ext cx="49522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Program START – STOP Construct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2"/>
          <p:cNvSpPr txBox="1"/>
          <p:nvPr/>
        </p:nvSpPr>
        <p:spPr>
          <a:xfrm>
            <a:off x="2411794" y="4191000"/>
            <a:ext cx="611257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STOP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AIR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PART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 (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 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538" name="Google Shape;538;p52"/>
          <p:cNvSpPr txBox="1"/>
          <p:nvPr/>
        </p:nvSpPr>
        <p:spPr>
          <a:xfrm>
            <a:off x="1256477" y="1511742"/>
            <a:ext cx="726788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with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Ladder Logic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programming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 Text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must also include all logic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Input Condition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control the </a:t>
            </a:r>
            <a:r>
              <a:rPr lang="en-US" sz="1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Output Action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close up of a person&#10;&#10;Description automatically generated" id="539" name="Google Shape;53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733819"/>
            <a:ext cx="6485714" cy="115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40" name="Google Shape;540;p52"/>
          <p:cNvGrpSpPr/>
          <p:nvPr/>
        </p:nvGrpSpPr>
        <p:grpSpPr>
          <a:xfrm>
            <a:off x="731520" y="365760"/>
            <a:ext cx="4952271" cy="710338"/>
            <a:chOff x="1779936" y="281553"/>
            <a:chExt cx="4952271" cy="710338"/>
          </a:xfrm>
        </p:grpSpPr>
        <p:sp>
          <p:nvSpPr>
            <p:cNvPr id="541" name="Google Shape;541;p52"/>
            <p:cNvSpPr txBox="1"/>
            <p:nvPr/>
          </p:nvSpPr>
          <p:spPr>
            <a:xfrm>
              <a:off x="1779936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42" name="Google Shape;542;p52"/>
            <p:cNvSpPr txBox="1"/>
            <p:nvPr/>
          </p:nvSpPr>
          <p:spPr>
            <a:xfrm>
              <a:off x="1779936" y="622559"/>
              <a:ext cx="49522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Program START – STOP Construct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"/>
          <p:cNvSpPr txBox="1"/>
          <p:nvPr/>
        </p:nvSpPr>
        <p:spPr>
          <a:xfrm>
            <a:off x="2514600" y="3453207"/>
            <a:ext cx="43204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STOP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 (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START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 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RUN_INDICATOR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53734"/>
                </a:solidFill>
                <a:latin typeface="Courier New"/>
                <a:ea typeface="Courier New"/>
                <a:cs typeface="Courier New"/>
                <a:sym typeface="Courier New"/>
              </a:rPr>
              <a:t>RUN_INDICATOR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end_if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548" name="Google Shape;548;p53"/>
          <p:cNvSpPr txBox="1"/>
          <p:nvPr/>
        </p:nvSpPr>
        <p:spPr>
          <a:xfrm>
            <a:off x="1066800" y="1254773"/>
            <a:ext cx="7010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than one Output Action can be included in the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statement’s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sections.</a:t>
            </a:r>
            <a:endParaRPr/>
          </a:p>
        </p:txBody>
      </p:sp>
      <p:pic>
        <p:nvPicPr>
          <p:cNvPr descr="A picture containing bird&#10;&#10;Description automatically generated" id="549" name="Google Shape;54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715" y="2057400"/>
            <a:ext cx="6428571" cy="112381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50" name="Google Shape;550;p53"/>
          <p:cNvGrpSpPr/>
          <p:nvPr/>
        </p:nvGrpSpPr>
        <p:grpSpPr>
          <a:xfrm>
            <a:off x="731520" y="365760"/>
            <a:ext cx="4952271" cy="710338"/>
            <a:chOff x="1779936" y="281553"/>
            <a:chExt cx="4952271" cy="710338"/>
          </a:xfrm>
        </p:grpSpPr>
        <p:sp>
          <p:nvSpPr>
            <p:cNvPr id="551" name="Google Shape;551;p53"/>
            <p:cNvSpPr txBox="1"/>
            <p:nvPr/>
          </p:nvSpPr>
          <p:spPr>
            <a:xfrm>
              <a:off x="1779936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52" name="Google Shape;552;p53"/>
            <p:cNvSpPr txBox="1"/>
            <p:nvPr/>
          </p:nvSpPr>
          <p:spPr>
            <a:xfrm>
              <a:off x="1779936" y="622559"/>
              <a:ext cx="49522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 Program START – STOP Construct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4"/>
          <p:cNvSpPr txBox="1"/>
          <p:nvPr/>
        </p:nvSpPr>
        <p:spPr>
          <a:xfrm>
            <a:off x="1447120" y="2514600"/>
            <a:ext cx="62497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Add and Edit Structure Text STUDIO 5000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5"/>
          <p:cNvSpPr txBox="1"/>
          <p:nvPr/>
        </p:nvSpPr>
        <p:spPr>
          <a:xfrm>
            <a:off x="919161" y="1219200"/>
            <a:ext cx="7315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Controller Organizer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right click on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MainProgram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then select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New Routine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Graphical user interface, application&#10;&#10;Description automatically generated" id="563" name="Google Shape;56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2019509"/>
            <a:ext cx="4952381" cy="3000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64" name="Google Shape;564;p55"/>
          <p:cNvGrpSpPr/>
          <p:nvPr/>
        </p:nvGrpSpPr>
        <p:grpSpPr>
          <a:xfrm>
            <a:off x="731520" y="365760"/>
            <a:ext cx="4848315" cy="710338"/>
            <a:chOff x="2158519" y="281553"/>
            <a:chExt cx="4848315" cy="710338"/>
          </a:xfrm>
        </p:grpSpPr>
        <p:sp>
          <p:nvSpPr>
            <p:cNvPr id="565" name="Google Shape;565;p55"/>
            <p:cNvSpPr txBox="1"/>
            <p:nvPr/>
          </p:nvSpPr>
          <p:spPr>
            <a:xfrm>
              <a:off x="215851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66" name="Google Shape;566;p55"/>
            <p:cNvSpPr txBox="1"/>
            <p:nvPr/>
          </p:nvSpPr>
          <p:spPr>
            <a:xfrm>
              <a:off x="2158519" y="622559"/>
              <a:ext cx="48483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Structured Text Routine STUDIO 5000</a:t>
              </a: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6"/>
          <p:cNvSpPr txBox="1"/>
          <p:nvPr/>
        </p:nvSpPr>
        <p:spPr>
          <a:xfrm>
            <a:off x="919161" y="1219200"/>
            <a:ext cx="7315201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routine.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dropdown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Type: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select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Structured Text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screenshot of a cell phone&#10;&#10;Description automatically generated" id="572" name="Google Shape;57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905" y="2265177"/>
            <a:ext cx="3476190" cy="25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73" name="Google Shape;573;p56"/>
          <p:cNvGrpSpPr/>
          <p:nvPr/>
        </p:nvGrpSpPr>
        <p:grpSpPr>
          <a:xfrm>
            <a:off x="731520" y="365760"/>
            <a:ext cx="4848315" cy="710338"/>
            <a:chOff x="2158519" y="281553"/>
            <a:chExt cx="4848315" cy="710338"/>
          </a:xfrm>
        </p:grpSpPr>
        <p:sp>
          <p:nvSpPr>
            <p:cNvPr id="574" name="Google Shape;574;p56"/>
            <p:cNvSpPr txBox="1"/>
            <p:nvPr/>
          </p:nvSpPr>
          <p:spPr>
            <a:xfrm>
              <a:off x="215851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75" name="Google Shape;575;p56"/>
            <p:cNvSpPr txBox="1"/>
            <p:nvPr/>
          </p:nvSpPr>
          <p:spPr>
            <a:xfrm>
              <a:off x="2158519" y="622559"/>
              <a:ext cx="48483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Structured Text Routine STUDIO 5000</a:t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7"/>
          <p:cNvSpPr txBox="1"/>
          <p:nvPr/>
        </p:nvSpPr>
        <p:spPr>
          <a:xfrm>
            <a:off x="1300161" y="1219200"/>
            <a:ext cx="64722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named program will appear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Controller Organizer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Graphical user interface, text, application, chat or text message&#10;&#10;Description automatically generated" id="581" name="Google Shape;58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2606" y="1914790"/>
            <a:ext cx="2858788" cy="254944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82" name="Google Shape;582;p57"/>
          <p:cNvGrpSpPr/>
          <p:nvPr/>
        </p:nvGrpSpPr>
        <p:grpSpPr>
          <a:xfrm>
            <a:off x="731520" y="365760"/>
            <a:ext cx="4848315" cy="710338"/>
            <a:chOff x="2158519" y="281553"/>
            <a:chExt cx="4848315" cy="710338"/>
          </a:xfrm>
        </p:grpSpPr>
        <p:sp>
          <p:nvSpPr>
            <p:cNvPr id="583" name="Google Shape;583;p57"/>
            <p:cNvSpPr txBox="1"/>
            <p:nvPr/>
          </p:nvSpPr>
          <p:spPr>
            <a:xfrm>
              <a:off x="215851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84" name="Google Shape;584;p57"/>
            <p:cNvSpPr txBox="1"/>
            <p:nvPr/>
          </p:nvSpPr>
          <p:spPr>
            <a:xfrm>
              <a:off x="2158519" y="622559"/>
              <a:ext cx="48483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Structured Text Routine STUDIO 5000</a:t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589" name="Google Shape;58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096" y="1280160"/>
            <a:ext cx="6923809" cy="42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90" name="Google Shape;590;p58"/>
          <p:cNvGrpSpPr/>
          <p:nvPr/>
        </p:nvGrpSpPr>
        <p:grpSpPr>
          <a:xfrm>
            <a:off x="731520" y="364858"/>
            <a:ext cx="4408002" cy="710338"/>
            <a:chOff x="2367999" y="281553"/>
            <a:chExt cx="4408002" cy="710338"/>
          </a:xfrm>
        </p:grpSpPr>
        <p:sp>
          <p:nvSpPr>
            <p:cNvPr id="591" name="Google Shape;591;p58"/>
            <p:cNvSpPr txBox="1"/>
            <p:nvPr/>
          </p:nvSpPr>
          <p:spPr>
            <a:xfrm>
              <a:off x="236799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592" name="Google Shape;592;p58"/>
            <p:cNvSpPr txBox="1"/>
            <p:nvPr/>
          </p:nvSpPr>
          <p:spPr>
            <a:xfrm>
              <a:off x="2367999" y="622559"/>
              <a:ext cx="44080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STUDIO 5000</a:t>
              </a:r>
              <a:endParaRPr/>
            </a:p>
          </p:txBody>
        </p:sp>
      </p:grpSp>
      <p:sp>
        <p:nvSpPr>
          <p:cNvPr id="593" name="Google Shape;593;p58"/>
          <p:cNvSpPr txBox="1"/>
          <p:nvPr/>
        </p:nvSpPr>
        <p:spPr>
          <a:xfrm>
            <a:off x="4554793" y="2667000"/>
            <a:ext cx="4182799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add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right click at the location on the line where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to be placed and select 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Browse 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598" name="Google Shape;59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096" y="1280160"/>
            <a:ext cx="6923809" cy="42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99" name="Google Shape;599;p59"/>
          <p:cNvSpPr txBox="1"/>
          <p:nvPr/>
        </p:nvSpPr>
        <p:spPr>
          <a:xfrm>
            <a:off x="3200400" y="3244334"/>
            <a:ext cx="3236985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down arrowhead.</a:t>
            </a:r>
            <a:endParaRPr/>
          </a:p>
        </p:txBody>
      </p:sp>
      <p:grpSp>
        <p:nvGrpSpPr>
          <p:cNvPr id="600" name="Google Shape;600;p59"/>
          <p:cNvGrpSpPr/>
          <p:nvPr/>
        </p:nvGrpSpPr>
        <p:grpSpPr>
          <a:xfrm>
            <a:off x="731520" y="364858"/>
            <a:ext cx="4408002" cy="710338"/>
            <a:chOff x="2367999" y="281553"/>
            <a:chExt cx="4408002" cy="710338"/>
          </a:xfrm>
        </p:grpSpPr>
        <p:sp>
          <p:nvSpPr>
            <p:cNvPr id="601" name="Google Shape;601;p59"/>
            <p:cNvSpPr txBox="1"/>
            <p:nvPr/>
          </p:nvSpPr>
          <p:spPr>
            <a:xfrm>
              <a:off x="236799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02" name="Google Shape;602;p59"/>
            <p:cNvSpPr txBox="1"/>
            <p:nvPr/>
          </p:nvSpPr>
          <p:spPr>
            <a:xfrm>
              <a:off x="2367999" y="622559"/>
              <a:ext cx="44080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STUDIO 5000</a:t>
              </a:r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medium confidence" id="607" name="Google Shape;60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096" y="1280160"/>
            <a:ext cx="6923809" cy="42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08" name="Google Shape;608;p60"/>
          <p:cNvSpPr txBox="1"/>
          <p:nvPr/>
        </p:nvSpPr>
        <p:spPr>
          <a:xfrm>
            <a:off x="4343400" y="4191000"/>
            <a:ext cx="3236985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List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609" name="Google Shape;609;p60"/>
          <p:cNvGrpSpPr/>
          <p:nvPr/>
        </p:nvGrpSpPr>
        <p:grpSpPr>
          <a:xfrm>
            <a:off x="731520" y="364858"/>
            <a:ext cx="4408002" cy="710338"/>
            <a:chOff x="2367999" y="281553"/>
            <a:chExt cx="4408002" cy="710338"/>
          </a:xfrm>
        </p:grpSpPr>
        <p:sp>
          <p:nvSpPr>
            <p:cNvPr id="610" name="Google Shape;610;p60"/>
            <p:cNvSpPr txBox="1"/>
            <p:nvPr/>
          </p:nvSpPr>
          <p:spPr>
            <a:xfrm>
              <a:off x="236799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11" name="Google Shape;611;p60"/>
            <p:cNvSpPr txBox="1"/>
            <p:nvPr/>
          </p:nvSpPr>
          <p:spPr>
            <a:xfrm>
              <a:off x="2367999" y="622559"/>
              <a:ext cx="44080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STUDIO 5000</a:t>
              </a: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16" name="Google Shape;61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096" y="1280160"/>
            <a:ext cx="6923809" cy="42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17" name="Google Shape;617;p61"/>
          <p:cNvSpPr txBox="1"/>
          <p:nvPr/>
        </p:nvSpPr>
        <p:spPr>
          <a:xfrm>
            <a:off x="2743200" y="3039399"/>
            <a:ext cx="16002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added.</a:t>
            </a:r>
            <a:endParaRPr/>
          </a:p>
        </p:txBody>
      </p:sp>
      <p:grpSp>
        <p:nvGrpSpPr>
          <p:cNvPr id="618" name="Google Shape;618;p61"/>
          <p:cNvGrpSpPr/>
          <p:nvPr/>
        </p:nvGrpSpPr>
        <p:grpSpPr>
          <a:xfrm>
            <a:off x="731520" y="364858"/>
            <a:ext cx="4408002" cy="710338"/>
            <a:chOff x="2367999" y="281553"/>
            <a:chExt cx="4408002" cy="710338"/>
          </a:xfrm>
        </p:grpSpPr>
        <p:sp>
          <p:nvSpPr>
            <p:cNvPr id="619" name="Google Shape;619;p61"/>
            <p:cNvSpPr txBox="1"/>
            <p:nvPr/>
          </p:nvSpPr>
          <p:spPr>
            <a:xfrm>
              <a:off x="236799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20" name="Google Shape;620;p61"/>
            <p:cNvSpPr txBox="1"/>
            <p:nvPr/>
          </p:nvSpPr>
          <p:spPr>
            <a:xfrm>
              <a:off x="2367999" y="622559"/>
              <a:ext cx="44080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STUDIO 5000</a:t>
              </a:r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625" name="Google Shape;62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096" y="1280160"/>
            <a:ext cx="6923809" cy="42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26" name="Google Shape;626;p62"/>
          <p:cNvGrpSpPr/>
          <p:nvPr/>
        </p:nvGrpSpPr>
        <p:grpSpPr>
          <a:xfrm>
            <a:off x="731520" y="365760"/>
            <a:ext cx="2591287" cy="710338"/>
            <a:chOff x="3276357" y="281553"/>
            <a:chExt cx="2591287" cy="710338"/>
          </a:xfrm>
        </p:grpSpPr>
        <p:sp>
          <p:nvSpPr>
            <p:cNvPr id="627" name="Google Shape;627;p62"/>
            <p:cNvSpPr txBox="1"/>
            <p:nvPr/>
          </p:nvSpPr>
          <p:spPr>
            <a:xfrm>
              <a:off x="3276357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28" name="Google Shape;628;p62"/>
            <p:cNvSpPr txBox="1"/>
            <p:nvPr/>
          </p:nvSpPr>
          <p:spPr>
            <a:xfrm>
              <a:off x="3276357" y="622559"/>
              <a:ext cx="25912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Edit Tag STUDIO 5000</a:t>
              </a:r>
              <a:endParaRPr/>
            </a:p>
          </p:txBody>
        </p:sp>
      </p:grpSp>
      <p:sp>
        <p:nvSpPr>
          <p:cNvPr id="629" name="Google Shape;629;p62"/>
          <p:cNvSpPr txBox="1"/>
          <p:nvPr/>
        </p:nvSpPr>
        <p:spPr>
          <a:xfrm>
            <a:off x="3298480" y="2819400"/>
            <a:ext cx="4182799" cy="160043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change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right click on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select 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Browse 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down arrowhead in the field and select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List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630" name="Google Shape;630;p62"/>
          <p:cNvSpPr txBox="1"/>
          <p:nvPr/>
        </p:nvSpPr>
        <p:spPr>
          <a:xfrm>
            <a:off x="3298481" y="4572000"/>
            <a:ext cx="378812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edit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single left click on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type in the edit.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635" name="Google Shape;63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096" y="1280160"/>
            <a:ext cx="6923809" cy="42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36" name="Google Shape;636;p63"/>
          <p:cNvSpPr txBox="1"/>
          <p:nvPr/>
        </p:nvSpPr>
        <p:spPr>
          <a:xfrm>
            <a:off x="3298480" y="2819400"/>
            <a:ext cx="4182799" cy="132343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Delete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double left click on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select the tag.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computer’s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key to remove the tag.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7" name="Google Shape;637;p63"/>
          <p:cNvGrpSpPr/>
          <p:nvPr/>
        </p:nvGrpSpPr>
        <p:grpSpPr>
          <a:xfrm>
            <a:off x="731520" y="365760"/>
            <a:ext cx="2591287" cy="710338"/>
            <a:chOff x="3276357" y="281553"/>
            <a:chExt cx="2591287" cy="710338"/>
          </a:xfrm>
        </p:grpSpPr>
        <p:sp>
          <p:nvSpPr>
            <p:cNvPr id="638" name="Google Shape;638;p63"/>
            <p:cNvSpPr txBox="1"/>
            <p:nvPr/>
          </p:nvSpPr>
          <p:spPr>
            <a:xfrm>
              <a:off x="3276357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39" name="Google Shape;639;p63"/>
            <p:cNvSpPr txBox="1"/>
            <p:nvPr/>
          </p:nvSpPr>
          <p:spPr>
            <a:xfrm>
              <a:off x="3276357" y="622559"/>
              <a:ext cx="25912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Edit Tag STUDIO 5000</a:t>
              </a:r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oogle Shape;644;p64"/>
          <p:cNvGrpSpPr/>
          <p:nvPr/>
        </p:nvGrpSpPr>
        <p:grpSpPr>
          <a:xfrm>
            <a:off x="731520" y="365760"/>
            <a:ext cx="2476499" cy="710338"/>
            <a:chOff x="3333751" y="281553"/>
            <a:chExt cx="2476499" cy="710338"/>
          </a:xfrm>
        </p:grpSpPr>
        <p:sp>
          <p:nvSpPr>
            <p:cNvPr id="645" name="Google Shape;645;p64"/>
            <p:cNvSpPr txBox="1"/>
            <p:nvPr/>
          </p:nvSpPr>
          <p:spPr>
            <a:xfrm>
              <a:off x="333375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46" name="Google Shape;646;p64"/>
            <p:cNvSpPr txBox="1"/>
            <p:nvPr/>
          </p:nvSpPr>
          <p:spPr>
            <a:xfrm>
              <a:off x="3333751" y="622559"/>
              <a:ext cx="2262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STUDIO 5000 Edits</a:t>
              </a:r>
              <a:endParaRPr/>
            </a:p>
          </p:txBody>
        </p:sp>
      </p:grpSp>
      <p:pic>
        <p:nvPicPr>
          <p:cNvPr descr="A screenshot of a cell phone&#10;&#10;Description automatically generated" id="647" name="Google Shape;64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625" y="1315543"/>
            <a:ext cx="2554286" cy="112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cell phone&#10;&#10;Description automatically generated" id="648" name="Google Shape;64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482" y="2667000"/>
            <a:ext cx="2571429" cy="108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cell phone&#10;&#10;Description automatically generated" id="649" name="Google Shape;64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469214"/>
            <a:ext cx="2425714" cy="52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50" name="Google Shape;650;p64"/>
          <p:cNvSpPr txBox="1"/>
          <p:nvPr/>
        </p:nvSpPr>
        <p:spPr>
          <a:xfrm>
            <a:off x="3701349" y="1412984"/>
            <a:ext cx="242571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– and + box to expand or collapse structures.</a:t>
            </a:r>
            <a:endParaRPr/>
          </a:p>
        </p:txBody>
      </p:sp>
      <p:sp>
        <p:nvSpPr>
          <p:cNvPr id="651" name="Google Shape;651;p64"/>
          <p:cNvSpPr txBox="1"/>
          <p:nvPr/>
        </p:nvSpPr>
        <p:spPr>
          <a:xfrm>
            <a:off x="3701349" y="2918864"/>
            <a:ext cx="38424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Yellow bar to show line being edited and not saved.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5"/>
          <p:cNvSpPr txBox="1"/>
          <p:nvPr/>
        </p:nvSpPr>
        <p:spPr>
          <a:xfrm>
            <a:off x="1444670" y="1371600"/>
            <a:ext cx="6254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 values are viewed through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Watch Window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657" name="Google Shape;657;p65"/>
          <p:cNvGrpSpPr/>
          <p:nvPr/>
        </p:nvGrpSpPr>
        <p:grpSpPr>
          <a:xfrm>
            <a:off x="731520" y="365760"/>
            <a:ext cx="3328732" cy="710338"/>
            <a:chOff x="2907634" y="281553"/>
            <a:chExt cx="3328732" cy="710338"/>
          </a:xfrm>
        </p:grpSpPr>
        <p:sp>
          <p:nvSpPr>
            <p:cNvPr id="658" name="Google Shape;658;p65"/>
            <p:cNvSpPr txBox="1"/>
            <p:nvPr/>
          </p:nvSpPr>
          <p:spPr>
            <a:xfrm>
              <a:off x="2907634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59" name="Google Shape;659;p65"/>
            <p:cNvSpPr txBox="1"/>
            <p:nvPr/>
          </p:nvSpPr>
          <p:spPr>
            <a:xfrm>
              <a:off x="2907634" y="622559"/>
              <a:ext cx="33287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Watch Window STUDIO 5000</a:t>
              </a:r>
              <a:endParaRPr/>
            </a:p>
          </p:txBody>
        </p:sp>
      </p:grpSp>
      <p:pic>
        <p:nvPicPr>
          <p:cNvPr descr="Table&#10;&#10;Description automatically generated" id="660" name="Google Shape;66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4857" y="2119476"/>
            <a:ext cx="5314286" cy="261904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66"/>
          <p:cNvGrpSpPr/>
          <p:nvPr/>
        </p:nvGrpSpPr>
        <p:grpSpPr>
          <a:xfrm>
            <a:off x="731520" y="365760"/>
            <a:ext cx="4489242" cy="710338"/>
            <a:chOff x="2327379" y="281553"/>
            <a:chExt cx="4489242" cy="710338"/>
          </a:xfrm>
        </p:grpSpPr>
        <p:sp>
          <p:nvSpPr>
            <p:cNvPr id="666" name="Google Shape;666;p66"/>
            <p:cNvSpPr txBox="1"/>
            <p:nvPr/>
          </p:nvSpPr>
          <p:spPr>
            <a:xfrm>
              <a:off x="232737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67" name="Google Shape;667;p66"/>
            <p:cNvSpPr txBox="1"/>
            <p:nvPr/>
          </p:nvSpPr>
          <p:spPr>
            <a:xfrm>
              <a:off x="2327379" y="622559"/>
              <a:ext cx="4489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STUDIO 5000</a:t>
              </a:r>
              <a:endParaRPr/>
            </a:p>
          </p:txBody>
        </p:sp>
      </p:grpSp>
      <p:pic>
        <p:nvPicPr>
          <p:cNvPr descr="A screenshot of a cell phone&#10;&#10;Description automatically generated" id="668" name="Google Shape;66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1" y="2128025"/>
            <a:ext cx="2283927" cy="146200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669" name="Google Shape;66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54" y="4497372"/>
            <a:ext cx="363620" cy="3794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70" name="Google Shape;670;p66"/>
          <p:cNvSpPr txBox="1"/>
          <p:nvPr/>
        </p:nvSpPr>
        <p:spPr>
          <a:xfrm>
            <a:off x="6172200" y="3811570"/>
            <a:ext cx="22839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-OR- a button on the routine’s toolbar.</a:t>
            </a:r>
            <a:endParaRPr/>
          </a:p>
        </p:txBody>
      </p:sp>
      <p:sp>
        <p:nvSpPr>
          <p:cNvPr id="671" name="Google Shape;671;p66"/>
          <p:cNvSpPr txBox="1"/>
          <p:nvPr/>
        </p:nvSpPr>
        <p:spPr>
          <a:xfrm>
            <a:off x="6172201" y="1403480"/>
            <a:ext cx="25859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option to view Tag values on screen.</a:t>
            </a:r>
            <a:endParaRPr/>
          </a:p>
        </p:txBody>
      </p:sp>
      <p:pic>
        <p:nvPicPr>
          <p:cNvPr descr="Graphical user interface, text&#10;&#10;Description automatically generated" id="672" name="Google Shape;67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1371600"/>
            <a:ext cx="4815238" cy="405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677" name="Google Shape;67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4815238" cy="405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ell phone&#10;&#10;Description automatically generated" id="678" name="Google Shape;67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1" y="2128025"/>
            <a:ext cx="2283927" cy="146200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679" name="Google Shape;679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54" y="4497372"/>
            <a:ext cx="363620" cy="3794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80" name="Google Shape;680;p67"/>
          <p:cNvSpPr txBox="1"/>
          <p:nvPr/>
        </p:nvSpPr>
        <p:spPr>
          <a:xfrm>
            <a:off x="6172200" y="3811570"/>
            <a:ext cx="22839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-OR- a button on the routine’s toolbar.</a:t>
            </a:r>
            <a:endParaRPr/>
          </a:p>
        </p:txBody>
      </p:sp>
      <p:sp>
        <p:nvSpPr>
          <p:cNvPr id="681" name="Google Shape;681;p67"/>
          <p:cNvSpPr txBox="1"/>
          <p:nvPr/>
        </p:nvSpPr>
        <p:spPr>
          <a:xfrm>
            <a:off x="6172201" y="1403480"/>
            <a:ext cx="25859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option to view Tag values on screen.</a:t>
            </a:r>
            <a:endParaRPr/>
          </a:p>
        </p:txBody>
      </p:sp>
      <p:sp>
        <p:nvSpPr>
          <p:cNvPr id="682" name="Google Shape;682;p67"/>
          <p:cNvSpPr txBox="1"/>
          <p:nvPr/>
        </p:nvSpPr>
        <p:spPr>
          <a:xfrm>
            <a:off x="2362200" y="2754868"/>
            <a:ext cx="28194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 shown by tag.</a:t>
            </a:r>
            <a:endParaRPr/>
          </a:p>
        </p:txBody>
      </p:sp>
      <p:grpSp>
        <p:nvGrpSpPr>
          <p:cNvPr id="683" name="Google Shape;683;p67"/>
          <p:cNvGrpSpPr/>
          <p:nvPr/>
        </p:nvGrpSpPr>
        <p:grpSpPr>
          <a:xfrm>
            <a:off x="731520" y="365760"/>
            <a:ext cx="4489242" cy="710338"/>
            <a:chOff x="2327379" y="281553"/>
            <a:chExt cx="4489242" cy="710338"/>
          </a:xfrm>
        </p:grpSpPr>
        <p:sp>
          <p:nvSpPr>
            <p:cNvPr id="684" name="Google Shape;684;p67"/>
            <p:cNvSpPr txBox="1"/>
            <p:nvPr/>
          </p:nvSpPr>
          <p:spPr>
            <a:xfrm>
              <a:off x="232737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85" name="Google Shape;685;p67"/>
            <p:cNvSpPr txBox="1"/>
            <p:nvPr/>
          </p:nvSpPr>
          <p:spPr>
            <a:xfrm>
              <a:off x="2327379" y="622559"/>
              <a:ext cx="4489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STUDIO 5000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8"/>
          <p:cNvSpPr txBox="1"/>
          <p:nvPr/>
        </p:nvSpPr>
        <p:spPr>
          <a:xfrm>
            <a:off x="1714160" y="2514600"/>
            <a:ext cx="57156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Add and Edit Structure Text SIEMENS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9"/>
          <p:cNvSpPr txBox="1"/>
          <p:nvPr/>
        </p:nvSpPr>
        <p:spPr>
          <a:xfrm>
            <a:off x="1814511" y="1219200"/>
            <a:ext cx="48910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 new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screenshot of a cell phone&#10;&#10;Description automatically generated" id="696" name="Google Shape;69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9619" y="1801633"/>
            <a:ext cx="2704762" cy="29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97" name="Google Shape;697;p69"/>
          <p:cNvGrpSpPr/>
          <p:nvPr/>
        </p:nvGrpSpPr>
        <p:grpSpPr>
          <a:xfrm>
            <a:off x="731520" y="365760"/>
            <a:ext cx="4335354" cy="710338"/>
            <a:chOff x="2363703" y="281553"/>
            <a:chExt cx="4335354" cy="710338"/>
          </a:xfrm>
        </p:grpSpPr>
        <p:sp>
          <p:nvSpPr>
            <p:cNvPr id="698" name="Google Shape;698;p69"/>
            <p:cNvSpPr txBox="1"/>
            <p:nvPr/>
          </p:nvSpPr>
          <p:spPr>
            <a:xfrm>
              <a:off x="236370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699" name="Google Shape;699;p69"/>
            <p:cNvSpPr txBox="1"/>
            <p:nvPr/>
          </p:nvSpPr>
          <p:spPr>
            <a:xfrm>
              <a:off x="2363703" y="622559"/>
              <a:ext cx="43353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Structured Text Block SIEMENS</a:t>
              </a:r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0"/>
          <p:cNvSpPr txBox="1"/>
          <p:nvPr/>
        </p:nvSpPr>
        <p:spPr>
          <a:xfrm>
            <a:off x="762000" y="1929426"/>
            <a:ext cx="7315201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either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block.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dropdown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screenshot of a cell phone&#10;&#10;Description automatically generated" id="705" name="Google Shape;70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870" y="1425774"/>
            <a:ext cx="3948571" cy="343428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706" name="Google Shape;706;p70"/>
          <p:cNvGrpSpPr/>
          <p:nvPr/>
        </p:nvGrpSpPr>
        <p:grpSpPr>
          <a:xfrm>
            <a:off x="731520" y="365760"/>
            <a:ext cx="4335354" cy="710338"/>
            <a:chOff x="2363703" y="281553"/>
            <a:chExt cx="4335354" cy="710338"/>
          </a:xfrm>
        </p:grpSpPr>
        <p:sp>
          <p:nvSpPr>
            <p:cNvPr id="707" name="Google Shape;707;p70"/>
            <p:cNvSpPr txBox="1"/>
            <p:nvPr/>
          </p:nvSpPr>
          <p:spPr>
            <a:xfrm>
              <a:off x="236370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08" name="Google Shape;708;p70"/>
            <p:cNvSpPr txBox="1"/>
            <p:nvPr/>
          </p:nvSpPr>
          <p:spPr>
            <a:xfrm>
              <a:off x="2363703" y="622559"/>
              <a:ext cx="43353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Structured Text Block SIEMENS</a:t>
              </a:r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1"/>
          <p:cNvSpPr txBox="1"/>
          <p:nvPr/>
        </p:nvSpPr>
        <p:spPr>
          <a:xfrm>
            <a:off x="919161" y="1219200"/>
            <a:ext cx="73152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named program will appear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screenshot of a cell phone&#10;&#10;Description automatically generated" id="714" name="Google Shape;71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4777" y="1828800"/>
            <a:ext cx="3794447" cy="289840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715" name="Google Shape;715;p71"/>
          <p:cNvGrpSpPr/>
          <p:nvPr/>
        </p:nvGrpSpPr>
        <p:grpSpPr>
          <a:xfrm>
            <a:off x="731520" y="365760"/>
            <a:ext cx="4335354" cy="710338"/>
            <a:chOff x="2363703" y="281553"/>
            <a:chExt cx="4335354" cy="710338"/>
          </a:xfrm>
        </p:grpSpPr>
        <p:sp>
          <p:nvSpPr>
            <p:cNvPr id="716" name="Google Shape;716;p71"/>
            <p:cNvSpPr txBox="1"/>
            <p:nvPr/>
          </p:nvSpPr>
          <p:spPr>
            <a:xfrm>
              <a:off x="236370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17" name="Google Shape;717;p71"/>
            <p:cNvSpPr txBox="1"/>
            <p:nvPr/>
          </p:nvSpPr>
          <p:spPr>
            <a:xfrm>
              <a:off x="2363703" y="622559"/>
              <a:ext cx="43353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Structured Text Block SIEMENS</a:t>
              </a:r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722" name="Google Shape;72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191" y="1280160"/>
            <a:ext cx="6047619" cy="41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723" name="Google Shape;723;p72"/>
          <p:cNvGrpSpPr/>
          <p:nvPr/>
        </p:nvGrpSpPr>
        <p:grpSpPr>
          <a:xfrm>
            <a:off x="731520" y="365760"/>
            <a:ext cx="3997633" cy="710338"/>
            <a:chOff x="2573184" y="281553"/>
            <a:chExt cx="3997633" cy="710338"/>
          </a:xfrm>
        </p:grpSpPr>
        <p:sp>
          <p:nvSpPr>
            <p:cNvPr id="724" name="Google Shape;724;p72"/>
            <p:cNvSpPr txBox="1"/>
            <p:nvPr/>
          </p:nvSpPr>
          <p:spPr>
            <a:xfrm>
              <a:off x="2573184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25" name="Google Shape;725;p72"/>
            <p:cNvSpPr txBox="1"/>
            <p:nvPr/>
          </p:nvSpPr>
          <p:spPr>
            <a:xfrm>
              <a:off x="2573184" y="622559"/>
              <a:ext cx="39976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SIEMENS</a:t>
              </a:r>
              <a:endParaRPr/>
            </a:p>
          </p:txBody>
        </p:sp>
      </p:grpSp>
      <p:sp>
        <p:nvSpPr>
          <p:cNvPr id="726" name="Google Shape;726;p72"/>
          <p:cNvSpPr txBox="1"/>
          <p:nvPr/>
        </p:nvSpPr>
        <p:spPr>
          <a:xfrm>
            <a:off x="2743200" y="3505200"/>
            <a:ext cx="41910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add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type in a quotation mark.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&#10;&#10;Description automatically generated with low confidence" id="731" name="Google Shape;731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191" y="1280160"/>
            <a:ext cx="6047619" cy="41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32" name="Google Shape;732;p73"/>
          <p:cNvSpPr txBox="1"/>
          <p:nvPr/>
        </p:nvSpPr>
        <p:spPr>
          <a:xfrm>
            <a:off x="4953000" y="4160548"/>
            <a:ext cx="3236985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List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733" name="Google Shape;733;p73"/>
          <p:cNvGrpSpPr/>
          <p:nvPr/>
        </p:nvGrpSpPr>
        <p:grpSpPr>
          <a:xfrm>
            <a:off x="731520" y="365760"/>
            <a:ext cx="3997633" cy="710338"/>
            <a:chOff x="2573184" y="281553"/>
            <a:chExt cx="3997633" cy="710338"/>
          </a:xfrm>
        </p:grpSpPr>
        <p:sp>
          <p:nvSpPr>
            <p:cNvPr id="734" name="Google Shape;734;p73"/>
            <p:cNvSpPr txBox="1"/>
            <p:nvPr/>
          </p:nvSpPr>
          <p:spPr>
            <a:xfrm>
              <a:off x="2573184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35" name="Google Shape;735;p73"/>
            <p:cNvSpPr txBox="1"/>
            <p:nvPr/>
          </p:nvSpPr>
          <p:spPr>
            <a:xfrm>
              <a:off x="2573184" y="622559"/>
              <a:ext cx="39976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SIEMENS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740" name="Google Shape;74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191" y="1280160"/>
            <a:ext cx="6047619" cy="41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41" name="Google Shape;741;p74"/>
          <p:cNvSpPr txBox="1"/>
          <p:nvPr/>
        </p:nvSpPr>
        <p:spPr>
          <a:xfrm>
            <a:off x="3886200" y="3505200"/>
            <a:ext cx="16002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added.</a:t>
            </a:r>
            <a:endParaRPr/>
          </a:p>
        </p:txBody>
      </p:sp>
      <p:grpSp>
        <p:nvGrpSpPr>
          <p:cNvPr id="742" name="Google Shape;742;p74"/>
          <p:cNvGrpSpPr/>
          <p:nvPr/>
        </p:nvGrpSpPr>
        <p:grpSpPr>
          <a:xfrm>
            <a:off x="731520" y="365760"/>
            <a:ext cx="3997633" cy="710338"/>
            <a:chOff x="2573184" y="281553"/>
            <a:chExt cx="3997633" cy="710338"/>
          </a:xfrm>
        </p:grpSpPr>
        <p:sp>
          <p:nvSpPr>
            <p:cNvPr id="743" name="Google Shape;743;p74"/>
            <p:cNvSpPr txBox="1"/>
            <p:nvPr/>
          </p:nvSpPr>
          <p:spPr>
            <a:xfrm>
              <a:off x="2573184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44" name="Google Shape;744;p74"/>
            <p:cNvSpPr txBox="1"/>
            <p:nvPr/>
          </p:nvSpPr>
          <p:spPr>
            <a:xfrm>
              <a:off x="2573184" y="622559"/>
              <a:ext cx="39976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Tag with Tag Listing SIEMENS</a:t>
              </a:r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749" name="Google Shape;74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191" y="1280160"/>
            <a:ext cx="6047619" cy="41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750" name="Google Shape;750;p75"/>
          <p:cNvGrpSpPr/>
          <p:nvPr/>
        </p:nvGrpSpPr>
        <p:grpSpPr>
          <a:xfrm>
            <a:off x="731520" y="365760"/>
            <a:ext cx="4587538" cy="710338"/>
            <a:chOff x="2278231" y="281553"/>
            <a:chExt cx="4587538" cy="710338"/>
          </a:xfrm>
        </p:grpSpPr>
        <p:sp>
          <p:nvSpPr>
            <p:cNvPr id="751" name="Google Shape;751;p75"/>
            <p:cNvSpPr txBox="1"/>
            <p:nvPr/>
          </p:nvSpPr>
          <p:spPr>
            <a:xfrm>
              <a:off x="227823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52" name="Google Shape;752;p75"/>
            <p:cNvSpPr txBox="1"/>
            <p:nvPr/>
          </p:nvSpPr>
          <p:spPr>
            <a:xfrm>
              <a:off x="2278231" y="622559"/>
              <a:ext cx="45875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a Tag with Tag Listing SIEMENS</a:t>
              </a:r>
              <a:endParaRPr/>
            </a:p>
          </p:txBody>
        </p:sp>
      </p:grpSp>
      <p:sp>
        <p:nvSpPr>
          <p:cNvPr id="753" name="Google Shape;753;p75"/>
          <p:cNvSpPr txBox="1"/>
          <p:nvPr/>
        </p:nvSpPr>
        <p:spPr>
          <a:xfrm>
            <a:off x="3124200" y="1600200"/>
            <a:ext cx="5135921" cy="160043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change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double left click on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select the tag’s text.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Tag Name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with the whole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selected type in a quotation mark then select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 List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&#10;&#10;Description automatically generated" id="758" name="Google Shape;75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191" y="1280160"/>
            <a:ext cx="6047619" cy="41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59" name="Google Shape;759;p76"/>
          <p:cNvSpPr txBox="1"/>
          <p:nvPr/>
        </p:nvSpPr>
        <p:spPr>
          <a:xfrm>
            <a:off x="4419601" y="3105834"/>
            <a:ext cx="36576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 Tag Name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left click on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where to edit and type in change.</a:t>
            </a:r>
            <a:endParaRPr/>
          </a:p>
        </p:txBody>
      </p:sp>
      <p:grpSp>
        <p:nvGrpSpPr>
          <p:cNvPr id="760" name="Google Shape;760;p76"/>
          <p:cNvGrpSpPr/>
          <p:nvPr/>
        </p:nvGrpSpPr>
        <p:grpSpPr>
          <a:xfrm>
            <a:off x="731520" y="365760"/>
            <a:ext cx="4587538" cy="710338"/>
            <a:chOff x="2278231" y="281553"/>
            <a:chExt cx="4587538" cy="710338"/>
          </a:xfrm>
        </p:grpSpPr>
        <p:sp>
          <p:nvSpPr>
            <p:cNvPr id="761" name="Google Shape;761;p76"/>
            <p:cNvSpPr txBox="1"/>
            <p:nvPr/>
          </p:nvSpPr>
          <p:spPr>
            <a:xfrm>
              <a:off x="227823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62" name="Google Shape;762;p76"/>
            <p:cNvSpPr txBox="1"/>
            <p:nvPr/>
          </p:nvSpPr>
          <p:spPr>
            <a:xfrm>
              <a:off x="2278231" y="622559"/>
              <a:ext cx="45875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a Tag with Tag Listing SIEMENS</a:t>
              </a:r>
              <a:endParaRPr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767" name="Google Shape;7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191" y="1280160"/>
            <a:ext cx="6047619" cy="414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68" name="Google Shape;768;p77"/>
          <p:cNvSpPr txBox="1"/>
          <p:nvPr/>
        </p:nvSpPr>
        <p:spPr>
          <a:xfrm>
            <a:off x="5029200" y="3581400"/>
            <a:ext cx="28956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remove 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right click and select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769" name="Google Shape;769;p77"/>
          <p:cNvGrpSpPr/>
          <p:nvPr/>
        </p:nvGrpSpPr>
        <p:grpSpPr>
          <a:xfrm>
            <a:off x="731520" y="365760"/>
            <a:ext cx="4587538" cy="710338"/>
            <a:chOff x="2278231" y="281553"/>
            <a:chExt cx="4587538" cy="710338"/>
          </a:xfrm>
        </p:grpSpPr>
        <p:sp>
          <p:nvSpPr>
            <p:cNvPr id="770" name="Google Shape;770;p77"/>
            <p:cNvSpPr txBox="1"/>
            <p:nvPr/>
          </p:nvSpPr>
          <p:spPr>
            <a:xfrm>
              <a:off x="2278231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71" name="Google Shape;771;p77"/>
            <p:cNvSpPr txBox="1"/>
            <p:nvPr/>
          </p:nvSpPr>
          <p:spPr>
            <a:xfrm>
              <a:off x="2278231" y="622559"/>
              <a:ext cx="45875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a Tag with Tag Listing SIEMENS</a:t>
              </a:r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8"/>
          <p:cNvSpPr txBox="1"/>
          <p:nvPr/>
        </p:nvSpPr>
        <p:spPr>
          <a:xfrm>
            <a:off x="1444670" y="1371600"/>
            <a:ext cx="6254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 values are viewed through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Watch Window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777" name="Google Shape;777;p78"/>
          <p:cNvGrpSpPr/>
          <p:nvPr/>
        </p:nvGrpSpPr>
        <p:grpSpPr>
          <a:xfrm>
            <a:off x="731520" y="365760"/>
            <a:ext cx="2918363" cy="710338"/>
            <a:chOff x="3112819" y="281553"/>
            <a:chExt cx="2918363" cy="710338"/>
          </a:xfrm>
        </p:grpSpPr>
        <p:sp>
          <p:nvSpPr>
            <p:cNvPr id="778" name="Google Shape;778;p78"/>
            <p:cNvSpPr txBox="1"/>
            <p:nvPr/>
          </p:nvSpPr>
          <p:spPr>
            <a:xfrm>
              <a:off x="3112819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79" name="Google Shape;779;p78"/>
            <p:cNvSpPr txBox="1"/>
            <p:nvPr/>
          </p:nvSpPr>
          <p:spPr>
            <a:xfrm>
              <a:off x="3112819" y="622559"/>
              <a:ext cx="29183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Watch Window SIEMENS</a:t>
              </a:r>
              <a:endParaRPr/>
            </a:p>
          </p:txBody>
        </p:sp>
      </p:grpSp>
      <p:pic>
        <p:nvPicPr>
          <p:cNvPr descr="A screenshot of a social media post&#10;&#10;Description automatically generated" id="780" name="Google Shape;78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000" y="1914851"/>
            <a:ext cx="6000000" cy="232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9"/>
          <p:cNvSpPr txBox="1"/>
          <p:nvPr/>
        </p:nvSpPr>
        <p:spPr>
          <a:xfrm>
            <a:off x="1530110" y="1219200"/>
            <a:ext cx="608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 values may be viewed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Editor Window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786" name="Google Shape;786;p79"/>
          <p:cNvGrpSpPr/>
          <p:nvPr/>
        </p:nvGrpSpPr>
        <p:grpSpPr>
          <a:xfrm>
            <a:off x="731520" y="365760"/>
            <a:ext cx="4078874" cy="710338"/>
            <a:chOff x="2532563" y="281553"/>
            <a:chExt cx="4078874" cy="710338"/>
          </a:xfrm>
        </p:grpSpPr>
        <p:sp>
          <p:nvSpPr>
            <p:cNvPr id="787" name="Google Shape;787;p79"/>
            <p:cNvSpPr txBox="1"/>
            <p:nvPr/>
          </p:nvSpPr>
          <p:spPr>
            <a:xfrm>
              <a:off x="253256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788" name="Google Shape;788;p79"/>
            <p:cNvSpPr txBox="1"/>
            <p:nvPr/>
          </p:nvSpPr>
          <p:spPr>
            <a:xfrm>
              <a:off x="2532563" y="622559"/>
              <a:ext cx="40788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SIEMENS</a:t>
              </a:r>
              <a:endParaRPr/>
            </a:p>
          </p:txBody>
        </p:sp>
      </p:grpSp>
      <p:sp>
        <p:nvSpPr>
          <p:cNvPr id="789" name="Google Shape;789;p79"/>
          <p:cNvSpPr txBox="1"/>
          <p:nvPr/>
        </p:nvSpPr>
        <p:spPr>
          <a:xfrm>
            <a:off x="1530109" y="1557815"/>
            <a:ext cx="35445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default, the outputs are listed.</a:t>
            </a:r>
            <a:endParaRPr/>
          </a:p>
        </p:txBody>
      </p:sp>
      <p:pic>
        <p:nvPicPr>
          <p:cNvPr descr="Graphical user interface, text, application&#10;&#10;Description automatically generated" id="790" name="Google Shape;79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191" y="2011680"/>
            <a:ext cx="6567619" cy="355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0"/>
          <p:cNvSpPr txBox="1"/>
          <p:nvPr/>
        </p:nvSpPr>
        <p:spPr>
          <a:xfrm>
            <a:off x="1530110" y="1219200"/>
            <a:ext cx="608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 values may be viewed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Editor Window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96" name="Google Shape;796;p80"/>
          <p:cNvSpPr txBox="1"/>
          <p:nvPr/>
        </p:nvSpPr>
        <p:spPr>
          <a:xfrm>
            <a:off x="1530109" y="1557815"/>
            <a:ext cx="35445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default, the outputs are listed.</a:t>
            </a:r>
            <a:endParaRPr/>
          </a:p>
        </p:txBody>
      </p:sp>
      <p:pic>
        <p:nvPicPr>
          <p:cNvPr descr="Graphical user interface, text, application&#10;&#10;Description automatically generated" id="797" name="Google Shape;79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191" y="2011680"/>
            <a:ext cx="6567619" cy="355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98" name="Google Shape;798;p80"/>
          <p:cNvSpPr/>
          <p:nvPr/>
        </p:nvSpPr>
        <p:spPr>
          <a:xfrm>
            <a:off x="1676400" y="3200400"/>
            <a:ext cx="6324600" cy="29988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9" name="Google Shape;799;p80"/>
          <p:cNvGrpSpPr/>
          <p:nvPr/>
        </p:nvGrpSpPr>
        <p:grpSpPr>
          <a:xfrm>
            <a:off x="3302389" y="3689553"/>
            <a:ext cx="4659344" cy="371132"/>
            <a:chOff x="3570257" y="3923432"/>
            <a:chExt cx="4659344" cy="371132"/>
          </a:xfrm>
        </p:grpSpPr>
        <p:sp>
          <p:nvSpPr>
            <p:cNvPr id="800" name="Google Shape;800;p80"/>
            <p:cNvSpPr txBox="1"/>
            <p:nvPr/>
          </p:nvSpPr>
          <p:spPr>
            <a:xfrm>
              <a:off x="3570257" y="3923432"/>
              <a:ext cx="4659344" cy="369332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</a:t>
              </a:r>
              <a:r>
                <a:rPr b="1" lang="en-US" sz="1800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of  </a:t>
              </a: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is the IF statement.</a:t>
              </a:r>
              <a:endParaRPr/>
            </a:p>
          </p:txBody>
        </p:sp>
        <p:sp>
          <p:nvSpPr>
            <p:cNvPr id="801" name="Google Shape;801;p80"/>
            <p:cNvSpPr/>
            <p:nvPr/>
          </p:nvSpPr>
          <p:spPr>
            <a:xfrm>
              <a:off x="5246393" y="3953227"/>
              <a:ext cx="830991" cy="304800"/>
            </a:xfrm>
            <a:prstGeom prst="rect">
              <a:avLst/>
            </a:prstGeom>
            <a:solidFill>
              <a:srgbClr val="FFC8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80"/>
            <p:cNvSpPr txBox="1"/>
            <p:nvPr/>
          </p:nvSpPr>
          <p:spPr>
            <a:xfrm>
              <a:off x="5227808" y="3925232"/>
              <a:ext cx="9094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80"/>
          <p:cNvGrpSpPr/>
          <p:nvPr/>
        </p:nvGrpSpPr>
        <p:grpSpPr>
          <a:xfrm>
            <a:off x="731520" y="365760"/>
            <a:ext cx="4078874" cy="710338"/>
            <a:chOff x="2532563" y="281553"/>
            <a:chExt cx="4078874" cy="710338"/>
          </a:xfrm>
        </p:grpSpPr>
        <p:sp>
          <p:nvSpPr>
            <p:cNvPr id="804" name="Google Shape;804;p80"/>
            <p:cNvSpPr txBox="1"/>
            <p:nvPr/>
          </p:nvSpPr>
          <p:spPr>
            <a:xfrm>
              <a:off x="253256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805" name="Google Shape;805;p80"/>
            <p:cNvSpPr txBox="1"/>
            <p:nvPr/>
          </p:nvSpPr>
          <p:spPr>
            <a:xfrm>
              <a:off x="2532563" y="622559"/>
              <a:ext cx="40788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SIEMENS</a:t>
              </a:r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1"/>
          <p:cNvSpPr txBox="1"/>
          <p:nvPr/>
        </p:nvSpPr>
        <p:spPr>
          <a:xfrm>
            <a:off x="1530110" y="1219200"/>
            <a:ext cx="608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 values may be viewed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Editor Window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11" name="Google Shape;811;p81"/>
          <p:cNvSpPr txBox="1"/>
          <p:nvPr/>
        </p:nvSpPr>
        <p:spPr>
          <a:xfrm>
            <a:off x="1530109" y="1557815"/>
            <a:ext cx="35445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default, the outputs are listed.</a:t>
            </a:r>
            <a:endParaRPr/>
          </a:p>
        </p:txBody>
      </p:sp>
      <p:pic>
        <p:nvPicPr>
          <p:cNvPr descr="Graphical user interface, text, application&#10;&#10;Description automatically generated" id="812" name="Google Shape;81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191" y="2011680"/>
            <a:ext cx="6567619" cy="355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13" name="Google Shape;813;p81"/>
          <p:cNvSpPr/>
          <p:nvPr/>
        </p:nvSpPr>
        <p:spPr>
          <a:xfrm>
            <a:off x="2251586" y="3411794"/>
            <a:ext cx="5614219" cy="47194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81"/>
          <p:cNvSpPr txBox="1"/>
          <p:nvPr/>
        </p:nvSpPr>
        <p:spPr>
          <a:xfrm>
            <a:off x="4876800" y="2213201"/>
            <a:ext cx="33528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IF-THEN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 is False. Notice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greyed-out and not status is shown.</a:t>
            </a:r>
            <a:endParaRPr/>
          </a:p>
        </p:txBody>
      </p:sp>
      <p:grpSp>
        <p:nvGrpSpPr>
          <p:cNvPr id="815" name="Google Shape;815;p81"/>
          <p:cNvGrpSpPr/>
          <p:nvPr/>
        </p:nvGrpSpPr>
        <p:grpSpPr>
          <a:xfrm>
            <a:off x="731520" y="365760"/>
            <a:ext cx="4078874" cy="710338"/>
            <a:chOff x="2532563" y="281553"/>
            <a:chExt cx="4078874" cy="710338"/>
          </a:xfrm>
        </p:grpSpPr>
        <p:sp>
          <p:nvSpPr>
            <p:cNvPr id="816" name="Google Shape;816;p81"/>
            <p:cNvSpPr txBox="1"/>
            <p:nvPr/>
          </p:nvSpPr>
          <p:spPr>
            <a:xfrm>
              <a:off x="253256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817" name="Google Shape;817;p81"/>
            <p:cNvSpPr txBox="1"/>
            <p:nvPr/>
          </p:nvSpPr>
          <p:spPr>
            <a:xfrm>
              <a:off x="2532563" y="622559"/>
              <a:ext cx="40788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SIEMENS</a:t>
              </a: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2"/>
          <p:cNvSpPr txBox="1"/>
          <p:nvPr/>
        </p:nvSpPr>
        <p:spPr>
          <a:xfrm>
            <a:off x="1530110" y="1219200"/>
            <a:ext cx="6083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state values may be viewed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Editor Window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23" name="Google Shape;823;p82"/>
          <p:cNvSpPr txBox="1"/>
          <p:nvPr/>
        </p:nvSpPr>
        <p:spPr>
          <a:xfrm>
            <a:off x="1530109" y="1557815"/>
            <a:ext cx="35445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default, the outputs are listed.</a:t>
            </a:r>
            <a:endParaRPr/>
          </a:p>
        </p:txBody>
      </p:sp>
      <p:pic>
        <p:nvPicPr>
          <p:cNvPr descr="Graphical user interface, text, application&#10;&#10;Description automatically generated" id="824" name="Google Shape;82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191" y="2011680"/>
            <a:ext cx="6567619" cy="355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25" name="Google Shape;825;p82"/>
          <p:cNvSpPr/>
          <p:nvPr/>
        </p:nvSpPr>
        <p:spPr>
          <a:xfrm>
            <a:off x="1905000" y="3854245"/>
            <a:ext cx="5960805" cy="83574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82"/>
          <p:cNvSpPr txBox="1"/>
          <p:nvPr/>
        </p:nvSpPr>
        <p:spPr>
          <a:xfrm>
            <a:off x="2743200" y="2715328"/>
            <a:ext cx="33528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executed. Notice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shown with their status.</a:t>
            </a:r>
            <a:endParaRPr/>
          </a:p>
        </p:txBody>
      </p:sp>
      <p:grpSp>
        <p:nvGrpSpPr>
          <p:cNvPr id="827" name="Google Shape;827;p82"/>
          <p:cNvGrpSpPr/>
          <p:nvPr/>
        </p:nvGrpSpPr>
        <p:grpSpPr>
          <a:xfrm>
            <a:off x="731520" y="365760"/>
            <a:ext cx="4078874" cy="710338"/>
            <a:chOff x="2532563" y="281553"/>
            <a:chExt cx="4078874" cy="710338"/>
          </a:xfrm>
        </p:grpSpPr>
        <p:sp>
          <p:nvSpPr>
            <p:cNvPr id="828" name="Google Shape;828;p82"/>
            <p:cNvSpPr txBox="1"/>
            <p:nvPr/>
          </p:nvSpPr>
          <p:spPr>
            <a:xfrm>
              <a:off x="253256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829" name="Google Shape;829;p82"/>
            <p:cNvSpPr txBox="1"/>
            <p:nvPr/>
          </p:nvSpPr>
          <p:spPr>
            <a:xfrm>
              <a:off x="2532563" y="622559"/>
              <a:ext cx="40788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SIEMENS</a:t>
              </a:r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3"/>
          <p:cNvSpPr txBox="1"/>
          <p:nvPr/>
        </p:nvSpPr>
        <p:spPr>
          <a:xfrm>
            <a:off x="1444670" y="1371600"/>
            <a:ext cx="56734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view the inputs, use the Expand arrowhead button.</a:t>
            </a:r>
            <a:endParaRPr/>
          </a:p>
        </p:txBody>
      </p:sp>
      <p:pic>
        <p:nvPicPr>
          <p:cNvPr descr="Graphical user interface, text&#10;&#10;Description automatically generated" id="835" name="Google Shape;83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191" y="2011680"/>
            <a:ext cx="6567619" cy="355809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83"/>
          <p:cNvSpPr/>
          <p:nvPr/>
        </p:nvSpPr>
        <p:spPr>
          <a:xfrm>
            <a:off x="6172200" y="3411794"/>
            <a:ext cx="1693605" cy="47194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3"/>
          <p:cNvSpPr txBox="1"/>
          <p:nvPr/>
        </p:nvSpPr>
        <p:spPr>
          <a:xfrm>
            <a:off x="2457450" y="3480891"/>
            <a:ext cx="33528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expanded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shown with their statu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838" name="Google Shape;838;p83"/>
          <p:cNvGrpSpPr/>
          <p:nvPr/>
        </p:nvGrpSpPr>
        <p:grpSpPr>
          <a:xfrm>
            <a:off x="731520" y="365760"/>
            <a:ext cx="4078874" cy="710338"/>
            <a:chOff x="2532563" y="281553"/>
            <a:chExt cx="4078874" cy="710338"/>
          </a:xfrm>
        </p:grpSpPr>
        <p:sp>
          <p:nvSpPr>
            <p:cNvPr id="839" name="Google Shape;839;p83"/>
            <p:cNvSpPr txBox="1"/>
            <p:nvPr/>
          </p:nvSpPr>
          <p:spPr>
            <a:xfrm>
              <a:off x="2532563" y="281553"/>
              <a:ext cx="24764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Text</a:t>
              </a:r>
              <a:endParaRPr/>
            </a:p>
          </p:txBody>
        </p:sp>
        <p:sp>
          <p:nvSpPr>
            <p:cNvPr id="840" name="Google Shape;840;p83"/>
            <p:cNvSpPr txBox="1"/>
            <p:nvPr/>
          </p:nvSpPr>
          <p:spPr>
            <a:xfrm>
              <a:off x="2532563" y="622559"/>
              <a:ext cx="40788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Online Tag Display Editor SIEMENS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