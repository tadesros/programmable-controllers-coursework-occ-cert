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2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/>
        </p:nvSpPr>
        <p:spPr>
          <a:xfrm>
            <a:off x="7467600" y="6172200"/>
            <a:ext cx="15004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Structured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Timers</a:t>
            </a:r>
            <a:endParaRPr/>
          </a:p>
        </p:txBody>
      </p:sp>
      <p:pic>
        <p:nvPicPr>
          <p:cNvPr descr="Text&#10;&#10;Description automatically generated"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-12234" y="356600"/>
            <a:ext cx="6874495" cy="460860"/>
            <a:chOff x="-12234" y="356600"/>
            <a:chExt cx="6874495" cy="460860"/>
          </a:xfrm>
        </p:grpSpPr>
        <p:sp>
          <p:nvSpPr>
            <p:cNvPr id="29" name="Google Shape;29;p3"/>
            <p:cNvSpPr/>
            <p:nvPr/>
          </p:nvSpPr>
          <p:spPr>
            <a:xfrm rot="2949928">
              <a:off x="462292" y="456220"/>
              <a:ext cx="274320" cy="274320"/>
            </a:xfrm>
            <a:prstGeom prst="rect">
              <a:avLst/>
            </a:prstGeom>
            <a:solidFill>
              <a:srgbClr val="B4CAB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" name="Google Shape;30;p3"/>
            <p:cNvCxnSpPr/>
            <p:nvPr/>
          </p:nvCxnSpPr>
          <p:spPr>
            <a:xfrm>
              <a:off x="-12234" y="817460"/>
              <a:ext cx="6874495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31" name="Google Shape;31;p3"/>
            <p:cNvSpPr/>
            <p:nvPr/>
          </p:nvSpPr>
          <p:spPr>
            <a:xfrm rot="2949928">
              <a:off x="249762" y="456220"/>
              <a:ext cx="274320" cy="274320"/>
            </a:xfrm>
            <a:prstGeom prst="rect">
              <a:avLst/>
            </a:prstGeom>
            <a:solidFill>
              <a:srgbClr val="84AA8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2949928">
              <a:off x="56300" y="456220"/>
              <a:ext cx="274320" cy="274320"/>
            </a:xfrm>
            <a:prstGeom prst="rect">
              <a:avLst/>
            </a:prstGeom>
            <a:solidFill>
              <a:srgbClr val="046A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33;p3"/>
            <p:cNvCxnSpPr/>
            <p:nvPr/>
          </p:nvCxnSpPr>
          <p:spPr>
            <a:xfrm>
              <a:off x="-12234" y="356600"/>
              <a:ext cx="5661596" cy="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No Title">
  <p:cSld name="Content - No 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/>
          <p:nvPr/>
        </p:nvSpPr>
        <p:spPr>
          <a:xfrm>
            <a:off x="7696200" y="6172200"/>
            <a:ext cx="5484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9" name="Google Shape;69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3" name="Google Shape;83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1" name="Google Shape;9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5638800" y="5562600"/>
            <a:ext cx="3352800" cy="24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2022John Sefcovic and Oakland Community College.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3390900" y="2362200"/>
            <a:ext cx="300990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Structured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Timers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/>
        </p:nvSpPr>
        <p:spPr>
          <a:xfrm>
            <a:off x="822960" y="365760"/>
            <a:ext cx="2819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RESET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application&#10;&#10;Description automatically generated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858" y="3244597"/>
            <a:ext cx="5814285" cy="107904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20" name="Google Shape;120;p17"/>
          <p:cNvSpPr/>
          <p:nvPr/>
        </p:nvSpPr>
        <p:spPr>
          <a:xfrm>
            <a:off x="5515261" y="3807451"/>
            <a:ext cx="848032" cy="51127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638921" y="2558799"/>
            <a:ext cx="5866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Timers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use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Type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FBD_TIMER.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787019" y="4648200"/>
            <a:ext cx="7569963" cy="64633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Block Diagram programming was developed before Structured Text and rather than developing additional Data Types FBD data is used. 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854604" y="1752600"/>
            <a:ext cx="7434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optional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TONR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an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instruction.</a:t>
            </a:r>
            <a:endParaRPr/>
          </a:p>
        </p:txBody>
      </p:sp>
      <p:cxnSp>
        <p:nvCxnSpPr>
          <p:cNvPr id="124" name="Google Shape;124;p17"/>
          <p:cNvCxnSpPr/>
          <p:nvPr/>
        </p:nvCxnSpPr>
        <p:spPr>
          <a:xfrm>
            <a:off x="408964" y="2362200"/>
            <a:ext cx="8326073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application, Word&#10;&#10;Description automatically generated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2000" y="2734000"/>
            <a:ext cx="5400000" cy="260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text, application&#10;&#10;Description automatically generated" id="131" name="Google Shape;1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600" y="2445333"/>
            <a:ext cx="2388572" cy="618096"/>
          </a:xfrm>
          <a:prstGeom prst="rect">
            <a:avLst/>
          </a:prstGeom>
          <a:noFill/>
          <a:ln cap="flat" cmpd="sng" w="2857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32" name="Google Shape;132;p18"/>
          <p:cNvSpPr txBox="1"/>
          <p:nvPr/>
        </p:nvSpPr>
        <p:spPr>
          <a:xfrm>
            <a:off x="854604" y="1752600"/>
            <a:ext cx="7070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TONR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in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Timer/Counter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 in the Instruction Palette and is dragged into the Editor.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822960" y="365760"/>
            <a:ext cx="2819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RESET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text, application, Word&#10;&#10;Description automatically generated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581600"/>
            <a:ext cx="5400000" cy="260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40" name="Google Shape;140;p19"/>
          <p:cNvSpPr txBox="1"/>
          <p:nvPr/>
        </p:nvSpPr>
        <p:spPr>
          <a:xfrm>
            <a:off x="1295400" y="1700963"/>
            <a:ext cx="7315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the Tag has been assigned to 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TONR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Preset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.PRE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TimerEnable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be assigned by the instruction but is not required.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822960" y="365760"/>
            <a:ext cx="2819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RESET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122450" y="4488275"/>
            <a:ext cx="4220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Different from timer en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text, application, Word&#10;&#10;Description automatically generated"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581600"/>
            <a:ext cx="5400000" cy="260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49" name="Google Shape;149;p20"/>
          <p:cNvSpPr/>
          <p:nvPr/>
        </p:nvSpPr>
        <p:spPr>
          <a:xfrm>
            <a:off x="2667000" y="3581400"/>
            <a:ext cx="3048000" cy="30477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1219200" y="1743435"/>
            <a:ext cx="6705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1800">
                <a:solidFill>
                  <a:srgbClr val="B3444E"/>
                </a:solidFill>
                <a:latin typeface="Courier New"/>
                <a:ea typeface="Courier New"/>
                <a:cs typeface="Courier New"/>
                <a:sym typeface="Courier New"/>
              </a:rPr>
              <a:t>TagName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 sz="1800">
                <a:solidFill>
                  <a:srgbClr val="B3444E"/>
                </a:solidFill>
                <a:latin typeface="Courier New"/>
                <a:ea typeface="Courier New"/>
                <a:cs typeface="Courier New"/>
                <a:sym typeface="Courier New"/>
              </a:rPr>
              <a:t>TimerEnable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condition which causes the Timer to elapse.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822960" y="365760"/>
            <a:ext cx="2819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RESET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4495800" y="1757064"/>
            <a:ext cx="2971800" cy="1272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status bit formats.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DWELL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DWELL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TT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DWELL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DN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1828800" y="1752600"/>
            <a:ext cx="2971800" cy="976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value formats.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DWELL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PRE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DWELL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ACC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9" name="Google Shape;159;p21"/>
          <p:cNvCxnSpPr/>
          <p:nvPr/>
        </p:nvCxnSpPr>
        <p:spPr>
          <a:xfrm>
            <a:off x="408964" y="3276600"/>
            <a:ext cx="8326073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60" name="Google Shape;160;p21"/>
          <p:cNvSpPr txBox="1"/>
          <p:nvPr/>
        </p:nvSpPr>
        <p:spPr>
          <a:xfrm>
            <a:off x="2589266" y="3483679"/>
            <a:ext cx="62499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cleared, the instruction does not execute, and outputs are not updated. If set, the instruction executes. Default is set.</a:t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2589266" y="4333824"/>
            <a:ext cx="61518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 to reset the timer. When set, the timer resets and clears EN, TT and DN and sets ACC = 0.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466659" y="3483679"/>
            <a:ext cx="20249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DWELL.EnableIn</a:t>
            </a:r>
            <a:endParaRPr b="1" sz="1800">
              <a:solidFill>
                <a:srgbClr val="B3444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466658" y="4317423"/>
            <a:ext cx="15776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DWELL.Reset</a:t>
            </a:r>
            <a:endParaRPr b="1" sz="1800">
              <a:solidFill>
                <a:srgbClr val="B3444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2133600" y="5074007"/>
            <a:ext cx="4876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additional bit and a word outputs on the operational status of the FBD Timer Data Structure. 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822960" y="365760"/>
            <a:ext cx="2819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RESET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text, application&#10;&#10;Description automatically generated" id="171" name="Google Shape;1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2000" y="2286000"/>
            <a:ext cx="5400000" cy="235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72" name="Google Shape;172;p22"/>
          <p:cNvSpPr txBox="1"/>
          <p:nvPr/>
        </p:nvSpPr>
        <p:spPr>
          <a:xfrm>
            <a:off x="1562100" y="1789910"/>
            <a:ext cx="4991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simple structure. </a:t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822960" y="365760"/>
            <a:ext cx="2819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RESET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text, application&#10;&#10;Description automatically generated" id="179" name="Google Shape;1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8200" y="2286000"/>
            <a:ext cx="5400000" cy="235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80" name="Google Shape;180;p23"/>
          <p:cNvSpPr txBox="1"/>
          <p:nvPr/>
        </p:nvSpPr>
        <p:spPr>
          <a:xfrm>
            <a:off x="1562100" y="1789910"/>
            <a:ext cx="5067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Off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simple structure. </a:t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1600200" y="4800600"/>
            <a:ext cx="624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’d with the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.EN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the controlled Output is On when the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TimerEnable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On.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4419600" y="3581400"/>
            <a:ext cx="2526654" cy="369332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the </a:t>
            </a:r>
            <a:r>
              <a:rPr b="1"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keyword.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822960" y="365760"/>
            <a:ext cx="2819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RESET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text, application&#10;&#10;Description automatically generated" id="189" name="Google Shape;1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286000"/>
            <a:ext cx="5400000" cy="31619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90" name="Google Shape;190;p24"/>
          <p:cNvSpPr txBox="1"/>
          <p:nvPr/>
        </p:nvSpPr>
        <p:spPr>
          <a:xfrm>
            <a:off x="1295400" y="1713582"/>
            <a:ext cx="5489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an </a:t>
            </a:r>
            <a:r>
              <a:rPr b="1"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structure. </a:t>
            </a:r>
            <a:endParaRPr/>
          </a:p>
        </p:txBody>
      </p:sp>
      <p:sp>
        <p:nvSpPr>
          <p:cNvPr id="191" name="Google Shape;191;p24"/>
          <p:cNvSpPr txBox="1"/>
          <p:nvPr/>
        </p:nvSpPr>
        <p:spPr>
          <a:xfrm>
            <a:off x="822960" y="365760"/>
            <a:ext cx="2819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RESET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196" name="Google Shape;1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2000" y="2286000"/>
            <a:ext cx="5400000" cy="31619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97" name="Google Shape;197;p25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1295400" y="1713582"/>
            <a:ext cx="5489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Off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an </a:t>
            </a:r>
            <a:r>
              <a:rPr b="1"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structure. </a:t>
            </a:r>
            <a:endParaRPr/>
          </a:p>
        </p:txBody>
      </p:sp>
      <p:sp>
        <p:nvSpPr>
          <p:cNvPr id="199" name="Google Shape;199;p25"/>
          <p:cNvSpPr txBox="1"/>
          <p:nvPr/>
        </p:nvSpPr>
        <p:spPr>
          <a:xfrm>
            <a:off x="6031453" y="3730721"/>
            <a:ext cx="2526654" cy="369332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the </a:t>
            </a:r>
            <a:r>
              <a:rPr b="1"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keyword.</a:t>
            </a:r>
            <a:endParaRPr/>
          </a:p>
        </p:txBody>
      </p:sp>
      <p:sp>
        <p:nvSpPr>
          <p:cNvPr id="200" name="Google Shape;200;p25"/>
          <p:cNvSpPr txBox="1"/>
          <p:nvPr/>
        </p:nvSpPr>
        <p:spPr>
          <a:xfrm>
            <a:off x="4343400" y="4314461"/>
            <a:ext cx="449275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’d with the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.EN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the controlled Output is On when the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TimerEnable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On.</a:t>
            </a:r>
            <a:endParaRPr/>
          </a:p>
        </p:txBody>
      </p:sp>
      <p:sp>
        <p:nvSpPr>
          <p:cNvPr id="201" name="Google Shape;201;p25"/>
          <p:cNvSpPr txBox="1"/>
          <p:nvPr/>
        </p:nvSpPr>
        <p:spPr>
          <a:xfrm>
            <a:off x="822960" y="365760"/>
            <a:ext cx="2819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RESET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sp>
        <p:nvSpPr>
          <p:cNvPr id="207" name="Google Shape;207;p26"/>
          <p:cNvSpPr txBox="1"/>
          <p:nvPr/>
        </p:nvSpPr>
        <p:spPr>
          <a:xfrm>
            <a:off x="854604" y="1752600"/>
            <a:ext cx="58702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an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instruction.</a:t>
            </a:r>
            <a:endParaRPr/>
          </a:p>
        </p:txBody>
      </p:sp>
      <p:pic>
        <p:nvPicPr>
          <p:cNvPr descr="Table&#10;&#10;Description automatically generated" id="208" name="Google Shape;2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856271"/>
            <a:ext cx="3057143" cy="19619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209" name="Google Shape;209;p26"/>
          <p:cNvCxnSpPr/>
          <p:nvPr/>
        </p:nvCxnSpPr>
        <p:spPr>
          <a:xfrm>
            <a:off x="408964" y="2362200"/>
            <a:ext cx="8326073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210" name="Google Shape;210;p26"/>
          <p:cNvSpPr txBox="1"/>
          <p:nvPr/>
        </p:nvSpPr>
        <p:spPr>
          <a:xfrm>
            <a:off x="5229837" y="3174900"/>
            <a:ext cx="28473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in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operations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folder and is dragged into the Editor.</a:t>
            </a:r>
            <a:endParaRPr/>
          </a:p>
        </p:txBody>
      </p:sp>
      <p:sp>
        <p:nvSpPr>
          <p:cNvPr id="211" name="Google Shape;211;p26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, application&#10;&#10;Description automatically generated"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917" y="1828800"/>
            <a:ext cx="4733333" cy="290476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18" name="Google Shape;218;p27"/>
          <p:cNvSpPr txBox="1"/>
          <p:nvPr/>
        </p:nvSpPr>
        <p:spPr>
          <a:xfrm>
            <a:off x="3714750" y="2743200"/>
            <a:ext cx="4733332" cy="126284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dialog opens when the TON instruction is dragged into the program, the tag name in this example is DWELL. The TON is a System block and Program resource.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, application&#10;&#10;Description automatically generated" id="225" name="Google Shape;22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28800"/>
            <a:ext cx="5133333" cy="29047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/>
        </p:nvSpPr>
        <p:spPr>
          <a:xfrm>
            <a:off x="4876800" y="2603950"/>
            <a:ext cx="3690113" cy="2277547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added to the program.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elements: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IN:=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PT:=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Optional Elements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Q=&gt;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ET=&gt;</a:t>
            </a:r>
            <a:endParaRPr/>
          </a:p>
        </p:txBody>
      </p:sp>
      <p:sp>
        <p:nvSpPr>
          <p:cNvPr id="227" name="Google Shape;227;p28"/>
          <p:cNvSpPr txBox="1"/>
          <p:nvPr/>
        </p:nvSpPr>
        <p:spPr>
          <a:xfrm>
            <a:off x="1936754" y="5010316"/>
            <a:ext cx="54228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Optional Elements are to assign an alternative Tag Name to the default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output and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value.  </a:t>
            </a:r>
            <a:endParaRPr/>
          </a:p>
        </p:txBody>
      </p:sp>
      <p:sp>
        <p:nvSpPr>
          <p:cNvPr id="228" name="Google Shape;228;p28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, application&#10;&#10;Description automatically generated" id="234" name="Google Shape;2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28800"/>
            <a:ext cx="5133333" cy="290476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9"/>
          <p:cNvSpPr txBox="1"/>
          <p:nvPr/>
        </p:nvSpPr>
        <p:spPr>
          <a:xfrm>
            <a:off x="4876800" y="2958015"/>
            <a:ext cx="3694081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to select the </a:t>
            </a: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 element.</a:t>
            </a:r>
            <a:endParaRPr/>
          </a:p>
        </p:txBody>
      </p:sp>
      <p:sp>
        <p:nvSpPr>
          <p:cNvPr id="236" name="Google Shape;236;p29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, application&#10;&#10;Description automatically generated" id="242" name="Google Shape;2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28800"/>
            <a:ext cx="5133333" cy="290476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/>
        </p:nvSpPr>
        <p:spPr>
          <a:xfrm>
            <a:off x="4724400" y="2958015"/>
            <a:ext cx="40386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in the quotation mark and select the Tag from the Tag Listing.</a:t>
            </a:r>
            <a:endParaRPr/>
          </a:p>
        </p:txBody>
      </p:sp>
      <p:sp>
        <p:nvSpPr>
          <p:cNvPr id="244" name="Google Shape;244;p30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, application, email&#10;&#10;Description automatically generated" id="250" name="Google Shape;2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28800"/>
            <a:ext cx="5133333" cy="290476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/>
        </p:nvSpPr>
        <p:spPr>
          <a:xfrm>
            <a:off x="4955812" y="2958015"/>
            <a:ext cx="3352800" cy="20005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to select the PT: element. Type in the value.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T#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Time Data 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Unit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T#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ms</a:t>
            </a:r>
            <a:endParaRPr b="1" i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527550" y="4948825"/>
            <a:ext cx="54288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Light yellow are optional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, application, email&#10;&#10;Description automatically generated" id="259" name="Google Shape;25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28800"/>
            <a:ext cx="5133333" cy="290476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 txBox="1"/>
          <p:nvPr/>
        </p:nvSpPr>
        <p:spPr>
          <a:xfrm>
            <a:off x="4800600" y="2967335"/>
            <a:ext cx="3886200" cy="160043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not using the optional elements, press ENTER and elements are removed.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Cursor must be located after the Time Unit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61" name="Google Shape;261;p32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, application&#10;&#10;Description automatically generated" id="267" name="Google Shape;26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432" y="1811592"/>
            <a:ext cx="5133333" cy="29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68" name="Google Shape;268;p33"/>
          <p:cNvSpPr txBox="1"/>
          <p:nvPr/>
        </p:nvSpPr>
        <p:spPr>
          <a:xfrm>
            <a:off x="4724400" y="2958015"/>
            <a:ext cx="36576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enter a Timer Tag type in the quotation mark and select the Tag from the Tag Listing.</a:t>
            </a:r>
            <a:endParaRPr/>
          </a:p>
        </p:txBody>
      </p:sp>
      <p:sp>
        <p:nvSpPr>
          <p:cNvPr id="269" name="Google Shape;269;p33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application&#10;&#10;Description automatically generated" id="275" name="Google Shape;2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28800"/>
            <a:ext cx="7952381" cy="373333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76" name="Google Shape;276;p34"/>
          <p:cNvSpPr txBox="1"/>
          <p:nvPr/>
        </p:nvSpPr>
        <p:spPr>
          <a:xfrm>
            <a:off x="4419600" y="3276600"/>
            <a:ext cx="3428999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type in a period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popup the Tag Listing.</a:t>
            </a:r>
            <a:endParaRPr/>
          </a:p>
        </p:txBody>
      </p:sp>
      <p:sp>
        <p:nvSpPr>
          <p:cNvPr id="277" name="Google Shape;277;p34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  <p:sp>
        <p:nvSpPr>
          <p:cNvPr id="278" name="Google Shape;278;p34"/>
          <p:cNvSpPr/>
          <p:nvPr/>
        </p:nvSpPr>
        <p:spPr>
          <a:xfrm>
            <a:off x="6607628" y="2556301"/>
            <a:ext cx="304800" cy="64633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4"/>
          <p:cNvSpPr txBox="1"/>
          <p:nvPr/>
        </p:nvSpPr>
        <p:spPr>
          <a:xfrm>
            <a:off x="5962466" y="1830755"/>
            <a:ext cx="15951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</a:t>
            </a: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this step.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sp>
        <p:nvSpPr>
          <p:cNvPr id="285" name="Google Shape;285;p35"/>
          <p:cNvSpPr txBox="1"/>
          <p:nvPr/>
        </p:nvSpPr>
        <p:spPr>
          <a:xfrm>
            <a:off x="4495800" y="1833264"/>
            <a:ext cx="2971800" cy="976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status bit formats.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“DWELL”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“DWELL”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p35"/>
          <p:cNvSpPr txBox="1"/>
          <p:nvPr/>
        </p:nvSpPr>
        <p:spPr>
          <a:xfrm>
            <a:off x="1828800" y="1828800"/>
            <a:ext cx="2971800" cy="976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value formats.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“DWELL”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PT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“DWELL”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p35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sp>
        <p:nvSpPr>
          <p:cNvPr id="293" name="Google Shape;293;p36"/>
          <p:cNvSpPr txBox="1"/>
          <p:nvPr/>
        </p:nvSpPr>
        <p:spPr>
          <a:xfrm>
            <a:off x="1562100" y="1789910"/>
            <a:ext cx="4991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simple structure. </a:t>
            </a:r>
            <a:endParaRPr/>
          </a:p>
        </p:txBody>
      </p:sp>
      <p:pic>
        <p:nvPicPr>
          <p:cNvPr descr="Graphical user interface, text, application, email&#10;&#10;Description automatically generated" id="294" name="Google Shape;29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143" y="2286000"/>
            <a:ext cx="6285714" cy="310476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95" name="Google Shape;295;p36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sp>
        <p:nvSpPr>
          <p:cNvPr id="301" name="Google Shape;301;p37"/>
          <p:cNvSpPr txBox="1"/>
          <p:nvPr/>
        </p:nvSpPr>
        <p:spPr>
          <a:xfrm>
            <a:off x="1562100" y="1789910"/>
            <a:ext cx="4991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Off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simple structure. </a:t>
            </a:r>
            <a:endParaRPr/>
          </a:p>
        </p:txBody>
      </p:sp>
      <p:pic>
        <p:nvPicPr>
          <p:cNvPr descr="Graphical user interface, text, application, email&#10;&#10;Description automatically generated" id="302" name="Google Shape;30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143" y="2286000"/>
            <a:ext cx="6285714" cy="310476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03" name="Google Shape;303;p37"/>
          <p:cNvSpPr txBox="1"/>
          <p:nvPr/>
        </p:nvSpPr>
        <p:spPr>
          <a:xfrm>
            <a:off x="5429250" y="3820339"/>
            <a:ext cx="2526654" cy="369332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the </a:t>
            </a:r>
            <a:r>
              <a:rPr b="1"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keyword.</a:t>
            </a:r>
            <a:endParaRPr/>
          </a:p>
        </p:txBody>
      </p:sp>
      <p:sp>
        <p:nvSpPr>
          <p:cNvPr id="304" name="Google Shape;304;p37"/>
          <p:cNvSpPr txBox="1"/>
          <p:nvPr/>
        </p:nvSpPr>
        <p:spPr>
          <a:xfrm>
            <a:off x="4191000" y="4659161"/>
            <a:ext cx="449275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’d with the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.IN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the controlled Output is On when the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TimerEnable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On.</a:t>
            </a:r>
            <a:endParaRPr/>
          </a:p>
        </p:txBody>
      </p:sp>
      <p:sp>
        <p:nvSpPr>
          <p:cNvPr id="305" name="Google Shape;305;p37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sp>
        <p:nvSpPr>
          <p:cNvPr id="311" name="Google Shape;311;p38"/>
          <p:cNvSpPr txBox="1"/>
          <p:nvPr/>
        </p:nvSpPr>
        <p:spPr>
          <a:xfrm>
            <a:off x="1295400" y="1713582"/>
            <a:ext cx="5489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an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structure. </a:t>
            </a:r>
            <a:endParaRPr/>
          </a:p>
        </p:txBody>
      </p:sp>
      <p:pic>
        <p:nvPicPr>
          <p:cNvPr descr="Graphical user interface, text, application, email&#10;&#10;Description automatically generated" id="312" name="Google Shape;31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143" y="2103120"/>
            <a:ext cx="6285714" cy="368571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13" name="Google Shape;313;p38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sp>
        <p:nvSpPr>
          <p:cNvPr id="319" name="Google Shape;319;p39"/>
          <p:cNvSpPr txBox="1"/>
          <p:nvPr/>
        </p:nvSpPr>
        <p:spPr>
          <a:xfrm>
            <a:off x="1295400" y="1713582"/>
            <a:ext cx="5489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Energize Timer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Off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an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structure. </a:t>
            </a:r>
            <a:endParaRPr/>
          </a:p>
        </p:txBody>
      </p:sp>
      <p:pic>
        <p:nvPicPr>
          <p:cNvPr descr="Graphical user interface, text, application, email&#10;&#10;Description automatically generated" id="320" name="Google Shape;32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143" y="2103120"/>
            <a:ext cx="6285714" cy="368571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9"/>
          <p:cNvSpPr txBox="1"/>
          <p:nvPr/>
        </p:nvSpPr>
        <p:spPr>
          <a:xfrm>
            <a:off x="5521523" y="3655698"/>
            <a:ext cx="2526654" cy="369332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the </a:t>
            </a:r>
            <a:r>
              <a:rPr b="1"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keyword.</a:t>
            </a:r>
            <a:endParaRPr/>
          </a:p>
        </p:txBody>
      </p:sp>
      <p:sp>
        <p:nvSpPr>
          <p:cNvPr id="322" name="Google Shape;322;p39"/>
          <p:cNvSpPr txBox="1"/>
          <p:nvPr/>
        </p:nvSpPr>
        <p:spPr>
          <a:xfrm>
            <a:off x="4407947" y="4469940"/>
            <a:ext cx="449275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’d with the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.IN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the controlled Output is On when the </a:t>
            </a:r>
            <a:r>
              <a:rPr b="1" lang="en-US" sz="1800">
                <a:solidFill>
                  <a:srgbClr val="B3444E"/>
                </a:solidFill>
                <a:latin typeface="Consolas"/>
                <a:ea typeface="Consolas"/>
                <a:cs typeface="Consolas"/>
                <a:sym typeface="Consolas"/>
              </a:rPr>
              <a:t>TimerEnable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On.</a:t>
            </a:r>
            <a:endParaRPr/>
          </a:p>
        </p:txBody>
      </p:sp>
      <p:sp>
        <p:nvSpPr>
          <p:cNvPr id="323" name="Google Shape;323;p39"/>
          <p:cNvSpPr txBox="1"/>
          <p:nvPr/>
        </p:nvSpPr>
        <p:spPr>
          <a:xfrm>
            <a:off x="822960" y="365760"/>
            <a:ext cx="16916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