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/>
          <p:nvPr/>
        </p:nvSpPr>
        <p:spPr>
          <a:xfrm>
            <a:off x="-12234" y="5943600"/>
            <a:ext cx="9144000" cy="912812"/>
          </a:xfrm>
          <a:prstGeom prst="rect">
            <a:avLst/>
          </a:prstGeom>
          <a:solidFill>
            <a:srgbClr val="EAF0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0" y="0"/>
            <a:ext cx="9144000" cy="5943600"/>
          </a:xfrm>
          <a:prstGeom prst="rect">
            <a:avLst/>
          </a:prstGeom>
          <a:gradFill>
            <a:gsLst>
              <a:gs pos="0">
                <a:srgbClr val="D0DCC0">
                  <a:alpha val="20000"/>
                </a:srgbClr>
              </a:gs>
              <a:gs pos="50000">
                <a:srgbClr val="D0DCC0">
                  <a:alpha val="20000"/>
                </a:srgbClr>
              </a:gs>
              <a:gs pos="74000">
                <a:schemeClr val="lt1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" name="Google Shape;18;p2"/>
          <p:cNvCxnSpPr/>
          <p:nvPr/>
        </p:nvCxnSpPr>
        <p:spPr>
          <a:xfrm>
            <a:off x="0" y="5976302"/>
            <a:ext cx="9144000" cy="1588"/>
          </a:xfrm>
          <a:prstGeom prst="straightConnector1">
            <a:avLst/>
          </a:prstGeom>
          <a:noFill/>
          <a:ln cap="flat" cmpd="sng" w="2857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" name="Google Shape;19;p2"/>
          <p:cNvCxnSpPr/>
          <p:nvPr/>
        </p:nvCxnSpPr>
        <p:spPr>
          <a:xfrm>
            <a:off x="0" y="5943600"/>
            <a:ext cx="9144000" cy="1588"/>
          </a:xfrm>
          <a:prstGeom prst="straightConnector1">
            <a:avLst/>
          </a:prstGeom>
          <a:noFill/>
          <a:ln cap="flat" cmpd="sng" w="38100">
            <a:solidFill>
              <a:srgbClr val="4F6128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Text&#10;&#10;Description automatically generated" id="20" name="Google Shape;20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70191" y="6130071"/>
            <a:ext cx="3383280" cy="5040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onten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12234" y="5943600"/>
            <a:ext cx="9144000" cy="912812"/>
          </a:xfrm>
          <a:prstGeom prst="rect">
            <a:avLst/>
          </a:prstGeom>
          <a:solidFill>
            <a:srgbClr val="EAF0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0" y="0"/>
            <a:ext cx="9144000" cy="5943600"/>
          </a:xfrm>
          <a:prstGeom prst="rect">
            <a:avLst/>
          </a:prstGeom>
          <a:gradFill>
            <a:gsLst>
              <a:gs pos="0">
                <a:srgbClr val="D0DCC0">
                  <a:alpha val="20000"/>
                </a:srgbClr>
              </a:gs>
              <a:gs pos="50000">
                <a:srgbClr val="D0DCC0">
                  <a:alpha val="20000"/>
                </a:srgbClr>
              </a:gs>
              <a:gs pos="74000">
                <a:schemeClr val="lt1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" name="Google Shape;24;p3"/>
          <p:cNvCxnSpPr/>
          <p:nvPr/>
        </p:nvCxnSpPr>
        <p:spPr>
          <a:xfrm>
            <a:off x="0" y="5976302"/>
            <a:ext cx="9144000" cy="1588"/>
          </a:xfrm>
          <a:prstGeom prst="straightConnector1">
            <a:avLst/>
          </a:prstGeom>
          <a:noFill/>
          <a:ln cap="flat" cmpd="sng" w="2857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" name="Google Shape;25;p3"/>
          <p:cNvCxnSpPr/>
          <p:nvPr/>
        </p:nvCxnSpPr>
        <p:spPr>
          <a:xfrm>
            <a:off x="0" y="5943600"/>
            <a:ext cx="9144000" cy="1588"/>
          </a:xfrm>
          <a:prstGeom prst="straightConnector1">
            <a:avLst/>
          </a:prstGeom>
          <a:noFill/>
          <a:ln cap="flat" cmpd="sng" w="38100">
            <a:solidFill>
              <a:srgbClr val="4F612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" name="Google Shape;26;p3"/>
          <p:cNvSpPr txBox="1"/>
          <p:nvPr/>
        </p:nvSpPr>
        <p:spPr>
          <a:xfrm>
            <a:off x="7315200" y="6172200"/>
            <a:ext cx="155016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757474"/>
                </a:solidFill>
                <a:latin typeface="Arial"/>
                <a:ea typeface="Arial"/>
                <a:cs typeface="Arial"/>
                <a:sym typeface="Arial"/>
              </a:rPr>
              <a:t>Structured Text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>
                <a:solidFill>
                  <a:srgbClr val="757474"/>
                </a:solidFill>
                <a:latin typeface="Arial"/>
                <a:ea typeface="Arial"/>
                <a:cs typeface="Arial"/>
                <a:sym typeface="Arial"/>
              </a:rPr>
              <a:t>One Shot</a:t>
            </a:r>
            <a:endParaRPr/>
          </a:p>
        </p:txBody>
      </p:sp>
      <p:pic>
        <p:nvPicPr>
          <p:cNvPr descr="Text&#10;&#10;Description automatically generated" id="27" name="Google Shape;27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70191" y="6130071"/>
            <a:ext cx="3383280" cy="5040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" name="Google Shape;28;p3"/>
          <p:cNvGrpSpPr/>
          <p:nvPr/>
        </p:nvGrpSpPr>
        <p:grpSpPr>
          <a:xfrm>
            <a:off x="-12234" y="356600"/>
            <a:ext cx="6874495" cy="460860"/>
            <a:chOff x="-12234" y="356600"/>
            <a:chExt cx="6874495" cy="460860"/>
          </a:xfrm>
        </p:grpSpPr>
        <p:sp>
          <p:nvSpPr>
            <p:cNvPr id="29" name="Google Shape;29;p3"/>
            <p:cNvSpPr/>
            <p:nvPr/>
          </p:nvSpPr>
          <p:spPr>
            <a:xfrm rot="2949928">
              <a:off x="462292" y="456220"/>
              <a:ext cx="274320" cy="274320"/>
            </a:xfrm>
            <a:prstGeom prst="rect">
              <a:avLst/>
            </a:prstGeom>
            <a:solidFill>
              <a:srgbClr val="B4CAB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0" name="Google Shape;30;p3"/>
            <p:cNvCxnSpPr/>
            <p:nvPr/>
          </p:nvCxnSpPr>
          <p:spPr>
            <a:xfrm>
              <a:off x="-12234" y="817460"/>
              <a:ext cx="6874495" cy="0"/>
            </a:xfrm>
            <a:prstGeom prst="straightConnector1">
              <a:avLst/>
            </a:prstGeom>
            <a:noFill/>
            <a:ln cap="flat" cmpd="sng" w="2857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</p:cxnSp>
        <p:sp>
          <p:nvSpPr>
            <p:cNvPr id="31" name="Google Shape;31;p3"/>
            <p:cNvSpPr/>
            <p:nvPr/>
          </p:nvSpPr>
          <p:spPr>
            <a:xfrm rot="2949928">
              <a:off x="249762" y="456220"/>
              <a:ext cx="274320" cy="274320"/>
            </a:xfrm>
            <a:prstGeom prst="rect">
              <a:avLst/>
            </a:prstGeom>
            <a:solidFill>
              <a:srgbClr val="84AA8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3"/>
            <p:cNvSpPr/>
            <p:nvPr/>
          </p:nvSpPr>
          <p:spPr>
            <a:xfrm rot="2949928">
              <a:off x="56300" y="456220"/>
              <a:ext cx="274320" cy="274320"/>
            </a:xfrm>
            <a:prstGeom prst="rect">
              <a:avLst/>
            </a:prstGeom>
            <a:solidFill>
              <a:srgbClr val="046A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3" name="Google Shape;33;p3"/>
            <p:cNvCxnSpPr/>
            <p:nvPr/>
          </p:nvCxnSpPr>
          <p:spPr>
            <a:xfrm>
              <a:off x="-12234" y="356600"/>
              <a:ext cx="5661596" cy="0"/>
            </a:xfrm>
            <a:prstGeom prst="straightConnector1">
              <a:avLst/>
            </a:prstGeom>
            <a:noFill/>
            <a:ln cap="flat" cmpd="sng" w="2857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- No Title">
  <p:cSld name="Content - No Title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/>
          <p:nvPr/>
        </p:nvSpPr>
        <p:spPr>
          <a:xfrm>
            <a:off x="-12234" y="5943600"/>
            <a:ext cx="9144000" cy="912812"/>
          </a:xfrm>
          <a:prstGeom prst="rect">
            <a:avLst/>
          </a:prstGeom>
          <a:solidFill>
            <a:srgbClr val="EAF0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0" y="0"/>
            <a:ext cx="9144000" cy="5943600"/>
          </a:xfrm>
          <a:prstGeom prst="rect">
            <a:avLst/>
          </a:prstGeom>
          <a:gradFill>
            <a:gsLst>
              <a:gs pos="0">
                <a:srgbClr val="D0DCC0">
                  <a:alpha val="20000"/>
                </a:srgbClr>
              </a:gs>
              <a:gs pos="50000">
                <a:srgbClr val="D0DCC0">
                  <a:alpha val="20000"/>
                </a:srgbClr>
              </a:gs>
              <a:gs pos="74000">
                <a:schemeClr val="lt1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" name="Google Shape;37;p4"/>
          <p:cNvCxnSpPr/>
          <p:nvPr/>
        </p:nvCxnSpPr>
        <p:spPr>
          <a:xfrm>
            <a:off x="0" y="5976302"/>
            <a:ext cx="9144000" cy="1588"/>
          </a:xfrm>
          <a:prstGeom prst="straightConnector1">
            <a:avLst/>
          </a:prstGeom>
          <a:noFill/>
          <a:ln cap="flat" cmpd="sng" w="2857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" name="Google Shape;38;p4"/>
          <p:cNvCxnSpPr/>
          <p:nvPr/>
        </p:nvCxnSpPr>
        <p:spPr>
          <a:xfrm>
            <a:off x="0" y="5943600"/>
            <a:ext cx="9144000" cy="1588"/>
          </a:xfrm>
          <a:prstGeom prst="straightConnector1">
            <a:avLst/>
          </a:prstGeom>
          <a:noFill/>
          <a:ln cap="flat" cmpd="sng" w="38100">
            <a:solidFill>
              <a:srgbClr val="4F6128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Text&#10;&#10;Description automatically generated" id="39" name="Google Shape;3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70191" y="6130071"/>
            <a:ext cx="3383280" cy="504028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4"/>
          <p:cNvSpPr txBox="1"/>
          <p:nvPr/>
        </p:nvSpPr>
        <p:spPr>
          <a:xfrm>
            <a:off x="7467600" y="6172200"/>
            <a:ext cx="150047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400">
                <a:solidFill>
                  <a:srgbClr val="757474"/>
                </a:solidFill>
                <a:latin typeface="Arial"/>
                <a:ea typeface="Arial"/>
                <a:cs typeface="Arial"/>
                <a:sym typeface="Arial"/>
              </a:rPr>
              <a:t>Structured Text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757474"/>
                </a:solidFill>
                <a:latin typeface="Arial"/>
                <a:ea typeface="Arial"/>
                <a:cs typeface="Arial"/>
                <a:sym typeface="Arial"/>
              </a:rPr>
              <a:t>One Shot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0" name="Google Shape;50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56" name="Google Shape;56;p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57" name="Google Shape;5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3" name="Google Shape;63;p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64" name="Google Shape;64;p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5" name="Google Shape;65;p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66" name="Google Shape;66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8" name="Google Shape;78;p1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9" name="Google Shape;79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85" name="Google Shape;85;p1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86" name="Google Shape;86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/>
          <p:nvPr/>
        </p:nvSpPr>
        <p:spPr>
          <a:xfrm>
            <a:off x="5638800" y="5562600"/>
            <a:ext cx="3352800" cy="2469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© 2022 John Sefcovic and Oakland Community College.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3390900" y="2362200"/>
            <a:ext cx="2857500" cy="892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Structured Text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One Shot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/>
          <p:nvPr/>
        </p:nvSpPr>
        <p:spPr>
          <a:xfrm>
            <a:off x="822960" y="365760"/>
            <a:ext cx="29337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 SHOT RISING</a:t>
            </a:r>
            <a:endParaRPr/>
          </a:p>
        </p:txBody>
      </p:sp>
      <p:sp>
        <p:nvSpPr>
          <p:cNvPr id="113" name="Google Shape;113;p16"/>
          <p:cNvSpPr txBox="1"/>
          <p:nvPr/>
        </p:nvSpPr>
        <p:spPr>
          <a:xfrm>
            <a:off x="3616450" y="1219200"/>
            <a:ext cx="191110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Studio 5000</a:t>
            </a:r>
            <a:endParaRPr/>
          </a:p>
        </p:txBody>
      </p:sp>
      <p:sp>
        <p:nvSpPr>
          <p:cNvPr id="114" name="Google Shape;114;p16"/>
          <p:cNvSpPr txBox="1"/>
          <p:nvPr/>
        </p:nvSpPr>
        <p:spPr>
          <a:xfrm>
            <a:off x="1638921" y="1905000"/>
            <a:ext cx="52203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 Shot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the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Type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FBD_ONESHOT.</a:t>
            </a:r>
            <a:endParaRPr/>
          </a:p>
        </p:txBody>
      </p:sp>
      <p:sp>
        <p:nvSpPr>
          <p:cNvPr id="115" name="Google Shape;115;p16"/>
          <p:cNvSpPr txBox="1"/>
          <p:nvPr/>
        </p:nvSpPr>
        <p:spPr>
          <a:xfrm>
            <a:off x="787019" y="3994401"/>
            <a:ext cx="7569963" cy="646331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Function Block Diagram programming was developed before Structured Text and rather than developing additional Data Types FBD data is used. </a:t>
            </a:r>
            <a:endParaRPr/>
          </a:p>
        </p:txBody>
      </p:sp>
      <p:pic>
        <p:nvPicPr>
          <p:cNvPr descr="Graphical user interface, application&#10;&#10;Description automatically generated" id="116" name="Google Shape;11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8191" y="2507226"/>
            <a:ext cx="6747619" cy="1079619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117" name="Google Shape;117;p16"/>
          <p:cNvSpPr/>
          <p:nvPr/>
        </p:nvSpPr>
        <p:spPr>
          <a:xfrm>
            <a:off x="5958347" y="3038363"/>
            <a:ext cx="1081549" cy="589740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phical user interface, text, application, Word&#10;&#10;Description automatically generated" id="122" name="Google Shape;12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81832" y="2543581"/>
            <a:ext cx="5400000" cy="3247619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3" name="Google Shape;123;p17"/>
          <p:cNvSpPr txBox="1"/>
          <p:nvPr/>
        </p:nvSpPr>
        <p:spPr>
          <a:xfrm>
            <a:off x="3616450" y="1219200"/>
            <a:ext cx="191110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Studio 5000</a:t>
            </a:r>
            <a:endParaRPr/>
          </a:p>
        </p:txBody>
      </p:sp>
      <p:pic>
        <p:nvPicPr>
          <p:cNvPr descr="Graphical user interface, application&#10;&#10;Description automatically generated" id="124" name="Google Shape;12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54590" y="2354155"/>
            <a:ext cx="2367619" cy="618096"/>
          </a:xfrm>
          <a:prstGeom prst="rect">
            <a:avLst/>
          </a:prstGeom>
          <a:noFill/>
          <a:ln cap="flat" cmpd="sng" w="2857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125" name="Google Shape;125;p17"/>
          <p:cNvSpPr txBox="1"/>
          <p:nvPr/>
        </p:nvSpPr>
        <p:spPr>
          <a:xfrm>
            <a:off x="915696" y="1758751"/>
            <a:ext cx="731260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 Shot Rising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OSRI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is in the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Bit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tab in the Instruction Palette and is dragged into the Editor.</a:t>
            </a:r>
            <a:endParaRPr/>
          </a:p>
        </p:txBody>
      </p:sp>
      <p:sp>
        <p:nvSpPr>
          <p:cNvPr id="126" name="Google Shape;126;p17"/>
          <p:cNvSpPr txBox="1"/>
          <p:nvPr/>
        </p:nvSpPr>
        <p:spPr>
          <a:xfrm>
            <a:off x="822960" y="365760"/>
            <a:ext cx="29337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 SHOT RISING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"/>
          <p:cNvSpPr txBox="1"/>
          <p:nvPr/>
        </p:nvSpPr>
        <p:spPr>
          <a:xfrm>
            <a:off x="3616450" y="1219200"/>
            <a:ext cx="191110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Studio 5000</a:t>
            </a:r>
            <a:endParaRPr/>
          </a:p>
        </p:txBody>
      </p:sp>
      <p:sp>
        <p:nvSpPr>
          <p:cNvPr id="132" name="Google Shape;132;p18"/>
          <p:cNvSpPr txBox="1"/>
          <p:nvPr/>
        </p:nvSpPr>
        <p:spPr>
          <a:xfrm>
            <a:off x="1704464" y="5072474"/>
            <a:ext cx="64482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AB394A"/>
                </a:solidFill>
                <a:latin typeface="Consolas"/>
                <a:ea typeface="Consolas"/>
                <a:cs typeface="Consolas"/>
                <a:sym typeface="Consolas"/>
              </a:rPr>
              <a:t>ONE_SHOT.InputBit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The condition to trigger the One Shot.</a:t>
            </a:r>
            <a:endParaRPr/>
          </a:p>
        </p:txBody>
      </p:sp>
      <p:sp>
        <p:nvSpPr>
          <p:cNvPr id="133" name="Google Shape;133;p18"/>
          <p:cNvSpPr txBox="1"/>
          <p:nvPr/>
        </p:nvSpPr>
        <p:spPr>
          <a:xfrm>
            <a:off x="1684799" y="5400196"/>
            <a:ext cx="627197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AB394A"/>
                </a:solidFill>
                <a:latin typeface="Consolas"/>
                <a:ea typeface="Consolas"/>
                <a:cs typeface="Consolas"/>
                <a:sym typeface="Consolas"/>
              </a:rPr>
              <a:t>ONE_SHOT.OutputBit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The pulsed One Shot rising output.</a:t>
            </a:r>
            <a:endParaRPr/>
          </a:p>
        </p:txBody>
      </p:sp>
      <p:sp>
        <p:nvSpPr>
          <p:cNvPr id="134" name="Google Shape;134;p18"/>
          <p:cNvSpPr txBox="1"/>
          <p:nvPr/>
        </p:nvSpPr>
        <p:spPr>
          <a:xfrm>
            <a:off x="4572000" y="2438400"/>
            <a:ext cx="2487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pic>
        <p:nvPicPr>
          <p:cNvPr descr="Graphical user interface, text, application&#10;&#10;Description automatically generated" id="135" name="Google Shape;13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72000" y="1737360"/>
            <a:ext cx="5400000" cy="3247619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8"/>
          <p:cNvSpPr txBox="1"/>
          <p:nvPr/>
        </p:nvSpPr>
        <p:spPr>
          <a:xfrm>
            <a:off x="822960" y="365760"/>
            <a:ext cx="29337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 SHOT RISING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9"/>
          <p:cNvSpPr txBox="1"/>
          <p:nvPr/>
        </p:nvSpPr>
        <p:spPr>
          <a:xfrm>
            <a:off x="3616450" y="1219200"/>
            <a:ext cx="191110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Studio 5000</a:t>
            </a:r>
            <a:endParaRPr/>
          </a:p>
        </p:txBody>
      </p:sp>
      <p:pic>
        <p:nvPicPr>
          <p:cNvPr descr="Graphical user interface, text, application&#10;&#10;Description automatically generated" id="142" name="Google Shape;14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72000" y="1737360"/>
            <a:ext cx="5400000" cy="3247619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9"/>
          <p:cNvSpPr/>
          <p:nvPr/>
        </p:nvSpPr>
        <p:spPr>
          <a:xfrm>
            <a:off x="2971800" y="2743200"/>
            <a:ext cx="990600" cy="304800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9"/>
          <p:cNvSpPr txBox="1"/>
          <p:nvPr/>
        </p:nvSpPr>
        <p:spPr>
          <a:xfrm>
            <a:off x="4561800" y="2895600"/>
            <a:ext cx="3810000" cy="646331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OSRI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instructions Tag in this example is </a:t>
            </a:r>
            <a:r>
              <a:rPr lang="en-US" sz="1800">
                <a:solidFill>
                  <a:srgbClr val="AB394A"/>
                </a:solidFill>
                <a:latin typeface="Consolas"/>
                <a:ea typeface="Consolas"/>
                <a:cs typeface="Consolas"/>
                <a:sym typeface="Consolas"/>
              </a:rPr>
              <a:t>ONE_SHOT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145" name="Google Shape;145;p19"/>
          <p:cNvSpPr txBox="1"/>
          <p:nvPr/>
        </p:nvSpPr>
        <p:spPr>
          <a:xfrm>
            <a:off x="822960" y="365760"/>
            <a:ext cx="29337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 SHOT RISING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0"/>
          <p:cNvSpPr txBox="1"/>
          <p:nvPr/>
        </p:nvSpPr>
        <p:spPr>
          <a:xfrm>
            <a:off x="3616450" y="1219200"/>
            <a:ext cx="191110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Studio 5000</a:t>
            </a:r>
            <a:endParaRPr/>
          </a:p>
        </p:txBody>
      </p:sp>
      <p:pic>
        <p:nvPicPr>
          <p:cNvPr descr="Graphical user interface, text, application&#10;&#10;Description automatically generated" id="151" name="Google Shape;15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72000" y="1737360"/>
            <a:ext cx="5400000" cy="3247619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0"/>
          <p:cNvSpPr/>
          <p:nvPr/>
        </p:nvSpPr>
        <p:spPr>
          <a:xfrm>
            <a:off x="2514600" y="2514600"/>
            <a:ext cx="3276600" cy="304800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0"/>
          <p:cNvSpPr txBox="1"/>
          <p:nvPr/>
        </p:nvSpPr>
        <p:spPr>
          <a:xfrm>
            <a:off x="3104841" y="3023792"/>
            <a:ext cx="5868017" cy="369332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AB394A"/>
                </a:solidFill>
                <a:latin typeface="Consolas"/>
                <a:ea typeface="Consolas"/>
                <a:cs typeface="Consolas"/>
                <a:sym typeface="Consolas"/>
              </a:rPr>
              <a:t>ONE_SHOT.InputBit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trigger by the Tag </a:t>
            </a:r>
            <a:r>
              <a:rPr lang="en-US" sz="1800">
                <a:solidFill>
                  <a:srgbClr val="AB394A"/>
                </a:solidFill>
                <a:latin typeface="Consolas"/>
                <a:ea typeface="Consolas"/>
                <a:cs typeface="Consolas"/>
                <a:sym typeface="Consolas"/>
              </a:rPr>
              <a:t>PUSHBUTTON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154" name="Google Shape;154;p20"/>
          <p:cNvSpPr txBox="1"/>
          <p:nvPr/>
        </p:nvSpPr>
        <p:spPr>
          <a:xfrm>
            <a:off x="822960" y="365760"/>
            <a:ext cx="29337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 SHOT RISING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1"/>
          <p:cNvSpPr txBox="1"/>
          <p:nvPr/>
        </p:nvSpPr>
        <p:spPr>
          <a:xfrm>
            <a:off x="3616450" y="1219200"/>
            <a:ext cx="191110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Studio 5000</a:t>
            </a:r>
            <a:endParaRPr/>
          </a:p>
        </p:txBody>
      </p:sp>
      <p:pic>
        <p:nvPicPr>
          <p:cNvPr descr="Graphical user interface, text, application&#10;&#10;Description automatically generated" id="160" name="Google Shape;16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72000" y="1737360"/>
            <a:ext cx="5400000" cy="3247619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1"/>
          <p:cNvSpPr/>
          <p:nvPr/>
        </p:nvSpPr>
        <p:spPr>
          <a:xfrm>
            <a:off x="2856271" y="3208769"/>
            <a:ext cx="1833715" cy="262018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1"/>
          <p:cNvSpPr txBox="1"/>
          <p:nvPr/>
        </p:nvSpPr>
        <p:spPr>
          <a:xfrm>
            <a:off x="4191000" y="3733800"/>
            <a:ext cx="4030201" cy="646331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AB394A"/>
                </a:solidFill>
                <a:latin typeface="Consolas"/>
                <a:ea typeface="Consolas"/>
                <a:cs typeface="Consolas"/>
                <a:sym typeface="Consolas"/>
              </a:rPr>
              <a:t>ONE_SHOT.OutputBit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used as a condition to pulse a Tag for one scan.</a:t>
            </a:r>
            <a:endParaRPr/>
          </a:p>
        </p:txBody>
      </p:sp>
      <p:sp>
        <p:nvSpPr>
          <p:cNvPr id="163" name="Google Shape;163;p21"/>
          <p:cNvSpPr txBox="1"/>
          <p:nvPr/>
        </p:nvSpPr>
        <p:spPr>
          <a:xfrm>
            <a:off x="822960" y="365760"/>
            <a:ext cx="29337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 SHOT RISING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2"/>
          <p:cNvSpPr txBox="1"/>
          <p:nvPr/>
        </p:nvSpPr>
        <p:spPr>
          <a:xfrm>
            <a:off x="3846481" y="1219200"/>
            <a:ext cx="145103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Siemens</a:t>
            </a:r>
            <a:endParaRPr/>
          </a:p>
        </p:txBody>
      </p:sp>
      <p:sp>
        <p:nvSpPr>
          <p:cNvPr id="169" name="Google Shape;169;p22"/>
          <p:cNvSpPr txBox="1"/>
          <p:nvPr/>
        </p:nvSpPr>
        <p:spPr>
          <a:xfrm>
            <a:off x="1295401" y="1743671"/>
            <a:ext cx="64770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Detect positive signal edge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R_TRIG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a One Shot Rising in the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Bit logic operations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folder and is dragged into the Editor.</a:t>
            </a:r>
            <a:endParaRPr/>
          </a:p>
        </p:txBody>
      </p:sp>
      <p:pic>
        <p:nvPicPr>
          <p:cNvPr descr="Table&#10;&#10;Description automatically generated" id="170" name="Google Shape;17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14143" y="2814935"/>
            <a:ext cx="3515714" cy="1182857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171" name="Google Shape;171;p22"/>
          <p:cNvSpPr txBox="1"/>
          <p:nvPr/>
        </p:nvSpPr>
        <p:spPr>
          <a:xfrm>
            <a:off x="822960" y="365760"/>
            <a:ext cx="29337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 SHOT RISING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3"/>
          <p:cNvSpPr txBox="1"/>
          <p:nvPr/>
        </p:nvSpPr>
        <p:spPr>
          <a:xfrm>
            <a:off x="3846481" y="1219200"/>
            <a:ext cx="145103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Siemens</a:t>
            </a:r>
            <a:endParaRPr/>
          </a:p>
        </p:txBody>
      </p:sp>
      <p:pic>
        <p:nvPicPr>
          <p:cNvPr descr="Graphical user interface, application&#10;&#10;Description automatically generated" id="177" name="Google Shape;17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5333" y="1905000"/>
            <a:ext cx="4733333" cy="3114286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3"/>
          <p:cNvSpPr txBox="1"/>
          <p:nvPr/>
        </p:nvSpPr>
        <p:spPr>
          <a:xfrm>
            <a:off x="4038600" y="3200400"/>
            <a:ext cx="4733332" cy="1262846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dialog opens when the R_TRIG instruction is dragged into the program, the tag name in this example is ONE_SHOT. The One Shot is a System block and Program resource.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3"/>
          <p:cNvSpPr txBox="1"/>
          <p:nvPr/>
        </p:nvSpPr>
        <p:spPr>
          <a:xfrm>
            <a:off x="822960" y="365760"/>
            <a:ext cx="29337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 SHOT RISING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4"/>
          <p:cNvSpPr txBox="1"/>
          <p:nvPr/>
        </p:nvSpPr>
        <p:spPr>
          <a:xfrm>
            <a:off x="3846481" y="1219200"/>
            <a:ext cx="145103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Siemens</a:t>
            </a:r>
            <a:endParaRPr/>
          </a:p>
        </p:txBody>
      </p:sp>
      <p:pic>
        <p:nvPicPr>
          <p:cNvPr descr="Graphical user interface, text&#10;&#10;Description automatically generated" id="185" name="Google Shape;18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05334" y="2011680"/>
            <a:ext cx="5133333" cy="2904762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4"/>
          <p:cNvSpPr txBox="1"/>
          <p:nvPr/>
        </p:nvSpPr>
        <p:spPr>
          <a:xfrm>
            <a:off x="3352801" y="3962400"/>
            <a:ext cx="4419599" cy="646331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One Shot instruction is added. Notice the R_TRIG is not shown.</a:t>
            </a:r>
            <a:endParaRPr/>
          </a:p>
        </p:txBody>
      </p:sp>
      <p:sp>
        <p:nvSpPr>
          <p:cNvPr id="187" name="Google Shape;187;p24"/>
          <p:cNvSpPr txBox="1"/>
          <p:nvPr/>
        </p:nvSpPr>
        <p:spPr>
          <a:xfrm>
            <a:off x="822960" y="365760"/>
            <a:ext cx="29337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 SHOT RISING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phical user interface, text, application&#10;&#10;Description automatically generated" id="192" name="Google Shape;19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05334" y="1828800"/>
            <a:ext cx="5133333" cy="2904762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193" name="Google Shape;193;p25"/>
          <p:cNvSpPr txBox="1"/>
          <p:nvPr/>
        </p:nvSpPr>
        <p:spPr>
          <a:xfrm>
            <a:off x="3846481" y="1219200"/>
            <a:ext cx="145103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Siemens</a:t>
            </a:r>
            <a:endParaRPr/>
          </a:p>
        </p:txBody>
      </p:sp>
      <p:sp>
        <p:nvSpPr>
          <p:cNvPr id="194" name="Google Shape;194;p25"/>
          <p:cNvSpPr txBox="1"/>
          <p:nvPr/>
        </p:nvSpPr>
        <p:spPr>
          <a:xfrm>
            <a:off x="4724400" y="3810000"/>
            <a:ext cx="3694081" cy="1600438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Double left click to select the </a:t>
            </a:r>
            <a:r>
              <a:rPr b="1" i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CLK: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Tag element.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Type in the quotation mark and select the Tag from the Tag Listing.</a:t>
            </a:r>
            <a:endParaRPr/>
          </a:p>
        </p:txBody>
      </p:sp>
      <p:sp>
        <p:nvSpPr>
          <p:cNvPr id="195" name="Google Shape;195;p25"/>
          <p:cNvSpPr txBox="1"/>
          <p:nvPr/>
        </p:nvSpPr>
        <p:spPr>
          <a:xfrm>
            <a:off x="822960" y="365760"/>
            <a:ext cx="29337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 SHOT RISING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6"/>
          <p:cNvSpPr txBox="1"/>
          <p:nvPr/>
        </p:nvSpPr>
        <p:spPr>
          <a:xfrm>
            <a:off x="3846481" y="1219200"/>
            <a:ext cx="145103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Siemens</a:t>
            </a:r>
            <a:endParaRPr/>
          </a:p>
        </p:txBody>
      </p:sp>
      <p:pic>
        <p:nvPicPr>
          <p:cNvPr descr="Graphical user interface, application&#10;&#10;Description automatically generated" id="201" name="Google Shape;20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817" y="1675949"/>
            <a:ext cx="4106666" cy="4099047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202" name="Google Shape;202;p26"/>
          <p:cNvSpPr/>
          <p:nvPr/>
        </p:nvSpPr>
        <p:spPr>
          <a:xfrm>
            <a:off x="1295400" y="2968840"/>
            <a:ext cx="1219200" cy="460160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6"/>
          <p:cNvSpPr txBox="1"/>
          <p:nvPr/>
        </p:nvSpPr>
        <p:spPr>
          <a:xfrm>
            <a:off x="5297519" y="2472000"/>
            <a:ext cx="3236881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this example the Output is assigned a “local” Instance named </a:t>
            </a: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PULSE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</p:txBody>
      </p:sp>
      <p:sp>
        <p:nvSpPr>
          <p:cNvPr id="204" name="Google Shape;204;p26"/>
          <p:cNvSpPr txBox="1"/>
          <p:nvPr/>
        </p:nvSpPr>
        <p:spPr>
          <a:xfrm>
            <a:off x="822960" y="365760"/>
            <a:ext cx="29337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 SHOT RISING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7"/>
          <p:cNvSpPr txBox="1"/>
          <p:nvPr/>
        </p:nvSpPr>
        <p:spPr>
          <a:xfrm>
            <a:off x="3846481" y="1219200"/>
            <a:ext cx="145103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Siemens</a:t>
            </a:r>
            <a:endParaRPr/>
          </a:p>
        </p:txBody>
      </p:sp>
      <p:pic>
        <p:nvPicPr>
          <p:cNvPr descr="Graphical user interface, text, application, email&#10;&#10;Description automatically generated" id="210" name="Google Shape;21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05334" y="1828800"/>
            <a:ext cx="5133333" cy="2933333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211" name="Google Shape;211;p27"/>
          <p:cNvSpPr txBox="1"/>
          <p:nvPr/>
        </p:nvSpPr>
        <p:spPr>
          <a:xfrm>
            <a:off x="4724400" y="3810000"/>
            <a:ext cx="3694081" cy="1323439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Double left click to select the </a:t>
            </a:r>
            <a:r>
              <a:rPr b="1" i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Q: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Tag element.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Type in # hash mark and select the Tag from the Tag Listing.</a:t>
            </a:r>
            <a:endParaRPr/>
          </a:p>
        </p:txBody>
      </p:sp>
      <p:sp>
        <p:nvSpPr>
          <p:cNvPr id="212" name="Google Shape;212;p27"/>
          <p:cNvSpPr txBox="1"/>
          <p:nvPr/>
        </p:nvSpPr>
        <p:spPr>
          <a:xfrm>
            <a:off x="1239293" y="5269468"/>
            <a:ext cx="67467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a PLC Tag or Data Block Tag is used type the quotation mark. </a:t>
            </a:r>
            <a:endParaRPr/>
          </a:p>
        </p:txBody>
      </p:sp>
      <p:sp>
        <p:nvSpPr>
          <p:cNvPr id="213" name="Google Shape;213;p27"/>
          <p:cNvSpPr txBox="1"/>
          <p:nvPr/>
        </p:nvSpPr>
        <p:spPr>
          <a:xfrm>
            <a:off x="822960" y="365760"/>
            <a:ext cx="29337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 SHOT RISING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8"/>
          <p:cNvSpPr txBox="1"/>
          <p:nvPr/>
        </p:nvSpPr>
        <p:spPr>
          <a:xfrm>
            <a:off x="3846481" y="1219200"/>
            <a:ext cx="145103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Siemens</a:t>
            </a:r>
            <a:endParaRPr/>
          </a:p>
        </p:txBody>
      </p:sp>
      <p:pic>
        <p:nvPicPr>
          <p:cNvPr descr="Graphical user interface, text&#10;&#10;Description automatically generated" id="219" name="Google Shape;21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05334" y="1828800"/>
            <a:ext cx="5133333" cy="3542857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220" name="Google Shape;220;p28"/>
          <p:cNvSpPr/>
          <p:nvPr/>
        </p:nvSpPr>
        <p:spPr>
          <a:xfrm>
            <a:off x="4048432" y="3153696"/>
            <a:ext cx="2077065" cy="287594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8"/>
          <p:cNvSpPr txBox="1"/>
          <p:nvPr/>
        </p:nvSpPr>
        <p:spPr>
          <a:xfrm>
            <a:off x="5492409" y="3600228"/>
            <a:ext cx="3292513" cy="646331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CLK: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trigger by the Tag </a:t>
            </a:r>
            <a:r>
              <a:rPr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“</a:t>
            </a:r>
            <a:r>
              <a:rPr b="1" lang="en-US" sz="1800">
                <a:solidFill>
                  <a:srgbClr val="9148A0"/>
                </a:solidFill>
                <a:latin typeface="Courier New"/>
                <a:ea typeface="Courier New"/>
                <a:cs typeface="Courier New"/>
                <a:sym typeface="Courier New"/>
              </a:rPr>
              <a:t>PUSHBUTTON</a:t>
            </a:r>
            <a:r>
              <a:rPr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”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222" name="Google Shape;222;p28"/>
          <p:cNvSpPr txBox="1"/>
          <p:nvPr/>
        </p:nvSpPr>
        <p:spPr>
          <a:xfrm>
            <a:off x="822960" y="365760"/>
            <a:ext cx="29337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 SHOT RISING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9"/>
          <p:cNvSpPr txBox="1"/>
          <p:nvPr/>
        </p:nvSpPr>
        <p:spPr>
          <a:xfrm>
            <a:off x="3846481" y="1219200"/>
            <a:ext cx="145103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Siemens</a:t>
            </a:r>
            <a:endParaRPr/>
          </a:p>
        </p:txBody>
      </p:sp>
      <p:pic>
        <p:nvPicPr>
          <p:cNvPr descr="Graphical user interface, text&#10;&#10;Description automatically generated" id="228" name="Google Shape;22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05334" y="1828800"/>
            <a:ext cx="5133333" cy="3542857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229" name="Google Shape;229;p29"/>
          <p:cNvSpPr/>
          <p:nvPr/>
        </p:nvSpPr>
        <p:spPr>
          <a:xfrm>
            <a:off x="4038600" y="3397046"/>
            <a:ext cx="1258919" cy="287594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9"/>
          <p:cNvSpPr txBox="1"/>
          <p:nvPr/>
        </p:nvSpPr>
        <p:spPr>
          <a:xfrm>
            <a:off x="4953000" y="3811933"/>
            <a:ext cx="3499191" cy="646331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Q=&gt;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will cause leading edge output signal to the Tag </a:t>
            </a:r>
            <a:r>
              <a:rPr b="1" lang="en-US" sz="1800">
                <a:solidFill>
                  <a:srgbClr val="9148A0"/>
                </a:solidFill>
                <a:latin typeface="Courier New"/>
                <a:ea typeface="Courier New"/>
                <a:cs typeface="Courier New"/>
                <a:sym typeface="Courier New"/>
              </a:rPr>
              <a:t>#PULSE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231" name="Google Shape;231;p29"/>
          <p:cNvSpPr txBox="1"/>
          <p:nvPr/>
        </p:nvSpPr>
        <p:spPr>
          <a:xfrm>
            <a:off x="822960" y="365760"/>
            <a:ext cx="29337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 SHOT RISING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/>
          <p:cNvSpPr txBox="1"/>
          <p:nvPr/>
        </p:nvSpPr>
        <p:spPr>
          <a:xfrm>
            <a:off x="3846481" y="1219200"/>
            <a:ext cx="145103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Siemens</a:t>
            </a:r>
            <a:endParaRPr/>
          </a:p>
        </p:txBody>
      </p:sp>
      <p:pic>
        <p:nvPicPr>
          <p:cNvPr descr="Graphical user interface, text&#10;&#10;Description automatically generated" id="237" name="Google Shape;23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05334" y="1828800"/>
            <a:ext cx="5133333" cy="3542857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238" name="Google Shape;238;p30"/>
          <p:cNvSpPr/>
          <p:nvPr/>
        </p:nvSpPr>
        <p:spPr>
          <a:xfrm>
            <a:off x="3217021" y="3844412"/>
            <a:ext cx="821579" cy="253181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30"/>
          <p:cNvSpPr txBox="1"/>
          <p:nvPr/>
        </p:nvSpPr>
        <p:spPr>
          <a:xfrm>
            <a:off x="6477000" y="4572000"/>
            <a:ext cx="582211" cy="369332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endParaRPr/>
          </a:p>
        </p:txBody>
      </p:sp>
      <p:sp>
        <p:nvSpPr>
          <p:cNvPr id="240" name="Google Shape;240;p30"/>
          <p:cNvSpPr txBox="1"/>
          <p:nvPr/>
        </p:nvSpPr>
        <p:spPr>
          <a:xfrm>
            <a:off x="4800601" y="4295001"/>
            <a:ext cx="3581400" cy="646331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9148A0"/>
                </a:solidFill>
                <a:latin typeface="Courier New"/>
                <a:ea typeface="Courier New"/>
                <a:cs typeface="Courier New"/>
                <a:sym typeface="Courier New"/>
              </a:rPr>
              <a:t>#PULSE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used as a condition to pulse a Tag for one scan.</a:t>
            </a:r>
            <a:endParaRPr/>
          </a:p>
        </p:txBody>
      </p:sp>
      <p:sp>
        <p:nvSpPr>
          <p:cNvPr id="241" name="Google Shape;241;p30"/>
          <p:cNvSpPr txBox="1"/>
          <p:nvPr/>
        </p:nvSpPr>
        <p:spPr>
          <a:xfrm>
            <a:off x="822960" y="365760"/>
            <a:ext cx="29337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 SHOT RISING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