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0" y="0"/>
            <a:ext cx="9144000" cy="5943600"/>
          </a:xfrm>
          <a:prstGeom prst="rect">
            <a:avLst/>
          </a:prstGeom>
          <a:gradFill>
            <a:gsLst>
              <a:gs pos="0">
                <a:srgbClr val="D0DCC0">
                  <a:alpha val="20000"/>
                </a:srgbClr>
              </a:gs>
              <a:gs pos="50000">
                <a:srgbClr val="D0DCC0">
                  <a:alpha val="20000"/>
                </a:srgbClr>
              </a:gs>
              <a:gs pos="74000">
                <a:schemeClr val="lt1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00B050">
              <a:alpha val="1764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4800" y="6019800"/>
            <a:ext cx="2209800" cy="6766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" name="Google Shape;19;p2"/>
          <p:cNvCxnSpPr/>
          <p:nvPr/>
        </p:nvCxnSpPr>
        <p:spPr>
          <a:xfrm>
            <a:off x="0" y="5976302"/>
            <a:ext cx="9144000" cy="1588"/>
          </a:xfrm>
          <a:prstGeom prst="straightConnector1">
            <a:avLst/>
          </a:prstGeom>
          <a:noFill/>
          <a:ln cap="flat" cmpd="sng" w="2857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" name="Google Shape;20;p2"/>
          <p:cNvCxnSpPr/>
          <p:nvPr/>
        </p:nvCxnSpPr>
        <p:spPr>
          <a:xfrm>
            <a:off x="0" y="5943600"/>
            <a:ext cx="9144000" cy="1588"/>
          </a:xfrm>
          <a:prstGeom prst="straightConnector1">
            <a:avLst/>
          </a:prstGeom>
          <a:noFill/>
          <a:ln cap="flat" cmpd="sng" w="38100">
            <a:solidFill>
              <a:srgbClr val="4F612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2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gradFill>
            <a:gsLst>
              <a:gs pos="0">
                <a:srgbClr val="DBE4CE">
                  <a:alpha val="20000"/>
                </a:srgbClr>
              </a:gs>
              <a:gs pos="38000">
                <a:srgbClr val="DBE4CE">
                  <a:alpha val="20000"/>
                </a:srgbClr>
              </a:gs>
              <a:gs pos="80000">
                <a:srgbClr val="00D05E">
                  <a:alpha val="7843"/>
                </a:srgbClr>
              </a:gs>
              <a:gs pos="100000">
                <a:srgbClr val="00D05E">
                  <a:alpha val="7843"/>
                </a:srgbClr>
              </a:gs>
            </a:gsLst>
            <a:lin ang="10800000" scaled="0"/>
          </a:gradFill>
          <a:ln>
            <a:noFill/>
          </a:ln>
          <a:effectLst>
            <a:outerShdw blurRad="76200" kx="-800400" rotWithShape="0" algn="bl" dir="2700000" dist="12700" sy="-23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/>
          <p:nvPr/>
        </p:nvSpPr>
        <p:spPr>
          <a:xfrm>
            <a:off x="0" y="0"/>
            <a:ext cx="9144000" cy="5943600"/>
          </a:xfrm>
          <a:prstGeom prst="rect">
            <a:avLst/>
          </a:prstGeom>
          <a:gradFill>
            <a:gsLst>
              <a:gs pos="0">
                <a:srgbClr val="D0DCC0">
                  <a:alpha val="20000"/>
                </a:srgbClr>
              </a:gs>
              <a:gs pos="50000">
                <a:srgbClr val="D0DCC0">
                  <a:alpha val="20000"/>
                </a:srgbClr>
              </a:gs>
              <a:gs pos="74000">
                <a:schemeClr val="lt1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00B050">
              <a:alpha val="1764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4800" y="6019800"/>
            <a:ext cx="2209800" cy="6766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" name="Google Shape;26;p3"/>
          <p:cNvCxnSpPr/>
          <p:nvPr/>
        </p:nvCxnSpPr>
        <p:spPr>
          <a:xfrm>
            <a:off x="0" y="5976302"/>
            <a:ext cx="9144000" cy="1588"/>
          </a:xfrm>
          <a:prstGeom prst="straightConnector1">
            <a:avLst/>
          </a:prstGeom>
          <a:noFill/>
          <a:ln cap="flat" cmpd="sng" w="2857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" name="Google Shape;27;p3"/>
          <p:cNvCxnSpPr/>
          <p:nvPr/>
        </p:nvCxnSpPr>
        <p:spPr>
          <a:xfrm>
            <a:off x="0" y="5943600"/>
            <a:ext cx="9144000" cy="1588"/>
          </a:xfrm>
          <a:prstGeom prst="straightConnector1">
            <a:avLst/>
          </a:prstGeom>
          <a:noFill/>
          <a:ln cap="flat" cmpd="sng" w="38100">
            <a:solidFill>
              <a:srgbClr val="4F612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" name="Google Shape;28;p3"/>
          <p:cNvSpPr txBox="1"/>
          <p:nvPr/>
        </p:nvSpPr>
        <p:spPr>
          <a:xfrm>
            <a:off x="7443923" y="6096000"/>
            <a:ext cx="127951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MOVE_HMI</a:t>
            </a:r>
            <a:endParaRPr i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4" name="Google Shape;44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5" name="Google Shape;45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2" name="Google Shape;52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4" name="Google Shape;54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6" name="Google Shape;66;p1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7" name="Google Shape;67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4" name="Google Shape;7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4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44.png"/><Relationship Id="rId6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Relationship Id="rId4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Relationship Id="rId4" Type="http://schemas.openxmlformats.org/officeDocument/2006/relationships/image" Target="../media/image2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3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0.png"/><Relationship Id="rId4" Type="http://schemas.openxmlformats.org/officeDocument/2006/relationships/image" Target="../media/image2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0.png"/><Relationship Id="rId4" Type="http://schemas.openxmlformats.org/officeDocument/2006/relationships/image" Target="../media/image3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1.png"/><Relationship Id="rId4" Type="http://schemas.openxmlformats.org/officeDocument/2006/relationships/image" Target="../media/image3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1.png"/><Relationship Id="rId4" Type="http://schemas.openxmlformats.org/officeDocument/2006/relationships/image" Target="../media/image4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0.png"/><Relationship Id="rId4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0.png"/><Relationship Id="rId4" Type="http://schemas.openxmlformats.org/officeDocument/2006/relationships/image" Target="../media/image3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51.png"/><Relationship Id="rId6" Type="http://schemas.openxmlformats.org/officeDocument/2006/relationships/image" Target="../media/image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7.png"/><Relationship Id="rId4" Type="http://schemas.openxmlformats.org/officeDocument/2006/relationships/image" Target="../media/image51.png"/><Relationship Id="rId5" Type="http://schemas.openxmlformats.org/officeDocument/2006/relationships/image" Target="../media/image9.png"/><Relationship Id="rId6" Type="http://schemas.openxmlformats.org/officeDocument/2006/relationships/image" Target="../media/image4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9.png"/><Relationship Id="rId4" Type="http://schemas.openxmlformats.org/officeDocument/2006/relationships/image" Target="../media/image4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2.png"/><Relationship Id="rId4" Type="http://schemas.openxmlformats.org/officeDocument/2006/relationships/image" Target="../media/image57.png"/><Relationship Id="rId5" Type="http://schemas.openxmlformats.org/officeDocument/2006/relationships/image" Target="../media/image53.png"/><Relationship Id="rId6" Type="http://schemas.openxmlformats.org/officeDocument/2006/relationships/image" Target="../media/image58.png"/><Relationship Id="rId7" Type="http://schemas.openxmlformats.org/officeDocument/2006/relationships/image" Target="../media/image4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7.png"/><Relationship Id="rId4" Type="http://schemas.openxmlformats.org/officeDocument/2006/relationships/image" Target="../media/image53.png"/><Relationship Id="rId5" Type="http://schemas.openxmlformats.org/officeDocument/2006/relationships/image" Target="../media/image58.png"/><Relationship Id="rId6" Type="http://schemas.openxmlformats.org/officeDocument/2006/relationships/image" Target="../media/image52.png"/><Relationship Id="rId7" Type="http://schemas.openxmlformats.org/officeDocument/2006/relationships/image" Target="../media/image6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1.png"/><Relationship Id="rId4" Type="http://schemas.openxmlformats.org/officeDocument/2006/relationships/image" Target="../media/image7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7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77.png"/><Relationship Id="rId4" Type="http://schemas.openxmlformats.org/officeDocument/2006/relationships/image" Target="../media/image80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83.png"/><Relationship Id="rId4" Type="http://schemas.openxmlformats.org/officeDocument/2006/relationships/image" Target="../media/image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7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7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8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8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/>
        </p:nvSpPr>
        <p:spPr>
          <a:xfrm>
            <a:off x="3390900" y="2362200"/>
            <a:ext cx="32385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MOVE HMI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638800" y="5562600"/>
            <a:ext cx="3352800" cy="2469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2021 John Sefcovic and Oakland Community College.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/>
        </p:nvSpPr>
        <p:spPr>
          <a:xfrm>
            <a:off x="3733801" y="609600"/>
            <a:ext cx="1676399" cy="46166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HMI</a:t>
            </a:r>
            <a:endParaRPr/>
          </a:p>
        </p:txBody>
      </p:sp>
      <p:cxnSp>
        <p:nvCxnSpPr>
          <p:cNvPr id="101" name="Google Shape;101;p15"/>
          <p:cNvCxnSpPr/>
          <p:nvPr/>
        </p:nvCxnSpPr>
        <p:spPr>
          <a:xfrm>
            <a:off x="1524000" y="6096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cxnSp>
        <p:nvCxnSpPr>
          <p:cNvPr id="102" name="Google Shape;102;p15"/>
          <p:cNvCxnSpPr/>
          <p:nvPr/>
        </p:nvCxnSpPr>
        <p:spPr>
          <a:xfrm>
            <a:off x="1524000" y="10668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sp>
        <p:nvSpPr>
          <p:cNvPr id="103" name="Google Shape;103;p15"/>
          <p:cNvSpPr txBox="1"/>
          <p:nvPr/>
        </p:nvSpPr>
        <p:spPr>
          <a:xfrm>
            <a:off x="3545661" y="1143000"/>
            <a:ext cx="20526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Panel 1 Template</a:t>
            </a:r>
            <a:endParaRPr/>
          </a:p>
        </p:txBody>
      </p:sp>
      <p:pic>
        <p:nvPicPr>
          <p:cNvPr descr="Graphical user interface&#10;&#10;Description automatically generated"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7714" y="1645920"/>
            <a:ext cx="5468571" cy="3848571"/>
          </a:xfrm>
          <a:prstGeom prst="rect">
            <a:avLst/>
          </a:prstGeom>
          <a:noFill/>
          <a:ln cap="flat" cmpd="sng" w="381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105" name="Google Shape;105;p15"/>
          <p:cNvSpPr txBox="1"/>
          <p:nvPr/>
        </p:nvSpPr>
        <p:spPr>
          <a:xfrm>
            <a:off x="6324600" y="4267200"/>
            <a:ext cx="2514600" cy="36933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Delete unused objects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/>
        </p:nvSpPr>
        <p:spPr>
          <a:xfrm>
            <a:off x="3733801" y="609600"/>
            <a:ext cx="1676399" cy="46166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HMI</a:t>
            </a:r>
            <a:endParaRPr/>
          </a:p>
        </p:txBody>
      </p:sp>
      <p:cxnSp>
        <p:nvCxnSpPr>
          <p:cNvPr id="111" name="Google Shape;111;p16"/>
          <p:cNvCxnSpPr/>
          <p:nvPr/>
        </p:nvCxnSpPr>
        <p:spPr>
          <a:xfrm>
            <a:off x="1524000" y="6096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cxnSp>
        <p:nvCxnSpPr>
          <p:cNvPr id="112" name="Google Shape;112;p16"/>
          <p:cNvCxnSpPr/>
          <p:nvPr/>
        </p:nvCxnSpPr>
        <p:spPr>
          <a:xfrm>
            <a:off x="1524000" y="10668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sp>
        <p:nvSpPr>
          <p:cNvPr id="113" name="Google Shape;113;p16"/>
          <p:cNvSpPr txBox="1"/>
          <p:nvPr/>
        </p:nvSpPr>
        <p:spPr>
          <a:xfrm>
            <a:off x="3575574" y="1143000"/>
            <a:ext cx="19928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Panel 1 Running</a:t>
            </a:r>
            <a:endParaRPr/>
          </a:p>
        </p:txBody>
      </p:sp>
      <p:pic>
        <p:nvPicPr>
          <p:cNvPr descr="Graphical user interface, application&#10;&#10;Description automatically generated" id="114" name="Google Shape;11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3429" y="1645920"/>
            <a:ext cx="5417143" cy="3822857"/>
          </a:xfrm>
          <a:prstGeom prst="rect">
            <a:avLst/>
          </a:prstGeom>
          <a:noFill/>
          <a:ln cap="flat" cmpd="sng" w="381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115" name="Google Shape;115;p16"/>
          <p:cNvSpPr txBox="1"/>
          <p:nvPr/>
        </p:nvSpPr>
        <p:spPr>
          <a:xfrm>
            <a:off x="6324600" y="3413673"/>
            <a:ext cx="2514600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 Text, Attributes, Navigation, and Tags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838200" y="4956034"/>
            <a:ext cx="3200400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Maintained Button object and define Attributes and Tag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/>
        </p:nvSpPr>
        <p:spPr>
          <a:xfrm>
            <a:off x="3733801" y="609600"/>
            <a:ext cx="1676399" cy="46166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HMI</a:t>
            </a:r>
            <a:endParaRPr/>
          </a:p>
        </p:txBody>
      </p:sp>
      <p:cxnSp>
        <p:nvCxnSpPr>
          <p:cNvPr id="122" name="Google Shape;122;p17"/>
          <p:cNvCxnSpPr/>
          <p:nvPr/>
        </p:nvCxnSpPr>
        <p:spPr>
          <a:xfrm>
            <a:off x="1524000" y="6096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cxnSp>
        <p:nvCxnSpPr>
          <p:cNvPr id="123" name="Google Shape;123;p17"/>
          <p:cNvCxnSpPr/>
          <p:nvPr/>
        </p:nvCxnSpPr>
        <p:spPr>
          <a:xfrm>
            <a:off x="1524000" y="10668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sp>
        <p:nvSpPr>
          <p:cNvPr id="124" name="Google Shape;124;p17"/>
          <p:cNvSpPr txBox="1"/>
          <p:nvPr/>
        </p:nvSpPr>
        <p:spPr>
          <a:xfrm>
            <a:off x="3545661" y="1143000"/>
            <a:ext cx="20526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Panel 2 Template</a:t>
            </a:r>
            <a:endParaRPr/>
          </a:p>
        </p:txBody>
      </p:sp>
      <p:pic>
        <p:nvPicPr>
          <p:cNvPr descr="A picture containing table&#10;&#10;Description automatically generated" id="125" name="Google Shape;12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4857" y="1645920"/>
            <a:ext cx="5554286" cy="3848571"/>
          </a:xfrm>
          <a:prstGeom prst="rect">
            <a:avLst/>
          </a:prstGeom>
          <a:noFill/>
          <a:ln cap="flat" cmpd="sng" w="381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126" name="Google Shape;126;p17"/>
          <p:cNvSpPr txBox="1"/>
          <p:nvPr/>
        </p:nvSpPr>
        <p:spPr>
          <a:xfrm>
            <a:off x="6324600" y="4267200"/>
            <a:ext cx="2514600" cy="36933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Delete unused objects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/>
        </p:nvSpPr>
        <p:spPr>
          <a:xfrm>
            <a:off x="3733801" y="609600"/>
            <a:ext cx="1676399" cy="46166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HMI</a:t>
            </a:r>
            <a:endParaRPr/>
          </a:p>
        </p:txBody>
      </p:sp>
      <p:cxnSp>
        <p:nvCxnSpPr>
          <p:cNvPr id="132" name="Google Shape;132;p18"/>
          <p:cNvCxnSpPr/>
          <p:nvPr/>
        </p:nvCxnSpPr>
        <p:spPr>
          <a:xfrm>
            <a:off x="1524000" y="6096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cxnSp>
        <p:nvCxnSpPr>
          <p:cNvPr id="133" name="Google Shape;133;p18"/>
          <p:cNvCxnSpPr/>
          <p:nvPr/>
        </p:nvCxnSpPr>
        <p:spPr>
          <a:xfrm>
            <a:off x="1524000" y="10668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sp>
        <p:nvSpPr>
          <p:cNvPr id="134" name="Google Shape;134;p18"/>
          <p:cNvSpPr txBox="1"/>
          <p:nvPr/>
        </p:nvSpPr>
        <p:spPr>
          <a:xfrm>
            <a:off x="3575574" y="1143000"/>
            <a:ext cx="19928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Panel 2 Running</a:t>
            </a:r>
            <a:endParaRPr/>
          </a:p>
        </p:txBody>
      </p:sp>
      <p:pic>
        <p:nvPicPr>
          <p:cNvPr descr="Graphical user interface&#10;&#10;Description automatically generated with medium confidence" id="135" name="Google Shape;13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7714" y="1645920"/>
            <a:ext cx="5408572" cy="3822857"/>
          </a:xfrm>
          <a:prstGeom prst="rect">
            <a:avLst/>
          </a:prstGeom>
          <a:noFill/>
          <a:ln cap="flat" cmpd="sng" w="381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136" name="Google Shape;136;p18"/>
          <p:cNvSpPr txBox="1"/>
          <p:nvPr/>
        </p:nvSpPr>
        <p:spPr>
          <a:xfrm>
            <a:off x="6018986" y="4114800"/>
            <a:ext cx="2514600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 Text, Attributes, Navigation, and Tags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 txBox="1"/>
          <p:nvPr/>
        </p:nvSpPr>
        <p:spPr>
          <a:xfrm>
            <a:off x="3733801" y="609600"/>
            <a:ext cx="1676399" cy="46166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HMI</a:t>
            </a:r>
            <a:endParaRPr/>
          </a:p>
        </p:txBody>
      </p:sp>
      <p:cxnSp>
        <p:nvCxnSpPr>
          <p:cNvPr id="142" name="Google Shape;142;p19"/>
          <p:cNvCxnSpPr/>
          <p:nvPr/>
        </p:nvCxnSpPr>
        <p:spPr>
          <a:xfrm>
            <a:off x="1524000" y="6096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cxnSp>
        <p:nvCxnSpPr>
          <p:cNvPr id="143" name="Google Shape;143;p19"/>
          <p:cNvCxnSpPr/>
          <p:nvPr/>
        </p:nvCxnSpPr>
        <p:spPr>
          <a:xfrm>
            <a:off x="1524000" y="10668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sp>
        <p:nvSpPr>
          <p:cNvPr id="144" name="Google Shape;144;p19"/>
          <p:cNvSpPr txBox="1"/>
          <p:nvPr/>
        </p:nvSpPr>
        <p:spPr>
          <a:xfrm>
            <a:off x="2473587" y="1143000"/>
            <a:ext cx="419682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Summary of Object Properties - Text</a:t>
            </a:r>
            <a:endParaRPr/>
          </a:p>
        </p:txBody>
      </p:sp>
      <p:pic>
        <p:nvPicPr>
          <p:cNvPr descr="Graphical user interface, application&#10;&#10;Description automatically generated" id="145" name="Google Shape;14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2571" y="1584067"/>
            <a:ext cx="3678857" cy="40020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146" name="Google Shape;146;p19"/>
          <p:cNvSpPr txBox="1"/>
          <p:nvPr/>
        </p:nvSpPr>
        <p:spPr>
          <a:xfrm>
            <a:off x="5105400" y="2667000"/>
            <a:ext cx="3591817" cy="36933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Enter Text and set Font Attributes</a:t>
            </a:r>
            <a:endParaRPr/>
          </a:p>
        </p:txBody>
      </p:sp>
      <p:sp>
        <p:nvSpPr>
          <p:cNvPr id="147" name="Google Shape;147;p19"/>
          <p:cNvSpPr txBox="1"/>
          <p:nvPr/>
        </p:nvSpPr>
        <p:spPr>
          <a:xfrm>
            <a:off x="609600" y="2900822"/>
            <a:ext cx="2321187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Multiple Text objects on both panels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/>
          <p:nvPr/>
        </p:nvSpPr>
        <p:spPr>
          <a:xfrm>
            <a:off x="10033000" y="1552575"/>
            <a:ext cx="1676399" cy="323166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HMI</a:t>
            </a:r>
            <a:endParaRPr/>
          </a:p>
        </p:txBody>
      </p:sp>
      <p:cxnSp>
        <p:nvCxnSpPr>
          <p:cNvPr id="153" name="Google Shape;153;p20"/>
          <p:cNvCxnSpPr/>
          <p:nvPr/>
        </p:nvCxnSpPr>
        <p:spPr>
          <a:xfrm>
            <a:off x="1524000" y="6096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cxnSp>
        <p:nvCxnSpPr>
          <p:cNvPr id="154" name="Google Shape;154;p20"/>
          <p:cNvCxnSpPr/>
          <p:nvPr/>
        </p:nvCxnSpPr>
        <p:spPr>
          <a:xfrm>
            <a:off x="1524000" y="10668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sp>
        <p:nvSpPr>
          <p:cNvPr id="155" name="Google Shape;155;p20"/>
          <p:cNvSpPr txBox="1"/>
          <p:nvPr/>
        </p:nvSpPr>
        <p:spPr>
          <a:xfrm>
            <a:off x="2227393" y="1143000"/>
            <a:ext cx="4689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Summary of Object Properties - Indicator</a:t>
            </a:r>
            <a:endParaRPr/>
          </a:p>
        </p:txBody>
      </p:sp>
      <p:sp>
        <p:nvSpPr>
          <p:cNvPr id="156" name="Google Shape;156;p20"/>
          <p:cNvSpPr txBox="1"/>
          <p:nvPr/>
        </p:nvSpPr>
        <p:spPr>
          <a:xfrm>
            <a:off x="3733801" y="609600"/>
            <a:ext cx="1676399" cy="46166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HMI</a:t>
            </a:r>
            <a:endParaRPr/>
          </a:p>
        </p:txBody>
      </p:sp>
      <p:pic>
        <p:nvPicPr>
          <p:cNvPr descr="Graphical user interface, application&#10;&#10;Description automatically generated" id="157" name="Google Shape;15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781" y="1494361"/>
            <a:ext cx="3367619" cy="423619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158" name="Google Shape;158;p20"/>
          <p:cNvSpPr txBox="1"/>
          <p:nvPr/>
        </p:nvSpPr>
        <p:spPr>
          <a:xfrm>
            <a:off x="2514600" y="2743200"/>
            <a:ext cx="2667002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 Appearance and Number of States</a:t>
            </a:r>
            <a:endParaRPr/>
          </a:p>
        </p:txBody>
      </p:sp>
      <p:pic>
        <p:nvPicPr>
          <p:cNvPr descr="A screenshot of a phone&#10;&#10;Description automatically generated with medium confidence" id="159" name="Google Shape;15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32749" y="1875741"/>
            <a:ext cx="2038095" cy="2904762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160" name="Google Shape;160;p20"/>
          <p:cNvSpPr/>
          <p:nvPr/>
        </p:nvSpPr>
        <p:spPr>
          <a:xfrm>
            <a:off x="7389844" y="2133606"/>
            <a:ext cx="609600" cy="304794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0C0C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/>
          <p:cNvSpPr txBox="1"/>
          <p:nvPr/>
        </p:nvSpPr>
        <p:spPr>
          <a:xfrm>
            <a:off x="10033000" y="1552575"/>
            <a:ext cx="1676399" cy="323166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HMI</a:t>
            </a:r>
            <a:endParaRPr/>
          </a:p>
        </p:txBody>
      </p:sp>
      <p:cxnSp>
        <p:nvCxnSpPr>
          <p:cNvPr id="166" name="Google Shape;166;p21"/>
          <p:cNvCxnSpPr/>
          <p:nvPr/>
        </p:nvCxnSpPr>
        <p:spPr>
          <a:xfrm>
            <a:off x="1524000" y="6096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cxnSp>
        <p:nvCxnSpPr>
          <p:cNvPr id="167" name="Google Shape;167;p21"/>
          <p:cNvCxnSpPr/>
          <p:nvPr/>
        </p:nvCxnSpPr>
        <p:spPr>
          <a:xfrm>
            <a:off x="1524000" y="10668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sp>
        <p:nvSpPr>
          <p:cNvPr id="168" name="Google Shape;168;p21"/>
          <p:cNvSpPr txBox="1"/>
          <p:nvPr/>
        </p:nvSpPr>
        <p:spPr>
          <a:xfrm>
            <a:off x="2227393" y="1143000"/>
            <a:ext cx="4689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Summary of Object Properties - Indicator</a:t>
            </a:r>
            <a:endParaRPr/>
          </a:p>
        </p:txBody>
      </p:sp>
      <p:sp>
        <p:nvSpPr>
          <p:cNvPr id="169" name="Google Shape;169;p21"/>
          <p:cNvSpPr txBox="1"/>
          <p:nvPr/>
        </p:nvSpPr>
        <p:spPr>
          <a:xfrm>
            <a:off x="3733801" y="609600"/>
            <a:ext cx="1676399" cy="46166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HMI</a:t>
            </a:r>
            <a:endParaRPr/>
          </a:p>
        </p:txBody>
      </p:sp>
      <p:pic>
        <p:nvPicPr>
          <p:cNvPr descr="Graphical user interface, application&#10;&#10;Description automatically generated" id="170" name="Google Shape;17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781" y="1494361"/>
            <a:ext cx="3367619" cy="423619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Graphical user interface&#10;&#10;Description automatically generated" id="171" name="Google Shape;17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3721" y="1494361"/>
            <a:ext cx="3367619" cy="423619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172" name="Google Shape;172;p21"/>
          <p:cNvSpPr txBox="1"/>
          <p:nvPr/>
        </p:nvSpPr>
        <p:spPr>
          <a:xfrm>
            <a:off x="4343400" y="2762641"/>
            <a:ext cx="3276599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 0: set Back and Boarder Color Attributes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2"/>
          <p:cNvSpPr txBox="1"/>
          <p:nvPr/>
        </p:nvSpPr>
        <p:spPr>
          <a:xfrm>
            <a:off x="10033000" y="1552575"/>
            <a:ext cx="1676399" cy="323166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HMI</a:t>
            </a:r>
            <a:endParaRPr/>
          </a:p>
        </p:txBody>
      </p:sp>
      <p:cxnSp>
        <p:nvCxnSpPr>
          <p:cNvPr id="178" name="Google Shape;178;p22"/>
          <p:cNvCxnSpPr/>
          <p:nvPr/>
        </p:nvCxnSpPr>
        <p:spPr>
          <a:xfrm>
            <a:off x="1524000" y="6096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cxnSp>
        <p:nvCxnSpPr>
          <p:cNvPr id="179" name="Google Shape;179;p22"/>
          <p:cNvCxnSpPr/>
          <p:nvPr/>
        </p:nvCxnSpPr>
        <p:spPr>
          <a:xfrm>
            <a:off x="1524000" y="10668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sp>
        <p:nvSpPr>
          <p:cNvPr id="180" name="Google Shape;180;p22"/>
          <p:cNvSpPr txBox="1"/>
          <p:nvPr/>
        </p:nvSpPr>
        <p:spPr>
          <a:xfrm>
            <a:off x="2227393" y="1143000"/>
            <a:ext cx="4689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Summary of Object Properties - Indicator</a:t>
            </a:r>
            <a:endParaRPr/>
          </a:p>
        </p:txBody>
      </p:sp>
      <p:sp>
        <p:nvSpPr>
          <p:cNvPr id="181" name="Google Shape;181;p22"/>
          <p:cNvSpPr txBox="1"/>
          <p:nvPr/>
        </p:nvSpPr>
        <p:spPr>
          <a:xfrm>
            <a:off x="3733801" y="609600"/>
            <a:ext cx="1676399" cy="46166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HMI</a:t>
            </a:r>
            <a:endParaRPr/>
          </a:p>
        </p:txBody>
      </p:sp>
      <p:pic>
        <p:nvPicPr>
          <p:cNvPr descr="Graphical user interface, application&#10;&#10;Description automatically generated" id="182" name="Google Shape;18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781" y="1494361"/>
            <a:ext cx="3367619" cy="423619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Graphical user interface&#10;&#10;Description automatically generated" id="183" name="Google Shape;18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3721" y="1494361"/>
            <a:ext cx="3367619" cy="423619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Graphical user interface&#10;&#10;Description automatically generated" id="184" name="Google Shape;18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52661" y="1494361"/>
            <a:ext cx="3367619" cy="423619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185" name="Google Shape;185;p22"/>
          <p:cNvSpPr txBox="1"/>
          <p:nvPr/>
        </p:nvSpPr>
        <p:spPr>
          <a:xfrm>
            <a:off x="5250041" y="2693933"/>
            <a:ext cx="3276599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 1: set Back and Boarder Color Attributes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3"/>
          <p:cNvSpPr txBox="1"/>
          <p:nvPr/>
        </p:nvSpPr>
        <p:spPr>
          <a:xfrm>
            <a:off x="10033000" y="1552575"/>
            <a:ext cx="1676399" cy="323166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HMI</a:t>
            </a:r>
            <a:endParaRPr/>
          </a:p>
        </p:txBody>
      </p:sp>
      <p:cxnSp>
        <p:nvCxnSpPr>
          <p:cNvPr id="191" name="Google Shape;191;p23"/>
          <p:cNvCxnSpPr/>
          <p:nvPr/>
        </p:nvCxnSpPr>
        <p:spPr>
          <a:xfrm>
            <a:off x="1524000" y="6096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cxnSp>
        <p:nvCxnSpPr>
          <p:cNvPr id="192" name="Google Shape;192;p23"/>
          <p:cNvCxnSpPr/>
          <p:nvPr/>
        </p:nvCxnSpPr>
        <p:spPr>
          <a:xfrm>
            <a:off x="1524000" y="10668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sp>
        <p:nvSpPr>
          <p:cNvPr id="193" name="Google Shape;193;p23"/>
          <p:cNvSpPr txBox="1"/>
          <p:nvPr/>
        </p:nvSpPr>
        <p:spPr>
          <a:xfrm>
            <a:off x="2227393" y="1143000"/>
            <a:ext cx="4689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Summary of Object Properties - Indicator</a:t>
            </a:r>
            <a:endParaRPr/>
          </a:p>
        </p:txBody>
      </p:sp>
      <p:sp>
        <p:nvSpPr>
          <p:cNvPr id="194" name="Google Shape;194;p23"/>
          <p:cNvSpPr txBox="1"/>
          <p:nvPr/>
        </p:nvSpPr>
        <p:spPr>
          <a:xfrm>
            <a:off x="3733801" y="609600"/>
            <a:ext cx="1676399" cy="46166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HMI</a:t>
            </a:r>
            <a:endParaRPr/>
          </a:p>
        </p:txBody>
      </p:sp>
      <p:pic>
        <p:nvPicPr>
          <p:cNvPr descr="Graphical user interface, application&#10;&#10;Description automatically generated" id="195" name="Google Shape;19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781" y="1494361"/>
            <a:ext cx="3367619" cy="423619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Graphical user interface&#10;&#10;Description automatically generated" id="196" name="Google Shape;19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3721" y="1494361"/>
            <a:ext cx="3367619" cy="423619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Graphical user interface&#10;&#10;Description automatically generated" id="197" name="Google Shape;19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52661" y="1494361"/>
            <a:ext cx="3367619" cy="423619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Graphical user interface, application, Word&#10;&#10;Description automatically generated" id="198" name="Google Shape;198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81600" y="1494361"/>
            <a:ext cx="3367619" cy="423619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199" name="Google Shape;199;p23"/>
          <p:cNvSpPr txBox="1"/>
          <p:nvPr/>
        </p:nvSpPr>
        <p:spPr>
          <a:xfrm>
            <a:off x="5951009" y="2349378"/>
            <a:ext cx="1828800" cy="36933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 Data Tag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4" name="Google Shape;204;p24"/>
          <p:cNvCxnSpPr/>
          <p:nvPr/>
        </p:nvCxnSpPr>
        <p:spPr>
          <a:xfrm>
            <a:off x="1524000" y="6096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cxnSp>
        <p:nvCxnSpPr>
          <p:cNvPr id="205" name="Google Shape;205;p24"/>
          <p:cNvCxnSpPr/>
          <p:nvPr/>
        </p:nvCxnSpPr>
        <p:spPr>
          <a:xfrm>
            <a:off x="1524000" y="10668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sp>
        <p:nvSpPr>
          <p:cNvPr id="206" name="Google Shape;206;p24"/>
          <p:cNvSpPr txBox="1"/>
          <p:nvPr/>
        </p:nvSpPr>
        <p:spPr>
          <a:xfrm>
            <a:off x="1409700" y="1143000"/>
            <a:ext cx="6324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Summary of Object Properties – Momentary Pushbutton</a:t>
            </a:r>
            <a:endParaRPr/>
          </a:p>
        </p:txBody>
      </p:sp>
      <p:sp>
        <p:nvSpPr>
          <p:cNvPr id="207" name="Google Shape;207;p24"/>
          <p:cNvSpPr txBox="1"/>
          <p:nvPr/>
        </p:nvSpPr>
        <p:spPr>
          <a:xfrm>
            <a:off x="3733801" y="609600"/>
            <a:ext cx="1676399" cy="46166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HMI</a:t>
            </a:r>
            <a:endParaRPr/>
          </a:p>
        </p:txBody>
      </p:sp>
      <p:pic>
        <p:nvPicPr>
          <p:cNvPr descr="Graphical user interface, application&#10;&#10;Description automatically generated" id="208" name="Google Shape;20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490472"/>
            <a:ext cx="3367619" cy="423619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A screenshot of a phone&#10;&#10;Description automatically generated with medium confidence" id="209" name="Google Shape;20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32750" y="1875741"/>
            <a:ext cx="2038095" cy="2904762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210" name="Google Shape;210;p24"/>
          <p:cNvSpPr/>
          <p:nvPr/>
        </p:nvSpPr>
        <p:spPr>
          <a:xfrm>
            <a:off x="7467600" y="2725100"/>
            <a:ext cx="609600" cy="304794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0C0C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4"/>
          <p:cNvSpPr txBox="1"/>
          <p:nvPr/>
        </p:nvSpPr>
        <p:spPr>
          <a:xfrm>
            <a:off x="2514600" y="2743200"/>
            <a:ext cx="2667002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 Appearance and Button Settings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6" name="Google Shape;216;p25"/>
          <p:cNvCxnSpPr/>
          <p:nvPr/>
        </p:nvCxnSpPr>
        <p:spPr>
          <a:xfrm>
            <a:off x="1524000" y="6096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cxnSp>
        <p:nvCxnSpPr>
          <p:cNvPr id="217" name="Google Shape;217;p25"/>
          <p:cNvCxnSpPr/>
          <p:nvPr/>
        </p:nvCxnSpPr>
        <p:spPr>
          <a:xfrm>
            <a:off x="1524000" y="10668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sp>
        <p:nvSpPr>
          <p:cNvPr id="218" name="Google Shape;218;p25"/>
          <p:cNvSpPr txBox="1"/>
          <p:nvPr/>
        </p:nvSpPr>
        <p:spPr>
          <a:xfrm>
            <a:off x="1409700" y="1143000"/>
            <a:ext cx="6324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Summary of Object Properties – Momentary Pushbutton</a:t>
            </a:r>
            <a:endParaRPr/>
          </a:p>
        </p:txBody>
      </p:sp>
      <p:sp>
        <p:nvSpPr>
          <p:cNvPr id="219" name="Google Shape;219;p25"/>
          <p:cNvSpPr txBox="1"/>
          <p:nvPr/>
        </p:nvSpPr>
        <p:spPr>
          <a:xfrm>
            <a:off x="3733801" y="609600"/>
            <a:ext cx="1676399" cy="46166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HMI</a:t>
            </a:r>
            <a:endParaRPr/>
          </a:p>
        </p:txBody>
      </p:sp>
      <p:pic>
        <p:nvPicPr>
          <p:cNvPr descr="Graphical user interface, application&#10;&#10;Description automatically generated" id="220" name="Google Shape;22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490472"/>
            <a:ext cx="3367619" cy="423619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Graphical user interface&#10;&#10;Description automatically generated" id="221" name="Google Shape;22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4456" y="1490472"/>
            <a:ext cx="3367619" cy="423619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222" name="Google Shape;222;p25"/>
          <p:cNvSpPr txBox="1"/>
          <p:nvPr/>
        </p:nvSpPr>
        <p:spPr>
          <a:xfrm>
            <a:off x="4343400" y="2762641"/>
            <a:ext cx="3657600" cy="92333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 0: set Back Color Attributes and enter Caption and Caption Color.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7" name="Google Shape;227;p26"/>
          <p:cNvCxnSpPr/>
          <p:nvPr/>
        </p:nvCxnSpPr>
        <p:spPr>
          <a:xfrm>
            <a:off x="1524000" y="6096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cxnSp>
        <p:nvCxnSpPr>
          <p:cNvPr id="228" name="Google Shape;228;p26"/>
          <p:cNvCxnSpPr/>
          <p:nvPr/>
        </p:nvCxnSpPr>
        <p:spPr>
          <a:xfrm>
            <a:off x="1524000" y="10668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sp>
        <p:nvSpPr>
          <p:cNvPr id="229" name="Google Shape;229;p26"/>
          <p:cNvSpPr txBox="1"/>
          <p:nvPr/>
        </p:nvSpPr>
        <p:spPr>
          <a:xfrm>
            <a:off x="1409700" y="1143000"/>
            <a:ext cx="6324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Summary of Object Properties – Momentary Pushbutton</a:t>
            </a:r>
            <a:endParaRPr/>
          </a:p>
        </p:txBody>
      </p:sp>
      <p:sp>
        <p:nvSpPr>
          <p:cNvPr id="230" name="Google Shape;230;p26"/>
          <p:cNvSpPr txBox="1"/>
          <p:nvPr/>
        </p:nvSpPr>
        <p:spPr>
          <a:xfrm>
            <a:off x="3733801" y="609600"/>
            <a:ext cx="1676399" cy="46166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HMI</a:t>
            </a:r>
            <a:endParaRPr/>
          </a:p>
        </p:txBody>
      </p:sp>
      <p:pic>
        <p:nvPicPr>
          <p:cNvPr descr="Graphical user interface, application&#10;&#10;Description automatically generated" id="231" name="Google Shape;23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490472"/>
            <a:ext cx="3367619" cy="423619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Graphical user interface&#10;&#10;Description automatically generated" id="232" name="Google Shape;23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4456" y="1490472"/>
            <a:ext cx="3367619" cy="423619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Graphical user interface&#10;&#10;Description automatically generated" id="233" name="Google Shape;233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54552" y="1490472"/>
            <a:ext cx="3367619" cy="423619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234" name="Google Shape;234;p26"/>
          <p:cNvSpPr txBox="1"/>
          <p:nvPr/>
        </p:nvSpPr>
        <p:spPr>
          <a:xfrm>
            <a:off x="6206831" y="2590800"/>
            <a:ext cx="2676143" cy="92333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 0: set Back Color Attributes and enter Caption.</a:t>
            </a:r>
            <a:endParaRPr/>
          </a:p>
        </p:txBody>
      </p:sp>
      <p:sp>
        <p:nvSpPr>
          <p:cNvPr id="235" name="Google Shape;235;p26"/>
          <p:cNvSpPr txBox="1"/>
          <p:nvPr/>
        </p:nvSpPr>
        <p:spPr>
          <a:xfrm>
            <a:off x="6206831" y="4038600"/>
            <a:ext cx="2022770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Notice change in Caption Color.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0" name="Google Shape;240;p27"/>
          <p:cNvCxnSpPr/>
          <p:nvPr/>
        </p:nvCxnSpPr>
        <p:spPr>
          <a:xfrm>
            <a:off x="1524000" y="6096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cxnSp>
        <p:nvCxnSpPr>
          <p:cNvPr id="241" name="Google Shape;241;p27"/>
          <p:cNvCxnSpPr/>
          <p:nvPr/>
        </p:nvCxnSpPr>
        <p:spPr>
          <a:xfrm>
            <a:off x="1524000" y="10668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sp>
        <p:nvSpPr>
          <p:cNvPr id="242" name="Google Shape;242;p27"/>
          <p:cNvSpPr txBox="1"/>
          <p:nvPr/>
        </p:nvSpPr>
        <p:spPr>
          <a:xfrm>
            <a:off x="1409700" y="1143000"/>
            <a:ext cx="6324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Summary of Object Properties – Momentary Pushbutton</a:t>
            </a:r>
            <a:endParaRPr/>
          </a:p>
        </p:txBody>
      </p:sp>
      <p:sp>
        <p:nvSpPr>
          <p:cNvPr id="243" name="Google Shape;243;p27"/>
          <p:cNvSpPr txBox="1"/>
          <p:nvPr/>
        </p:nvSpPr>
        <p:spPr>
          <a:xfrm>
            <a:off x="3733801" y="609600"/>
            <a:ext cx="1676399" cy="46166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HMI</a:t>
            </a:r>
            <a:endParaRPr/>
          </a:p>
        </p:txBody>
      </p:sp>
      <p:pic>
        <p:nvPicPr>
          <p:cNvPr descr="Graphical user interface, application&#10;&#10;Description automatically generated" id="244" name="Google Shape;24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490472"/>
            <a:ext cx="3367619" cy="423619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Graphical user interface&#10;&#10;Description automatically generated" id="245" name="Google Shape;24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4456" y="1490472"/>
            <a:ext cx="3367619" cy="423619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Graphical user interface&#10;&#10;Description automatically generated" id="246" name="Google Shape;246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54552" y="1490472"/>
            <a:ext cx="3367619" cy="423619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Graphical user interface, application, Word&#10;&#10;Description automatically generated" id="247" name="Google Shape;247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84648" y="1490472"/>
            <a:ext cx="3367619" cy="423619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248" name="Google Shape;248;p27"/>
          <p:cNvSpPr txBox="1"/>
          <p:nvPr/>
        </p:nvSpPr>
        <p:spPr>
          <a:xfrm>
            <a:off x="5951009" y="2602468"/>
            <a:ext cx="1828800" cy="36933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 Data Tag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, application&#10;&#10;Description automatically generated" id="253" name="Google Shape;25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490472"/>
            <a:ext cx="3367619" cy="423619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cxnSp>
        <p:nvCxnSpPr>
          <p:cNvPr id="254" name="Google Shape;254;p28"/>
          <p:cNvCxnSpPr/>
          <p:nvPr/>
        </p:nvCxnSpPr>
        <p:spPr>
          <a:xfrm>
            <a:off x="1524000" y="6096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cxnSp>
        <p:nvCxnSpPr>
          <p:cNvPr id="255" name="Google Shape;255;p28"/>
          <p:cNvCxnSpPr/>
          <p:nvPr/>
        </p:nvCxnSpPr>
        <p:spPr>
          <a:xfrm>
            <a:off x="1524000" y="10668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sp>
        <p:nvSpPr>
          <p:cNvPr id="256" name="Google Shape;256;p28"/>
          <p:cNvSpPr txBox="1"/>
          <p:nvPr/>
        </p:nvSpPr>
        <p:spPr>
          <a:xfrm>
            <a:off x="1409700" y="1143000"/>
            <a:ext cx="6324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Summary of Object Properties – Maintained Pushbutton</a:t>
            </a:r>
            <a:endParaRPr/>
          </a:p>
        </p:txBody>
      </p:sp>
      <p:sp>
        <p:nvSpPr>
          <p:cNvPr id="257" name="Google Shape;257;p28"/>
          <p:cNvSpPr txBox="1"/>
          <p:nvPr/>
        </p:nvSpPr>
        <p:spPr>
          <a:xfrm>
            <a:off x="3733801" y="609600"/>
            <a:ext cx="1676399" cy="46166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HMI</a:t>
            </a:r>
            <a:endParaRPr/>
          </a:p>
        </p:txBody>
      </p:sp>
      <p:pic>
        <p:nvPicPr>
          <p:cNvPr descr="Graphical user interface, text, application, chat or text message&#10;&#10;Description automatically generated" id="258" name="Google Shape;25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06535" y="2109011"/>
            <a:ext cx="1923810" cy="809524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259" name="Google Shape;259;p28"/>
          <p:cNvSpPr txBox="1"/>
          <p:nvPr/>
        </p:nvSpPr>
        <p:spPr>
          <a:xfrm>
            <a:off x="2514600" y="2743200"/>
            <a:ext cx="2133600" cy="36933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 Appearance</a:t>
            </a:r>
            <a:endParaRPr/>
          </a:p>
        </p:txBody>
      </p:sp>
      <p:sp>
        <p:nvSpPr>
          <p:cNvPr id="260" name="Google Shape;260;p28"/>
          <p:cNvSpPr txBox="1"/>
          <p:nvPr/>
        </p:nvSpPr>
        <p:spPr>
          <a:xfrm>
            <a:off x="5311140" y="3157832"/>
            <a:ext cx="251459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Maintained Button to Enable/Disable HMI switches.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, application&#10;&#10;Description automatically generated" id="265" name="Google Shape;26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490472"/>
            <a:ext cx="3367619" cy="423619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cxnSp>
        <p:nvCxnSpPr>
          <p:cNvPr id="266" name="Google Shape;266;p29"/>
          <p:cNvCxnSpPr/>
          <p:nvPr/>
        </p:nvCxnSpPr>
        <p:spPr>
          <a:xfrm>
            <a:off x="1524000" y="6096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cxnSp>
        <p:nvCxnSpPr>
          <p:cNvPr id="267" name="Google Shape;267;p29"/>
          <p:cNvCxnSpPr/>
          <p:nvPr/>
        </p:nvCxnSpPr>
        <p:spPr>
          <a:xfrm>
            <a:off x="1524000" y="10668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sp>
        <p:nvSpPr>
          <p:cNvPr id="268" name="Google Shape;268;p29"/>
          <p:cNvSpPr txBox="1"/>
          <p:nvPr/>
        </p:nvSpPr>
        <p:spPr>
          <a:xfrm>
            <a:off x="1409700" y="1143000"/>
            <a:ext cx="6324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Summary of Object Properties – Maintained Pushbutton</a:t>
            </a:r>
            <a:endParaRPr/>
          </a:p>
        </p:txBody>
      </p:sp>
      <p:sp>
        <p:nvSpPr>
          <p:cNvPr id="269" name="Google Shape;269;p29"/>
          <p:cNvSpPr txBox="1"/>
          <p:nvPr/>
        </p:nvSpPr>
        <p:spPr>
          <a:xfrm>
            <a:off x="3733801" y="609600"/>
            <a:ext cx="1676399" cy="46166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HMI</a:t>
            </a:r>
            <a:endParaRPr/>
          </a:p>
        </p:txBody>
      </p:sp>
      <p:pic>
        <p:nvPicPr>
          <p:cNvPr descr="Graphical user interface, application&#10;&#10;Description automatically generated" id="270" name="Google Shape;27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4456" y="1490472"/>
            <a:ext cx="3367619" cy="423619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271" name="Google Shape;271;p29"/>
          <p:cNvSpPr txBox="1"/>
          <p:nvPr/>
        </p:nvSpPr>
        <p:spPr>
          <a:xfrm>
            <a:off x="4486657" y="2762641"/>
            <a:ext cx="3590543" cy="92333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 0: set Back Color Attributes and enter Caption and Caption Color.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, application&#10;&#10;Description automatically generated" id="276" name="Google Shape;27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490472"/>
            <a:ext cx="3367619" cy="423619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cxnSp>
        <p:nvCxnSpPr>
          <p:cNvPr id="277" name="Google Shape;277;p30"/>
          <p:cNvCxnSpPr/>
          <p:nvPr/>
        </p:nvCxnSpPr>
        <p:spPr>
          <a:xfrm>
            <a:off x="1524000" y="6096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cxnSp>
        <p:nvCxnSpPr>
          <p:cNvPr id="278" name="Google Shape;278;p30"/>
          <p:cNvCxnSpPr/>
          <p:nvPr/>
        </p:nvCxnSpPr>
        <p:spPr>
          <a:xfrm>
            <a:off x="1524000" y="10668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sp>
        <p:nvSpPr>
          <p:cNvPr id="279" name="Google Shape;279;p30"/>
          <p:cNvSpPr txBox="1"/>
          <p:nvPr/>
        </p:nvSpPr>
        <p:spPr>
          <a:xfrm>
            <a:off x="1409700" y="1143000"/>
            <a:ext cx="6324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Summary of Object Properties – Maintained Pushbutton</a:t>
            </a:r>
            <a:endParaRPr/>
          </a:p>
        </p:txBody>
      </p:sp>
      <p:sp>
        <p:nvSpPr>
          <p:cNvPr id="280" name="Google Shape;280;p30"/>
          <p:cNvSpPr txBox="1"/>
          <p:nvPr/>
        </p:nvSpPr>
        <p:spPr>
          <a:xfrm>
            <a:off x="3733801" y="609600"/>
            <a:ext cx="1676399" cy="46166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HMI</a:t>
            </a:r>
            <a:endParaRPr/>
          </a:p>
        </p:txBody>
      </p:sp>
      <p:pic>
        <p:nvPicPr>
          <p:cNvPr descr="Graphical user interface, application&#10;&#10;Description automatically generated" id="281" name="Google Shape;28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4456" y="1490472"/>
            <a:ext cx="3367619" cy="423619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Graphical user interface&#10;&#10;Description automatically generated" id="282" name="Google Shape;282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54552" y="1490472"/>
            <a:ext cx="3367619" cy="423619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283" name="Google Shape;283;p30"/>
          <p:cNvSpPr txBox="1"/>
          <p:nvPr/>
        </p:nvSpPr>
        <p:spPr>
          <a:xfrm>
            <a:off x="6206831" y="2590800"/>
            <a:ext cx="2676143" cy="92333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 0: set Back Color Attributes and enter Caption.</a:t>
            </a:r>
            <a:endParaRPr/>
          </a:p>
        </p:txBody>
      </p:sp>
      <p:sp>
        <p:nvSpPr>
          <p:cNvPr id="284" name="Google Shape;284;p30"/>
          <p:cNvSpPr txBox="1"/>
          <p:nvPr/>
        </p:nvSpPr>
        <p:spPr>
          <a:xfrm>
            <a:off x="6206831" y="4038600"/>
            <a:ext cx="2022770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Notice change in Caption Color.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, application&#10;&#10;Description automatically generated" id="289" name="Google Shape;28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490472"/>
            <a:ext cx="3367619" cy="423619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cxnSp>
        <p:nvCxnSpPr>
          <p:cNvPr id="290" name="Google Shape;290;p31"/>
          <p:cNvCxnSpPr/>
          <p:nvPr/>
        </p:nvCxnSpPr>
        <p:spPr>
          <a:xfrm>
            <a:off x="1524000" y="6096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cxnSp>
        <p:nvCxnSpPr>
          <p:cNvPr id="291" name="Google Shape;291;p31"/>
          <p:cNvCxnSpPr/>
          <p:nvPr/>
        </p:nvCxnSpPr>
        <p:spPr>
          <a:xfrm>
            <a:off x="1524000" y="10668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sp>
        <p:nvSpPr>
          <p:cNvPr id="292" name="Google Shape;292;p31"/>
          <p:cNvSpPr txBox="1"/>
          <p:nvPr/>
        </p:nvSpPr>
        <p:spPr>
          <a:xfrm>
            <a:off x="1409700" y="1143000"/>
            <a:ext cx="6324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Summary of Object Properties – Maintained Pushbutton</a:t>
            </a:r>
            <a:endParaRPr/>
          </a:p>
        </p:txBody>
      </p:sp>
      <p:sp>
        <p:nvSpPr>
          <p:cNvPr id="293" name="Google Shape;293;p31"/>
          <p:cNvSpPr txBox="1"/>
          <p:nvPr/>
        </p:nvSpPr>
        <p:spPr>
          <a:xfrm>
            <a:off x="3733801" y="609600"/>
            <a:ext cx="1676399" cy="46166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HMI</a:t>
            </a:r>
            <a:endParaRPr/>
          </a:p>
        </p:txBody>
      </p:sp>
      <p:pic>
        <p:nvPicPr>
          <p:cNvPr descr="Graphical user interface, application&#10;&#10;Description automatically generated" id="294" name="Google Shape;29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4456" y="1490472"/>
            <a:ext cx="3367619" cy="423619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Graphical user interface&#10;&#10;Description automatically generated" id="295" name="Google Shape;295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54552" y="1490472"/>
            <a:ext cx="3367619" cy="423619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Graphical user interface, application, Word&#10;&#10;Description automatically generated" id="296" name="Google Shape;296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84648" y="1490472"/>
            <a:ext cx="3367619" cy="423619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297" name="Google Shape;297;p31"/>
          <p:cNvSpPr txBox="1"/>
          <p:nvPr/>
        </p:nvSpPr>
        <p:spPr>
          <a:xfrm>
            <a:off x="5951009" y="2602468"/>
            <a:ext cx="1828800" cy="36933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 Data Tag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2" name="Google Shape;302;p32"/>
          <p:cNvCxnSpPr/>
          <p:nvPr/>
        </p:nvCxnSpPr>
        <p:spPr>
          <a:xfrm>
            <a:off x="1524000" y="6096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cxnSp>
        <p:nvCxnSpPr>
          <p:cNvPr id="303" name="Google Shape;303;p32"/>
          <p:cNvCxnSpPr/>
          <p:nvPr/>
        </p:nvCxnSpPr>
        <p:spPr>
          <a:xfrm>
            <a:off x="1524000" y="10668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sp>
        <p:nvSpPr>
          <p:cNvPr id="304" name="Google Shape;304;p32"/>
          <p:cNvSpPr txBox="1"/>
          <p:nvPr/>
        </p:nvSpPr>
        <p:spPr>
          <a:xfrm>
            <a:off x="1390650" y="1143000"/>
            <a:ext cx="63627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Summary of Object Properties – Navigation Goto Screen</a:t>
            </a:r>
            <a:endParaRPr/>
          </a:p>
        </p:txBody>
      </p:sp>
      <p:sp>
        <p:nvSpPr>
          <p:cNvPr id="305" name="Google Shape;305;p32"/>
          <p:cNvSpPr txBox="1"/>
          <p:nvPr/>
        </p:nvSpPr>
        <p:spPr>
          <a:xfrm>
            <a:off x="3733801" y="609600"/>
            <a:ext cx="1676399" cy="46166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HMI</a:t>
            </a:r>
            <a:endParaRPr/>
          </a:p>
        </p:txBody>
      </p:sp>
      <p:pic>
        <p:nvPicPr>
          <p:cNvPr descr="Graphical user interface, application&#10;&#10;Description automatically generated" id="306" name="Google Shape;30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7781" y="1490472"/>
            <a:ext cx="3367619" cy="423619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Text&#10;&#10;Description automatically generated" id="307" name="Google Shape;307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40880" y="2651760"/>
            <a:ext cx="866667" cy="571429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308" name="Google Shape;308;p32"/>
          <p:cNvSpPr txBox="1"/>
          <p:nvPr/>
        </p:nvSpPr>
        <p:spPr>
          <a:xfrm>
            <a:off x="4038600" y="1827014"/>
            <a:ext cx="2133600" cy="36933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 Appearance</a:t>
            </a:r>
            <a:endParaRPr/>
          </a:p>
        </p:txBody>
      </p:sp>
      <p:sp>
        <p:nvSpPr>
          <p:cNvPr id="309" name="Google Shape;309;p32"/>
          <p:cNvSpPr txBox="1"/>
          <p:nvPr/>
        </p:nvSpPr>
        <p:spPr>
          <a:xfrm>
            <a:off x="2813381" y="3638338"/>
            <a:ext cx="2663350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 Display Settings </a:t>
            </a:r>
            <a:r>
              <a:rPr i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screen to goto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310" name="Google Shape;310;p32"/>
          <p:cNvSpPr txBox="1"/>
          <p:nvPr/>
        </p:nvSpPr>
        <p:spPr>
          <a:xfrm>
            <a:off x="6019800" y="3429000"/>
            <a:ext cx="289559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button is on Operator Panel 1, Main, and will cause Operator Panel 2 to be displayed.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5" name="Google Shape;315;p33"/>
          <p:cNvCxnSpPr/>
          <p:nvPr/>
        </p:nvCxnSpPr>
        <p:spPr>
          <a:xfrm>
            <a:off x="1524000" y="6096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cxnSp>
        <p:nvCxnSpPr>
          <p:cNvPr id="316" name="Google Shape;316;p33"/>
          <p:cNvCxnSpPr/>
          <p:nvPr/>
        </p:nvCxnSpPr>
        <p:spPr>
          <a:xfrm>
            <a:off x="1524000" y="10668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sp>
        <p:nvSpPr>
          <p:cNvPr id="317" name="Google Shape;317;p33"/>
          <p:cNvSpPr txBox="1"/>
          <p:nvPr/>
        </p:nvSpPr>
        <p:spPr>
          <a:xfrm>
            <a:off x="1390650" y="1143000"/>
            <a:ext cx="63627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Summary of Object Properties – Navigation Goto Screen</a:t>
            </a:r>
            <a:endParaRPr/>
          </a:p>
        </p:txBody>
      </p:sp>
      <p:sp>
        <p:nvSpPr>
          <p:cNvPr id="318" name="Google Shape;318;p33"/>
          <p:cNvSpPr txBox="1"/>
          <p:nvPr/>
        </p:nvSpPr>
        <p:spPr>
          <a:xfrm>
            <a:off x="3733801" y="609600"/>
            <a:ext cx="1676399" cy="46166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HMI</a:t>
            </a:r>
            <a:endParaRPr/>
          </a:p>
        </p:txBody>
      </p:sp>
      <p:pic>
        <p:nvPicPr>
          <p:cNvPr descr="Graphical user interface, application&#10;&#10;Description automatically generated" id="319" name="Google Shape;31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7781" y="1490472"/>
            <a:ext cx="3367619" cy="423619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Graphical user interface, application&#10;&#10;Description automatically generated" id="320" name="Google Shape;32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23781" y="1490472"/>
            <a:ext cx="3367619" cy="423619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321" name="Google Shape;321;p33"/>
          <p:cNvSpPr txBox="1"/>
          <p:nvPr/>
        </p:nvSpPr>
        <p:spPr>
          <a:xfrm>
            <a:off x="6372947" y="2230014"/>
            <a:ext cx="2066543" cy="36933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Enter the Caption.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6" name="Google Shape;326;p34"/>
          <p:cNvCxnSpPr/>
          <p:nvPr/>
        </p:nvCxnSpPr>
        <p:spPr>
          <a:xfrm>
            <a:off x="1524000" y="6096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cxnSp>
        <p:nvCxnSpPr>
          <p:cNvPr id="327" name="Google Shape;327;p34"/>
          <p:cNvCxnSpPr/>
          <p:nvPr/>
        </p:nvCxnSpPr>
        <p:spPr>
          <a:xfrm>
            <a:off x="1524000" y="10668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sp>
        <p:nvSpPr>
          <p:cNvPr id="328" name="Google Shape;328;p34"/>
          <p:cNvSpPr txBox="1"/>
          <p:nvPr/>
        </p:nvSpPr>
        <p:spPr>
          <a:xfrm>
            <a:off x="1390650" y="1143000"/>
            <a:ext cx="63627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Summary of Object Properties – Navigation Goto Screen</a:t>
            </a:r>
            <a:endParaRPr/>
          </a:p>
        </p:txBody>
      </p:sp>
      <p:sp>
        <p:nvSpPr>
          <p:cNvPr id="329" name="Google Shape;329;p34"/>
          <p:cNvSpPr txBox="1"/>
          <p:nvPr/>
        </p:nvSpPr>
        <p:spPr>
          <a:xfrm>
            <a:off x="3733801" y="609600"/>
            <a:ext cx="1676399" cy="46166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HMI</a:t>
            </a:r>
            <a:endParaRPr/>
          </a:p>
        </p:txBody>
      </p:sp>
      <p:pic>
        <p:nvPicPr>
          <p:cNvPr descr="Graphical user interface, application&#10;&#10;Description automatically generated" id="330" name="Google Shape;33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7360" y="1490472"/>
            <a:ext cx="3367619" cy="423619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Text&#10;&#10;Description automatically generated" id="331" name="Google Shape;331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40880" y="2651760"/>
            <a:ext cx="866667" cy="580952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332" name="Google Shape;332;p34"/>
          <p:cNvSpPr txBox="1"/>
          <p:nvPr/>
        </p:nvSpPr>
        <p:spPr>
          <a:xfrm>
            <a:off x="4038600" y="1827014"/>
            <a:ext cx="2133600" cy="36933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 Appearance</a:t>
            </a:r>
            <a:endParaRPr/>
          </a:p>
        </p:txBody>
      </p:sp>
      <p:sp>
        <p:nvSpPr>
          <p:cNvPr id="333" name="Google Shape;333;p34"/>
          <p:cNvSpPr txBox="1"/>
          <p:nvPr/>
        </p:nvSpPr>
        <p:spPr>
          <a:xfrm>
            <a:off x="2813381" y="3638338"/>
            <a:ext cx="2663350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 Display Settings </a:t>
            </a:r>
            <a:r>
              <a:rPr i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screen to goto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334" name="Google Shape;334;p34"/>
          <p:cNvSpPr txBox="1"/>
          <p:nvPr/>
        </p:nvSpPr>
        <p:spPr>
          <a:xfrm>
            <a:off x="6019800" y="3429000"/>
            <a:ext cx="289559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button is on Operator Panel 2 and will cause Operator Panel 1, Main,  to be displayed.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9" name="Google Shape;339;p35"/>
          <p:cNvCxnSpPr/>
          <p:nvPr/>
        </p:nvCxnSpPr>
        <p:spPr>
          <a:xfrm>
            <a:off x="1524000" y="6096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cxnSp>
        <p:nvCxnSpPr>
          <p:cNvPr id="340" name="Google Shape;340;p35"/>
          <p:cNvCxnSpPr/>
          <p:nvPr/>
        </p:nvCxnSpPr>
        <p:spPr>
          <a:xfrm>
            <a:off x="1524000" y="10668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sp>
        <p:nvSpPr>
          <p:cNvPr id="341" name="Google Shape;341;p35"/>
          <p:cNvSpPr txBox="1"/>
          <p:nvPr/>
        </p:nvSpPr>
        <p:spPr>
          <a:xfrm>
            <a:off x="1390650" y="1143000"/>
            <a:ext cx="63627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Summary of Object Properties – Navigation Goto Screen</a:t>
            </a:r>
            <a:endParaRPr/>
          </a:p>
        </p:txBody>
      </p:sp>
      <p:sp>
        <p:nvSpPr>
          <p:cNvPr id="342" name="Google Shape;342;p35"/>
          <p:cNvSpPr txBox="1"/>
          <p:nvPr/>
        </p:nvSpPr>
        <p:spPr>
          <a:xfrm>
            <a:off x="3733801" y="609600"/>
            <a:ext cx="1676399" cy="46166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HMI</a:t>
            </a:r>
            <a:endParaRPr/>
          </a:p>
        </p:txBody>
      </p:sp>
      <p:pic>
        <p:nvPicPr>
          <p:cNvPr descr="Graphical user interface, application&#10;&#10;Description automatically generated" id="343" name="Google Shape;34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7360" y="1490472"/>
            <a:ext cx="3367619" cy="423619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Graphical user interface, application&#10;&#10;Description automatically generated" id="344" name="Google Shape;344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23360" y="1490472"/>
            <a:ext cx="3367619" cy="423619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345" name="Google Shape;345;p35"/>
          <p:cNvSpPr txBox="1"/>
          <p:nvPr/>
        </p:nvSpPr>
        <p:spPr>
          <a:xfrm>
            <a:off x="6372947" y="2230014"/>
            <a:ext cx="2066543" cy="36933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Enter the Caption.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0" name="Google Shape;350;p36"/>
          <p:cNvCxnSpPr/>
          <p:nvPr/>
        </p:nvCxnSpPr>
        <p:spPr>
          <a:xfrm>
            <a:off x="1524000" y="6096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cxnSp>
        <p:nvCxnSpPr>
          <p:cNvPr id="351" name="Google Shape;351;p36"/>
          <p:cNvCxnSpPr/>
          <p:nvPr/>
        </p:nvCxnSpPr>
        <p:spPr>
          <a:xfrm>
            <a:off x="1524000" y="10668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sp>
        <p:nvSpPr>
          <p:cNvPr id="352" name="Google Shape;352;p36"/>
          <p:cNvSpPr txBox="1"/>
          <p:nvPr/>
        </p:nvSpPr>
        <p:spPr>
          <a:xfrm>
            <a:off x="1809750" y="1143000"/>
            <a:ext cx="55245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Summary of Object Properties – Numeric Display</a:t>
            </a:r>
            <a:endParaRPr/>
          </a:p>
        </p:txBody>
      </p:sp>
      <p:sp>
        <p:nvSpPr>
          <p:cNvPr id="353" name="Google Shape;353;p36"/>
          <p:cNvSpPr txBox="1"/>
          <p:nvPr/>
        </p:nvSpPr>
        <p:spPr>
          <a:xfrm>
            <a:off x="3733801" y="609600"/>
            <a:ext cx="1676399" cy="46166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HMI</a:t>
            </a:r>
            <a:endParaRPr/>
          </a:p>
        </p:txBody>
      </p:sp>
      <p:pic>
        <p:nvPicPr>
          <p:cNvPr descr="Graphical user interface, application&#10;&#10;Description automatically generated" id="354" name="Google Shape;35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7360" y="1490472"/>
            <a:ext cx="3367619" cy="42361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phone&#10;&#10;Description automatically generated with medium confidence" id="355" name="Google Shape;355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32750" y="1875741"/>
            <a:ext cx="2038095" cy="2904762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356" name="Google Shape;356;p36"/>
          <p:cNvSpPr/>
          <p:nvPr/>
        </p:nvSpPr>
        <p:spPr>
          <a:xfrm>
            <a:off x="7467600" y="3468994"/>
            <a:ext cx="609600" cy="304794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0C0C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36"/>
          <p:cNvSpPr/>
          <p:nvPr/>
        </p:nvSpPr>
        <p:spPr>
          <a:xfrm>
            <a:off x="7467600" y="4206225"/>
            <a:ext cx="609600" cy="304794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0C0C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36"/>
          <p:cNvSpPr txBox="1"/>
          <p:nvPr/>
        </p:nvSpPr>
        <p:spPr>
          <a:xfrm>
            <a:off x="3405031" y="1691075"/>
            <a:ext cx="2133600" cy="36933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 Appearance</a:t>
            </a:r>
            <a:endParaRPr/>
          </a:p>
        </p:txBody>
      </p:sp>
      <p:sp>
        <p:nvSpPr>
          <p:cNvPr id="359" name="Google Shape;359;p36"/>
          <p:cNvSpPr txBox="1"/>
          <p:nvPr/>
        </p:nvSpPr>
        <p:spPr>
          <a:xfrm>
            <a:off x="732565" y="4721197"/>
            <a:ext cx="3124200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 the number and format of digits to display.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4" name="Google Shape;364;p37"/>
          <p:cNvCxnSpPr/>
          <p:nvPr/>
        </p:nvCxnSpPr>
        <p:spPr>
          <a:xfrm>
            <a:off x="1524000" y="6096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cxnSp>
        <p:nvCxnSpPr>
          <p:cNvPr id="365" name="Google Shape;365;p37"/>
          <p:cNvCxnSpPr/>
          <p:nvPr/>
        </p:nvCxnSpPr>
        <p:spPr>
          <a:xfrm>
            <a:off x="1524000" y="10668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sp>
        <p:nvSpPr>
          <p:cNvPr id="366" name="Google Shape;366;p37"/>
          <p:cNvSpPr txBox="1"/>
          <p:nvPr/>
        </p:nvSpPr>
        <p:spPr>
          <a:xfrm>
            <a:off x="1809750" y="1143000"/>
            <a:ext cx="55245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Summary of Object Properties – Numeric Display</a:t>
            </a:r>
            <a:endParaRPr/>
          </a:p>
        </p:txBody>
      </p:sp>
      <p:sp>
        <p:nvSpPr>
          <p:cNvPr id="367" name="Google Shape;367;p37"/>
          <p:cNvSpPr txBox="1"/>
          <p:nvPr/>
        </p:nvSpPr>
        <p:spPr>
          <a:xfrm>
            <a:off x="3733801" y="609600"/>
            <a:ext cx="1676399" cy="46166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HMI</a:t>
            </a:r>
            <a:endParaRPr/>
          </a:p>
        </p:txBody>
      </p:sp>
      <p:pic>
        <p:nvPicPr>
          <p:cNvPr descr="Graphical user interface, application&#10;&#10;Description automatically generated" id="368" name="Google Shape;36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7360" y="1490472"/>
            <a:ext cx="3367619" cy="42361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phical user interface, application, Word&#10;&#10;Description automatically generated" id="369" name="Google Shape;369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23360" y="1490472"/>
            <a:ext cx="3367619" cy="4236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4" name="Google Shape;374;p38"/>
          <p:cNvCxnSpPr/>
          <p:nvPr/>
        </p:nvCxnSpPr>
        <p:spPr>
          <a:xfrm>
            <a:off x="1524000" y="6096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cxnSp>
        <p:nvCxnSpPr>
          <p:cNvPr id="375" name="Google Shape;375;p38"/>
          <p:cNvCxnSpPr/>
          <p:nvPr/>
        </p:nvCxnSpPr>
        <p:spPr>
          <a:xfrm>
            <a:off x="1524000" y="10668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sp>
        <p:nvSpPr>
          <p:cNvPr id="376" name="Google Shape;376;p38"/>
          <p:cNvSpPr txBox="1"/>
          <p:nvPr/>
        </p:nvSpPr>
        <p:spPr>
          <a:xfrm>
            <a:off x="1809750" y="1143000"/>
            <a:ext cx="55245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Summary of Object Properties – Numeric Display</a:t>
            </a:r>
            <a:endParaRPr/>
          </a:p>
        </p:txBody>
      </p:sp>
      <p:sp>
        <p:nvSpPr>
          <p:cNvPr id="377" name="Google Shape;377;p38"/>
          <p:cNvSpPr txBox="1"/>
          <p:nvPr/>
        </p:nvSpPr>
        <p:spPr>
          <a:xfrm>
            <a:off x="3733801" y="609600"/>
            <a:ext cx="1676399" cy="46166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HMI</a:t>
            </a:r>
            <a:endParaRPr/>
          </a:p>
        </p:txBody>
      </p:sp>
      <p:pic>
        <p:nvPicPr>
          <p:cNvPr descr="Graphical user interface, application, Word&#10;&#10;Description automatically generated" id="378" name="Google Shape;37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23360" y="1490472"/>
            <a:ext cx="3367619" cy="4236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62400" y="2979275"/>
            <a:ext cx="4895238" cy="447619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id="380" name="Google Shape;380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62400" y="4016742"/>
            <a:ext cx="4895238" cy="447619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A screenshot of a phone&#10;&#10;Description automatically generated with medium confidence" id="381" name="Google Shape;381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24000" y="1859804"/>
            <a:ext cx="2038095" cy="2904762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382" name="Google Shape;382;p38"/>
          <p:cNvSpPr txBox="1"/>
          <p:nvPr/>
        </p:nvSpPr>
        <p:spPr>
          <a:xfrm>
            <a:off x="5251708" y="2541759"/>
            <a:ext cx="2616870" cy="307777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Tag for </a:t>
            </a: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 DELAY PRESET</a:t>
            </a:r>
            <a:endParaRPr/>
          </a:p>
        </p:txBody>
      </p:sp>
      <p:sp>
        <p:nvSpPr>
          <p:cNvPr id="383" name="Google Shape;383;p38"/>
          <p:cNvSpPr txBox="1"/>
          <p:nvPr/>
        </p:nvSpPr>
        <p:spPr>
          <a:xfrm>
            <a:off x="5409572" y="3599506"/>
            <a:ext cx="2301143" cy="307777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Tag for </a:t>
            </a: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CURRENT DELAY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8" name="Google Shape;388;p39"/>
          <p:cNvCxnSpPr/>
          <p:nvPr/>
        </p:nvCxnSpPr>
        <p:spPr>
          <a:xfrm>
            <a:off x="1524000" y="6096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cxnSp>
        <p:nvCxnSpPr>
          <p:cNvPr id="389" name="Google Shape;389;p39"/>
          <p:cNvCxnSpPr/>
          <p:nvPr/>
        </p:nvCxnSpPr>
        <p:spPr>
          <a:xfrm>
            <a:off x="1524000" y="10668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sp>
        <p:nvSpPr>
          <p:cNvPr id="390" name="Google Shape;390;p39"/>
          <p:cNvSpPr txBox="1"/>
          <p:nvPr/>
        </p:nvSpPr>
        <p:spPr>
          <a:xfrm>
            <a:off x="1809750" y="1143000"/>
            <a:ext cx="55245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Summary of Object Properties – Numeric Display</a:t>
            </a:r>
            <a:endParaRPr/>
          </a:p>
        </p:txBody>
      </p:sp>
      <p:sp>
        <p:nvSpPr>
          <p:cNvPr id="391" name="Google Shape;391;p39"/>
          <p:cNvSpPr txBox="1"/>
          <p:nvPr/>
        </p:nvSpPr>
        <p:spPr>
          <a:xfrm>
            <a:off x="3733801" y="609600"/>
            <a:ext cx="1676399" cy="46166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HMI</a:t>
            </a:r>
            <a:endParaRPr/>
          </a:p>
        </p:txBody>
      </p:sp>
      <p:pic>
        <p:nvPicPr>
          <p:cNvPr id="392" name="Google Shape;39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2820" y="3425456"/>
            <a:ext cx="5384762" cy="492381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id="393" name="Google Shape;393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92820" y="4462923"/>
            <a:ext cx="5384762" cy="492381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A screenshot of a phone&#10;&#10;Description automatically generated with medium confidence" id="394" name="Google Shape;394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800" y="2438400"/>
            <a:ext cx="2038095" cy="2904762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395" name="Google Shape;395;p39"/>
          <p:cNvSpPr txBox="1"/>
          <p:nvPr/>
        </p:nvSpPr>
        <p:spPr>
          <a:xfrm>
            <a:off x="3178928" y="3059669"/>
            <a:ext cx="26168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Tag for </a:t>
            </a: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 DELAY PRESET</a:t>
            </a:r>
            <a:endParaRPr/>
          </a:p>
        </p:txBody>
      </p:sp>
      <p:sp>
        <p:nvSpPr>
          <p:cNvPr id="396" name="Google Shape;396;p39"/>
          <p:cNvSpPr txBox="1"/>
          <p:nvPr/>
        </p:nvSpPr>
        <p:spPr>
          <a:xfrm>
            <a:off x="3336792" y="4123492"/>
            <a:ext cx="230114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Tag for </a:t>
            </a: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CURRENT DELAY</a:t>
            </a:r>
            <a:endParaRPr/>
          </a:p>
        </p:txBody>
      </p:sp>
      <p:pic>
        <p:nvPicPr>
          <p:cNvPr descr="A picture containing diagram&#10;&#10;Description automatically generated" id="397" name="Google Shape;397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20439" y="2861587"/>
            <a:ext cx="2714286" cy="2523809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398" name="Google Shape;398;p39"/>
          <p:cNvSpPr txBox="1"/>
          <p:nvPr/>
        </p:nvSpPr>
        <p:spPr>
          <a:xfrm>
            <a:off x="685800" y="1600200"/>
            <a:ext cx="76962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Divide (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)Instruction changes the Timer’s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Preset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Accumulated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value to </a:t>
            </a:r>
            <a:r>
              <a:rPr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actual time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Numeric Display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objects. 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, application&#10;&#10;Description automatically generated" id="403" name="Google Shape;40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1492716"/>
            <a:ext cx="3367619" cy="423619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cxnSp>
        <p:nvCxnSpPr>
          <p:cNvPr id="404" name="Google Shape;404;p40"/>
          <p:cNvCxnSpPr/>
          <p:nvPr/>
        </p:nvCxnSpPr>
        <p:spPr>
          <a:xfrm>
            <a:off x="1524000" y="6096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cxnSp>
        <p:nvCxnSpPr>
          <p:cNvPr id="405" name="Google Shape;405;p40"/>
          <p:cNvCxnSpPr/>
          <p:nvPr/>
        </p:nvCxnSpPr>
        <p:spPr>
          <a:xfrm>
            <a:off x="1524000" y="10668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sp>
        <p:nvSpPr>
          <p:cNvPr id="406" name="Google Shape;406;p40"/>
          <p:cNvSpPr txBox="1"/>
          <p:nvPr/>
        </p:nvSpPr>
        <p:spPr>
          <a:xfrm>
            <a:off x="1938338" y="1143000"/>
            <a:ext cx="52673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Summary of Object Properties – Numeric Input</a:t>
            </a:r>
            <a:endParaRPr/>
          </a:p>
        </p:txBody>
      </p:sp>
      <p:sp>
        <p:nvSpPr>
          <p:cNvPr id="407" name="Google Shape;407;p40"/>
          <p:cNvSpPr txBox="1"/>
          <p:nvPr/>
        </p:nvSpPr>
        <p:spPr>
          <a:xfrm>
            <a:off x="3733801" y="609600"/>
            <a:ext cx="1676399" cy="46166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HMI</a:t>
            </a:r>
            <a:endParaRPr/>
          </a:p>
        </p:txBody>
      </p:sp>
      <p:sp>
        <p:nvSpPr>
          <p:cNvPr id="408" name="Google Shape;408;p40"/>
          <p:cNvSpPr txBox="1"/>
          <p:nvPr/>
        </p:nvSpPr>
        <p:spPr>
          <a:xfrm>
            <a:off x="4495800" y="2983468"/>
            <a:ext cx="3993401" cy="36933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Enter the properties for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Appearance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409" name="Google Shape;409;p40"/>
          <p:cNvSpPr txBox="1"/>
          <p:nvPr/>
        </p:nvSpPr>
        <p:spPr>
          <a:xfrm>
            <a:off x="4495800" y="3505200"/>
            <a:ext cx="4091698" cy="36933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Enter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properties for the numbers.</a:t>
            </a:r>
            <a:endParaRPr/>
          </a:p>
        </p:txBody>
      </p:sp>
      <p:sp>
        <p:nvSpPr>
          <p:cNvPr id="410" name="Google Shape;410;p40"/>
          <p:cNvSpPr/>
          <p:nvPr/>
        </p:nvSpPr>
        <p:spPr>
          <a:xfrm>
            <a:off x="967859" y="1970287"/>
            <a:ext cx="3153508" cy="120748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40"/>
          <p:cNvSpPr/>
          <p:nvPr/>
        </p:nvSpPr>
        <p:spPr>
          <a:xfrm>
            <a:off x="967859" y="3218654"/>
            <a:ext cx="3153508" cy="842228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raphical user interface&#10;&#10;Description automatically generated" id="412" name="Google Shape;412;p40"/>
          <p:cNvPicPr preferRelativeResize="0"/>
          <p:nvPr/>
        </p:nvPicPr>
        <p:blipFill rotWithShape="1">
          <a:blip r:embed="rId4">
            <a:alphaModFix/>
          </a:blip>
          <a:srcRect b="9701" l="40193" r="3061" t="23623"/>
          <a:stretch/>
        </p:blipFill>
        <p:spPr>
          <a:xfrm>
            <a:off x="5486400" y="1600200"/>
            <a:ext cx="1828800" cy="11430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, application&#10;&#10;Description automatically generated" id="417" name="Google Shape;41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1490472"/>
            <a:ext cx="3367619" cy="423619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cxnSp>
        <p:nvCxnSpPr>
          <p:cNvPr id="418" name="Google Shape;418;p41"/>
          <p:cNvCxnSpPr/>
          <p:nvPr/>
        </p:nvCxnSpPr>
        <p:spPr>
          <a:xfrm>
            <a:off x="1524000" y="6096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cxnSp>
        <p:nvCxnSpPr>
          <p:cNvPr id="419" name="Google Shape;419;p41"/>
          <p:cNvCxnSpPr/>
          <p:nvPr/>
        </p:nvCxnSpPr>
        <p:spPr>
          <a:xfrm>
            <a:off x="1524000" y="10668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sp>
        <p:nvSpPr>
          <p:cNvPr id="420" name="Google Shape;420;p41"/>
          <p:cNvSpPr txBox="1"/>
          <p:nvPr/>
        </p:nvSpPr>
        <p:spPr>
          <a:xfrm>
            <a:off x="3733801" y="609600"/>
            <a:ext cx="1676399" cy="46166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HMI</a:t>
            </a:r>
            <a:endParaRPr/>
          </a:p>
        </p:txBody>
      </p:sp>
      <p:sp>
        <p:nvSpPr>
          <p:cNvPr id="421" name="Google Shape;421;p41"/>
          <p:cNvSpPr txBox="1"/>
          <p:nvPr/>
        </p:nvSpPr>
        <p:spPr>
          <a:xfrm>
            <a:off x="4627830" y="2145268"/>
            <a:ext cx="3211135" cy="36933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data entry type device.</a:t>
            </a:r>
            <a:endParaRPr/>
          </a:p>
        </p:txBody>
      </p:sp>
      <p:sp>
        <p:nvSpPr>
          <p:cNvPr id="422" name="Google Shape;422;p41"/>
          <p:cNvSpPr txBox="1"/>
          <p:nvPr/>
        </p:nvSpPr>
        <p:spPr>
          <a:xfrm>
            <a:off x="4627830" y="2886819"/>
            <a:ext cx="3916457" cy="36933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Note: </a:t>
            </a:r>
            <a:r>
              <a:rPr i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this lab no limits will be set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423" name="Google Shape;423;p41"/>
          <p:cNvSpPr/>
          <p:nvPr/>
        </p:nvSpPr>
        <p:spPr>
          <a:xfrm>
            <a:off x="967859" y="2018923"/>
            <a:ext cx="3153508" cy="588476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41"/>
          <p:cNvSpPr/>
          <p:nvPr/>
        </p:nvSpPr>
        <p:spPr>
          <a:xfrm>
            <a:off x="967858" y="2752253"/>
            <a:ext cx="3160521" cy="638464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41"/>
          <p:cNvSpPr txBox="1"/>
          <p:nvPr/>
        </p:nvSpPr>
        <p:spPr>
          <a:xfrm>
            <a:off x="1938338" y="1143000"/>
            <a:ext cx="52673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Summary of Object Properties – Numeric Input</a:t>
            </a:r>
            <a:endParaRPr/>
          </a:p>
        </p:txBody>
      </p:sp>
      <p:sp>
        <p:nvSpPr>
          <p:cNvPr id="426" name="Google Shape;426;p41"/>
          <p:cNvSpPr/>
          <p:nvPr/>
        </p:nvSpPr>
        <p:spPr>
          <a:xfrm>
            <a:off x="957340" y="4663080"/>
            <a:ext cx="3160521" cy="638464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41"/>
          <p:cNvSpPr txBox="1"/>
          <p:nvPr/>
        </p:nvSpPr>
        <p:spPr>
          <a:xfrm>
            <a:off x="4572000" y="4655213"/>
            <a:ext cx="4114800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 the number and format of digits to display.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able&#10;&#10;Description automatically generated" id="432" name="Google Shape;43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1490472"/>
            <a:ext cx="3367619" cy="42361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3" name="Google Shape;433;p42"/>
          <p:cNvCxnSpPr/>
          <p:nvPr/>
        </p:nvCxnSpPr>
        <p:spPr>
          <a:xfrm>
            <a:off x="1524000" y="6096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cxnSp>
        <p:nvCxnSpPr>
          <p:cNvPr id="434" name="Google Shape;434;p42"/>
          <p:cNvCxnSpPr/>
          <p:nvPr/>
        </p:nvCxnSpPr>
        <p:spPr>
          <a:xfrm>
            <a:off x="1524000" y="10668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sp>
        <p:nvSpPr>
          <p:cNvPr id="435" name="Google Shape;435;p42"/>
          <p:cNvSpPr txBox="1"/>
          <p:nvPr/>
        </p:nvSpPr>
        <p:spPr>
          <a:xfrm>
            <a:off x="3733801" y="609600"/>
            <a:ext cx="1676399" cy="46166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HMI</a:t>
            </a:r>
            <a:endParaRPr/>
          </a:p>
        </p:txBody>
      </p:sp>
      <p:sp>
        <p:nvSpPr>
          <p:cNvPr id="436" name="Google Shape;436;p42"/>
          <p:cNvSpPr txBox="1"/>
          <p:nvPr/>
        </p:nvSpPr>
        <p:spPr>
          <a:xfrm>
            <a:off x="4409782" y="1981200"/>
            <a:ext cx="4429418" cy="36933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Enter 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Connections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shortcut data tag.</a:t>
            </a:r>
            <a:endParaRPr/>
          </a:p>
        </p:txBody>
      </p:sp>
      <p:sp>
        <p:nvSpPr>
          <p:cNvPr id="437" name="Google Shape;437;p42"/>
          <p:cNvSpPr/>
          <p:nvPr/>
        </p:nvSpPr>
        <p:spPr>
          <a:xfrm>
            <a:off x="864158" y="1981200"/>
            <a:ext cx="3291383" cy="300273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42"/>
          <p:cNvSpPr txBox="1"/>
          <p:nvPr/>
        </p:nvSpPr>
        <p:spPr>
          <a:xfrm>
            <a:off x="1938338" y="1143000"/>
            <a:ext cx="52673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Summary of Object Properties – Numeric Input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3" name="Google Shape;443;p43"/>
          <p:cNvCxnSpPr/>
          <p:nvPr/>
        </p:nvCxnSpPr>
        <p:spPr>
          <a:xfrm>
            <a:off x="1524000" y="6096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cxnSp>
        <p:nvCxnSpPr>
          <p:cNvPr id="444" name="Google Shape;444;p43"/>
          <p:cNvCxnSpPr/>
          <p:nvPr/>
        </p:nvCxnSpPr>
        <p:spPr>
          <a:xfrm>
            <a:off x="1524000" y="10668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sp>
        <p:nvSpPr>
          <p:cNvPr id="445" name="Google Shape;445;p43"/>
          <p:cNvSpPr txBox="1"/>
          <p:nvPr/>
        </p:nvSpPr>
        <p:spPr>
          <a:xfrm>
            <a:off x="3733801" y="609600"/>
            <a:ext cx="1676399" cy="46166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HMI</a:t>
            </a:r>
            <a:endParaRPr/>
          </a:p>
        </p:txBody>
      </p:sp>
      <p:sp>
        <p:nvSpPr>
          <p:cNvPr id="446" name="Google Shape;446;p43"/>
          <p:cNvSpPr txBox="1"/>
          <p:nvPr/>
        </p:nvSpPr>
        <p:spPr>
          <a:xfrm>
            <a:off x="5020885" y="2209800"/>
            <a:ext cx="2565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First Numeric Input Tag</a:t>
            </a:r>
            <a:endParaRPr/>
          </a:p>
        </p:txBody>
      </p:sp>
      <p:sp>
        <p:nvSpPr>
          <p:cNvPr id="447" name="Google Shape;447;p43"/>
          <p:cNvSpPr txBox="1"/>
          <p:nvPr/>
        </p:nvSpPr>
        <p:spPr>
          <a:xfrm>
            <a:off x="4854173" y="3143955"/>
            <a:ext cx="28992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Second Numeric Input Tag</a:t>
            </a:r>
            <a:endParaRPr/>
          </a:p>
        </p:txBody>
      </p:sp>
      <p:sp>
        <p:nvSpPr>
          <p:cNvPr id="448" name="Google Shape;448;p43"/>
          <p:cNvSpPr txBox="1"/>
          <p:nvPr/>
        </p:nvSpPr>
        <p:spPr>
          <a:xfrm>
            <a:off x="4982413" y="4058355"/>
            <a:ext cx="2642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Third Numeric Input Tag</a:t>
            </a:r>
            <a:endParaRPr/>
          </a:p>
        </p:txBody>
      </p:sp>
      <p:sp>
        <p:nvSpPr>
          <p:cNvPr id="449" name="Google Shape;449;p43"/>
          <p:cNvSpPr txBox="1"/>
          <p:nvPr/>
        </p:nvSpPr>
        <p:spPr>
          <a:xfrm>
            <a:off x="1938338" y="1143000"/>
            <a:ext cx="52673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Summary of Object Properties – Numeric Input</a:t>
            </a:r>
            <a:endParaRPr/>
          </a:p>
        </p:txBody>
      </p:sp>
      <p:pic>
        <p:nvPicPr>
          <p:cNvPr descr="Table&#10;&#10;Description automatically generated" id="450" name="Google Shape;450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1490472"/>
            <a:ext cx="3367619" cy="423619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43"/>
          <p:cNvSpPr/>
          <p:nvPr/>
        </p:nvSpPr>
        <p:spPr>
          <a:xfrm>
            <a:off x="864158" y="1981200"/>
            <a:ext cx="3291383" cy="300273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2" name="Google Shape;452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33800" y="4437004"/>
            <a:ext cx="5140000" cy="4700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id="453" name="Google Shape;453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33800" y="2637733"/>
            <a:ext cx="5140000" cy="4700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id="454" name="Google Shape;454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33800" y="3518604"/>
            <a:ext cx="5140000" cy="4700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Graphical user interface&#10;&#10;Description automatically generated" id="455" name="Google Shape;455;p4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4800" y="3086051"/>
            <a:ext cx="3222857" cy="1714286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0" name="Google Shape;460;p44"/>
          <p:cNvCxnSpPr/>
          <p:nvPr/>
        </p:nvCxnSpPr>
        <p:spPr>
          <a:xfrm>
            <a:off x="1524000" y="6096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cxnSp>
        <p:nvCxnSpPr>
          <p:cNvPr id="461" name="Google Shape;461;p44"/>
          <p:cNvCxnSpPr/>
          <p:nvPr/>
        </p:nvCxnSpPr>
        <p:spPr>
          <a:xfrm>
            <a:off x="1524000" y="10668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sp>
        <p:nvSpPr>
          <p:cNvPr id="462" name="Google Shape;462;p44"/>
          <p:cNvSpPr txBox="1"/>
          <p:nvPr/>
        </p:nvSpPr>
        <p:spPr>
          <a:xfrm>
            <a:off x="3733801" y="609600"/>
            <a:ext cx="1676399" cy="46166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HMI</a:t>
            </a:r>
            <a:endParaRPr/>
          </a:p>
        </p:txBody>
      </p:sp>
      <p:sp>
        <p:nvSpPr>
          <p:cNvPr id="463" name="Google Shape;463;p44"/>
          <p:cNvSpPr txBox="1"/>
          <p:nvPr/>
        </p:nvSpPr>
        <p:spPr>
          <a:xfrm>
            <a:off x="3920223" y="2507447"/>
            <a:ext cx="2565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First Numeric Input Tag</a:t>
            </a:r>
            <a:endParaRPr/>
          </a:p>
        </p:txBody>
      </p:sp>
      <p:sp>
        <p:nvSpPr>
          <p:cNvPr id="464" name="Google Shape;464;p44"/>
          <p:cNvSpPr txBox="1"/>
          <p:nvPr/>
        </p:nvSpPr>
        <p:spPr>
          <a:xfrm>
            <a:off x="3753511" y="3441602"/>
            <a:ext cx="28992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Second Numeric Input Tag</a:t>
            </a:r>
            <a:endParaRPr/>
          </a:p>
        </p:txBody>
      </p:sp>
      <p:sp>
        <p:nvSpPr>
          <p:cNvPr id="465" name="Google Shape;465;p44"/>
          <p:cNvSpPr txBox="1"/>
          <p:nvPr/>
        </p:nvSpPr>
        <p:spPr>
          <a:xfrm>
            <a:off x="3881751" y="4356002"/>
            <a:ext cx="2642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Third Numeric Input Tag</a:t>
            </a:r>
            <a:endParaRPr/>
          </a:p>
        </p:txBody>
      </p:sp>
      <p:sp>
        <p:nvSpPr>
          <p:cNvPr id="466" name="Google Shape;466;p44"/>
          <p:cNvSpPr txBox="1"/>
          <p:nvPr/>
        </p:nvSpPr>
        <p:spPr>
          <a:xfrm>
            <a:off x="1938338" y="1143000"/>
            <a:ext cx="52673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Summary of Object Properties – Numeric Input</a:t>
            </a:r>
            <a:endParaRPr/>
          </a:p>
        </p:txBody>
      </p:sp>
      <p:pic>
        <p:nvPicPr>
          <p:cNvPr id="467" name="Google Shape;467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0757" y="4734651"/>
            <a:ext cx="5384762" cy="492381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id="468" name="Google Shape;468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10757" y="2935380"/>
            <a:ext cx="5384762" cy="492381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id="469" name="Google Shape;469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10757" y="3816251"/>
            <a:ext cx="5384762" cy="492381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Diagram&#10;&#10;Description automatically generated" id="470" name="Google Shape;470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99641" y="2048800"/>
            <a:ext cx="1860000" cy="35900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471" name="Google Shape;471;p44"/>
          <p:cNvSpPr txBox="1"/>
          <p:nvPr/>
        </p:nvSpPr>
        <p:spPr>
          <a:xfrm>
            <a:off x="381000" y="1570933"/>
            <a:ext cx="73152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Numeric Input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objects are used to enter the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Source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value used by the Move (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instruction for the Timer’s Preset.</a:t>
            </a:r>
            <a:endParaRPr/>
          </a:p>
        </p:txBody>
      </p:sp>
      <p:pic>
        <p:nvPicPr>
          <p:cNvPr descr="Graphical user interface&#10;&#10;Description automatically generated" id="472" name="Google Shape;472;p4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8543" y="3219692"/>
            <a:ext cx="3222857" cy="1714286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, application&#10;&#10;Description automatically generated" id="477" name="Google Shape;477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554480"/>
            <a:ext cx="3367619" cy="423619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cxnSp>
        <p:nvCxnSpPr>
          <p:cNvPr id="478" name="Google Shape;478;p45"/>
          <p:cNvCxnSpPr/>
          <p:nvPr/>
        </p:nvCxnSpPr>
        <p:spPr>
          <a:xfrm>
            <a:off x="1524000" y="6096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cxnSp>
        <p:nvCxnSpPr>
          <p:cNvPr id="479" name="Google Shape;479;p45"/>
          <p:cNvCxnSpPr/>
          <p:nvPr/>
        </p:nvCxnSpPr>
        <p:spPr>
          <a:xfrm>
            <a:off x="1524000" y="10668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sp>
        <p:nvSpPr>
          <p:cNvPr id="480" name="Google Shape;480;p45"/>
          <p:cNvSpPr txBox="1"/>
          <p:nvPr/>
        </p:nvSpPr>
        <p:spPr>
          <a:xfrm>
            <a:off x="1387053" y="1143000"/>
            <a:ext cx="63698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Summary of Object Properties – Interlocked Pushbutton</a:t>
            </a:r>
            <a:endParaRPr/>
          </a:p>
        </p:txBody>
      </p:sp>
      <p:sp>
        <p:nvSpPr>
          <p:cNvPr id="481" name="Google Shape;481;p45"/>
          <p:cNvSpPr txBox="1"/>
          <p:nvPr/>
        </p:nvSpPr>
        <p:spPr>
          <a:xfrm>
            <a:off x="3733801" y="609600"/>
            <a:ext cx="1676399" cy="46166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HMI</a:t>
            </a:r>
            <a:endParaRPr/>
          </a:p>
        </p:txBody>
      </p:sp>
      <p:sp>
        <p:nvSpPr>
          <p:cNvPr id="482" name="Google Shape;482;p45"/>
          <p:cNvSpPr txBox="1"/>
          <p:nvPr/>
        </p:nvSpPr>
        <p:spPr>
          <a:xfrm>
            <a:off x="4495800" y="2438400"/>
            <a:ext cx="399340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Enter the properties for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Appearance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483" name="Google Shape;483;p45"/>
          <p:cNvSpPr/>
          <p:nvPr/>
        </p:nvSpPr>
        <p:spPr>
          <a:xfrm>
            <a:off x="1066800" y="2029767"/>
            <a:ext cx="3153508" cy="1323033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45"/>
          <p:cNvSpPr txBox="1"/>
          <p:nvPr/>
        </p:nvSpPr>
        <p:spPr>
          <a:xfrm>
            <a:off x="4572001" y="3429000"/>
            <a:ext cx="3810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Enter 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Button Value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each button’s value must be unique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485" name="Google Shape;485;p45"/>
          <p:cNvSpPr/>
          <p:nvPr/>
        </p:nvSpPr>
        <p:spPr>
          <a:xfrm>
            <a:off x="1066800" y="3386295"/>
            <a:ext cx="3153508" cy="622997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, application&#10;&#10;Description automatically generated" id="490" name="Google Shape;490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554480"/>
            <a:ext cx="3367619" cy="423619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cxnSp>
        <p:nvCxnSpPr>
          <p:cNvPr id="491" name="Google Shape;491;p46"/>
          <p:cNvCxnSpPr/>
          <p:nvPr/>
        </p:nvCxnSpPr>
        <p:spPr>
          <a:xfrm>
            <a:off x="1524000" y="6096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cxnSp>
        <p:nvCxnSpPr>
          <p:cNvPr id="492" name="Google Shape;492;p46"/>
          <p:cNvCxnSpPr/>
          <p:nvPr/>
        </p:nvCxnSpPr>
        <p:spPr>
          <a:xfrm>
            <a:off x="1524000" y="10668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sp>
        <p:nvSpPr>
          <p:cNvPr id="493" name="Google Shape;493;p46"/>
          <p:cNvSpPr txBox="1"/>
          <p:nvPr/>
        </p:nvSpPr>
        <p:spPr>
          <a:xfrm>
            <a:off x="1828800" y="1143000"/>
            <a:ext cx="5486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New Object Properties – Interlocked Pushbutton</a:t>
            </a:r>
            <a:endParaRPr/>
          </a:p>
        </p:txBody>
      </p:sp>
      <p:sp>
        <p:nvSpPr>
          <p:cNvPr id="494" name="Google Shape;494;p46"/>
          <p:cNvSpPr txBox="1"/>
          <p:nvPr/>
        </p:nvSpPr>
        <p:spPr>
          <a:xfrm>
            <a:off x="3733801" y="609600"/>
            <a:ext cx="1676399" cy="46166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HMI</a:t>
            </a:r>
            <a:endParaRPr/>
          </a:p>
        </p:txBody>
      </p:sp>
      <p:sp>
        <p:nvSpPr>
          <p:cNvPr id="495" name="Google Shape;495;p46"/>
          <p:cNvSpPr txBox="1"/>
          <p:nvPr/>
        </p:nvSpPr>
        <p:spPr>
          <a:xfrm>
            <a:off x="4648200" y="2209800"/>
            <a:ext cx="300595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Enter 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 0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properties</a:t>
            </a:r>
            <a:endParaRPr/>
          </a:p>
        </p:txBody>
      </p:sp>
      <p:sp>
        <p:nvSpPr>
          <p:cNvPr id="496" name="Google Shape;496;p46"/>
          <p:cNvSpPr/>
          <p:nvPr/>
        </p:nvSpPr>
        <p:spPr>
          <a:xfrm>
            <a:off x="1848896" y="2610896"/>
            <a:ext cx="572757" cy="453851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46"/>
          <p:cNvSpPr txBox="1"/>
          <p:nvPr/>
        </p:nvSpPr>
        <p:spPr>
          <a:xfrm>
            <a:off x="4648200" y="2971800"/>
            <a:ext cx="214674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Notice the Caption.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, application&#10;&#10;Description automatically generated" id="502" name="Google Shape;502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554480"/>
            <a:ext cx="3367619" cy="423619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cxnSp>
        <p:nvCxnSpPr>
          <p:cNvPr id="503" name="Google Shape;503;p47"/>
          <p:cNvCxnSpPr/>
          <p:nvPr/>
        </p:nvCxnSpPr>
        <p:spPr>
          <a:xfrm>
            <a:off x="1524000" y="6096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cxnSp>
        <p:nvCxnSpPr>
          <p:cNvPr id="504" name="Google Shape;504;p47"/>
          <p:cNvCxnSpPr/>
          <p:nvPr/>
        </p:nvCxnSpPr>
        <p:spPr>
          <a:xfrm>
            <a:off x="1524000" y="10668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sp>
        <p:nvSpPr>
          <p:cNvPr id="505" name="Google Shape;505;p47"/>
          <p:cNvSpPr txBox="1"/>
          <p:nvPr/>
        </p:nvSpPr>
        <p:spPr>
          <a:xfrm>
            <a:off x="1828800" y="1143000"/>
            <a:ext cx="5486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New Object Properties – Interlocked Pushbutton</a:t>
            </a:r>
            <a:endParaRPr/>
          </a:p>
        </p:txBody>
      </p:sp>
      <p:sp>
        <p:nvSpPr>
          <p:cNvPr id="506" name="Google Shape;506;p47"/>
          <p:cNvSpPr txBox="1"/>
          <p:nvPr/>
        </p:nvSpPr>
        <p:spPr>
          <a:xfrm>
            <a:off x="3733801" y="609600"/>
            <a:ext cx="1676399" cy="46166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HMI</a:t>
            </a:r>
            <a:endParaRPr/>
          </a:p>
        </p:txBody>
      </p:sp>
      <p:sp>
        <p:nvSpPr>
          <p:cNvPr id="507" name="Google Shape;507;p47"/>
          <p:cNvSpPr txBox="1"/>
          <p:nvPr/>
        </p:nvSpPr>
        <p:spPr>
          <a:xfrm>
            <a:off x="4648200" y="2209800"/>
            <a:ext cx="300595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Enter 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 1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properties</a:t>
            </a:r>
            <a:endParaRPr/>
          </a:p>
        </p:txBody>
      </p:sp>
      <p:sp>
        <p:nvSpPr>
          <p:cNvPr id="508" name="Google Shape;508;p47"/>
          <p:cNvSpPr/>
          <p:nvPr/>
        </p:nvSpPr>
        <p:spPr>
          <a:xfrm>
            <a:off x="1848896" y="2610896"/>
            <a:ext cx="572757" cy="453851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47"/>
          <p:cNvSpPr txBox="1"/>
          <p:nvPr/>
        </p:nvSpPr>
        <p:spPr>
          <a:xfrm>
            <a:off x="4648200" y="2971800"/>
            <a:ext cx="214674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Notice the Caption.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, application, Word&#10;&#10;Description automatically generated" id="514" name="Google Shape;51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554480"/>
            <a:ext cx="3367619" cy="423619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cxnSp>
        <p:nvCxnSpPr>
          <p:cNvPr id="515" name="Google Shape;515;p48"/>
          <p:cNvCxnSpPr/>
          <p:nvPr/>
        </p:nvCxnSpPr>
        <p:spPr>
          <a:xfrm>
            <a:off x="1524000" y="6096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cxnSp>
        <p:nvCxnSpPr>
          <p:cNvPr id="516" name="Google Shape;516;p48"/>
          <p:cNvCxnSpPr/>
          <p:nvPr/>
        </p:nvCxnSpPr>
        <p:spPr>
          <a:xfrm>
            <a:off x="1524000" y="10668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sp>
        <p:nvSpPr>
          <p:cNvPr id="517" name="Google Shape;517;p48"/>
          <p:cNvSpPr txBox="1"/>
          <p:nvPr/>
        </p:nvSpPr>
        <p:spPr>
          <a:xfrm>
            <a:off x="1828800" y="1143000"/>
            <a:ext cx="5486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New Object Properties – Interlocked Pushbutton</a:t>
            </a:r>
            <a:endParaRPr/>
          </a:p>
        </p:txBody>
      </p:sp>
      <p:sp>
        <p:nvSpPr>
          <p:cNvPr id="518" name="Google Shape;518;p48"/>
          <p:cNvSpPr txBox="1"/>
          <p:nvPr/>
        </p:nvSpPr>
        <p:spPr>
          <a:xfrm>
            <a:off x="3733801" y="609600"/>
            <a:ext cx="1676399" cy="46166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HMI</a:t>
            </a:r>
            <a:endParaRPr/>
          </a:p>
        </p:txBody>
      </p:sp>
      <p:sp>
        <p:nvSpPr>
          <p:cNvPr id="519" name="Google Shape;519;p48"/>
          <p:cNvSpPr txBox="1"/>
          <p:nvPr/>
        </p:nvSpPr>
        <p:spPr>
          <a:xfrm>
            <a:off x="4572000" y="1981200"/>
            <a:ext cx="39624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Enter 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Connections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Shortcut Data Tag.</a:t>
            </a:r>
            <a:endParaRPr/>
          </a:p>
        </p:txBody>
      </p:sp>
      <p:sp>
        <p:nvSpPr>
          <p:cNvPr id="520" name="Google Shape;520;p48"/>
          <p:cNvSpPr/>
          <p:nvPr/>
        </p:nvSpPr>
        <p:spPr>
          <a:xfrm>
            <a:off x="970384" y="1981200"/>
            <a:ext cx="3256383" cy="339969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, application&#10;&#10;Description automatically generated" id="525" name="Google Shape;525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56179" y="2998140"/>
            <a:ext cx="1942025" cy="2682628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cxnSp>
        <p:nvCxnSpPr>
          <p:cNvPr id="526" name="Google Shape;526;p49"/>
          <p:cNvCxnSpPr/>
          <p:nvPr/>
        </p:nvCxnSpPr>
        <p:spPr>
          <a:xfrm>
            <a:off x="1524000" y="6096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cxnSp>
        <p:nvCxnSpPr>
          <p:cNvPr id="527" name="Google Shape;527;p49"/>
          <p:cNvCxnSpPr/>
          <p:nvPr/>
        </p:nvCxnSpPr>
        <p:spPr>
          <a:xfrm>
            <a:off x="1524000" y="10668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sp>
        <p:nvSpPr>
          <p:cNvPr id="528" name="Google Shape;528;p49"/>
          <p:cNvSpPr txBox="1"/>
          <p:nvPr/>
        </p:nvSpPr>
        <p:spPr>
          <a:xfrm>
            <a:off x="1828800" y="1143000"/>
            <a:ext cx="5486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New Object Properties – Interlocked Pushbutton</a:t>
            </a:r>
            <a:endParaRPr/>
          </a:p>
        </p:txBody>
      </p:sp>
      <p:sp>
        <p:nvSpPr>
          <p:cNvPr id="529" name="Google Shape;529;p49"/>
          <p:cNvSpPr txBox="1"/>
          <p:nvPr/>
        </p:nvSpPr>
        <p:spPr>
          <a:xfrm>
            <a:off x="3733801" y="609600"/>
            <a:ext cx="1676399" cy="46166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HMI</a:t>
            </a:r>
            <a:endParaRPr/>
          </a:p>
        </p:txBody>
      </p:sp>
      <p:sp>
        <p:nvSpPr>
          <p:cNvPr id="530" name="Google Shape;530;p49"/>
          <p:cNvSpPr txBox="1"/>
          <p:nvPr/>
        </p:nvSpPr>
        <p:spPr>
          <a:xfrm>
            <a:off x="4876800" y="1718961"/>
            <a:ext cx="3580907" cy="92333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Notice each of the Interlock Push Buttons have a </a:t>
            </a:r>
            <a:r>
              <a:rPr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unique number value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its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Button Value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descr="A picture containing text, jack, electronics&#10;&#10;Description automatically generated" id="531" name="Google Shape;531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98525" y="2917690"/>
            <a:ext cx="1219048" cy="18952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phical user interface, application&#10;&#10;Description automatically generated" id="532" name="Google Shape;532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82414" y="2295768"/>
            <a:ext cx="1942025" cy="2682628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Graphical user interface, application&#10;&#10;Description automatically generated" id="533" name="Google Shape;533;p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5757" y="1574734"/>
            <a:ext cx="1942025" cy="2682628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534" name="Google Shape;534;p49"/>
          <p:cNvSpPr/>
          <p:nvPr/>
        </p:nvSpPr>
        <p:spPr>
          <a:xfrm>
            <a:off x="824919" y="3855978"/>
            <a:ext cx="457200" cy="25343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49"/>
          <p:cNvSpPr/>
          <p:nvPr/>
        </p:nvSpPr>
        <p:spPr>
          <a:xfrm>
            <a:off x="2209800" y="4587491"/>
            <a:ext cx="457200" cy="25343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49"/>
          <p:cNvSpPr/>
          <p:nvPr/>
        </p:nvSpPr>
        <p:spPr>
          <a:xfrm>
            <a:off x="3581400" y="5290194"/>
            <a:ext cx="457200" cy="25343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, application, Word&#10;&#10;Description automatically generated" id="541" name="Google Shape;541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554480"/>
            <a:ext cx="3367619" cy="423619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cxnSp>
        <p:nvCxnSpPr>
          <p:cNvPr id="542" name="Google Shape;542;p50"/>
          <p:cNvCxnSpPr/>
          <p:nvPr/>
        </p:nvCxnSpPr>
        <p:spPr>
          <a:xfrm>
            <a:off x="1524000" y="6096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cxnSp>
        <p:nvCxnSpPr>
          <p:cNvPr id="543" name="Google Shape;543;p50"/>
          <p:cNvCxnSpPr/>
          <p:nvPr/>
        </p:nvCxnSpPr>
        <p:spPr>
          <a:xfrm>
            <a:off x="1524000" y="10668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sp>
        <p:nvSpPr>
          <p:cNvPr id="544" name="Google Shape;544;p50"/>
          <p:cNvSpPr txBox="1"/>
          <p:nvPr/>
        </p:nvSpPr>
        <p:spPr>
          <a:xfrm>
            <a:off x="1828800" y="1143000"/>
            <a:ext cx="5486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New Object Properties – Interlocked Pushbutton</a:t>
            </a:r>
            <a:endParaRPr/>
          </a:p>
        </p:txBody>
      </p:sp>
      <p:sp>
        <p:nvSpPr>
          <p:cNvPr id="545" name="Google Shape;545;p50"/>
          <p:cNvSpPr txBox="1"/>
          <p:nvPr/>
        </p:nvSpPr>
        <p:spPr>
          <a:xfrm>
            <a:off x="3733801" y="609600"/>
            <a:ext cx="1676399" cy="46166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HMI</a:t>
            </a:r>
            <a:endParaRPr/>
          </a:p>
        </p:txBody>
      </p:sp>
      <p:sp>
        <p:nvSpPr>
          <p:cNvPr id="546" name="Google Shape;546;p50"/>
          <p:cNvSpPr txBox="1"/>
          <p:nvPr/>
        </p:nvSpPr>
        <p:spPr>
          <a:xfrm>
            <a:off x="4800600" y="3266182"/>
            <a:ext cx="3937293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Interlock Push Buttons are connected to 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data tag.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this lab: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HMI_PB</a:t>
            </a:r>
            <a:endParaRPr/>
          </a:p>
        </p:txBody>
      </p:sp>
      <p:pic>
        <p:nvPicPr>
          <p:cNvPr id="547" name="Google Shape;547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5400" y="2457741"/>
            <a:ext cx="6363809" cy="581905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548" name="Google Shape;548;p50"/>
          <p:cNvSpPr/>
          <p:nvPr/>
        </p:nvSpPr>
        <p:spPr>
          <a:xfrm>
            <a:off x="5029201" y="2670707"/>
            <a:ext cx="914400" cy="339969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3" name="Google Shape;553;p51"/>
          <p:cNvCxnSpPr/>
          <p:nvPr/>
        </p:nvCxnSpPr>
        <p:spPr>
          <a:xfrm>
            <a:off x="1524000" y="6096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cxnSp>
        <p:nvCxnSpPr>
          <p:cNvPr id="554" name="Google Shape;554;p51"/>
          <p:cNvCxnSpPr/>
          <p:nvPr/>
        </p:nvCxnSpPr>
        <p:spPr>
          <a:xfrm>
            <a:off x="1524000" y="10668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sp>
        <p:nvSpPr>
          <p:cNvPr id="555" name="Google Shape;555;p51"/>
          <p:cNvSpPr txBox="1"/>
          <p:nvPr/>
        </p:nvSpPr>
        <p:spPr>
          <a:xfrm>
            <a:off x="1828800" y="1143000"/>
            <a:ext cx="5486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New Object Properties – Interlocked Pushbutton</a:t>
            </a:r>
            <a:endParaRPr/>
          </a:p>
        </p:txBody>
      </p:sp>
      <p:sp>
        <p:nvSpPr>
          <p:cNvPr id="556" name="Google Shape;556;p51"/>
          <p:cNvSpPr txBox="1"/>
          <p:nvPr/>
        </p:nvSpPr>
        <p:spPr>
          <a:xfrm>
            <a:off x="3733801" y="609600"/>
            <a:ext cx="1676399" cy="46166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HMI</a:t>
            </a:r>
            <a:endParaRPr/>
          </a:p>
        </p:txBody>
      </p:sp>
      <p:pic>
        <p:nvPicPr>
          <p:cNvPr descr="C:\documents_1\2140\Presentations\MOVE HMI\Graphics\Intr Panel Buttons.png" id="557" name="Google Shape;557;p51"/>
          <p:cNvPicPr preferRelativeResize="0"/>
          <p:nvPr/>
        </p:nvPicPr>
        <p:blipFill rotWithShape="1">
          <a:blip r:embed="rId3">
            <a:alphaModFix/>
          </a:blip>
          <a:srcRect b="0" l="0" r="0" t="1525"/>
          <a:stretch/>
        </p:blipFill>
        <p:spPr>
          <a:xfrm>
            <a:off x="1100138" y="1828800"/>
            <a:ext cx="1871662" cy="2865455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51"/>
          <p:cNvSpPr txBox="1"/>
          <p:nvPr/>
        </p:nvSpPr>
        <p:spPr>
          <a:xfrm>
            <a:off x="3429000" y="2286000"/>
            <a:ext cx="4953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a Interlocked Push Button is pressed, its value is sent to the tag.</a:t>
            </a:r>
            <a:endParaRPr/>
          </a:p>
        </p:txBody>
      </p:sp>
      <p:sp>
        <p:nvSpPr>
          <p:cNvPr id="559" name="Google Shape;559;p51"/>
          <p:cNvSpPr txBox="1"/>
          <p:nvPr/>
        </p:nvSpPr>
        <p:spPr>
          <a:xfrm>
            <a:off x="3429000" y="3048000"/>
            <a:ext cx="507806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this example, the value of </a:t>
            </a:r>
            <a:r>
              <a:rPr b="1" i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i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sent to the </a:t>
            </a:r>
            <a:r>
              <a:rPr b="1" i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HMI_PB</a:t>
            </a:r>
            <a:r>
              <a:rPr i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tag.</a:t>
            </a:r>
            <a:endParaRPr/>
          </a:p>
        </p:txBody>
      </p:sp>
      <p:sp>
        <p:nvSpPr>
          <p:cNvPr id="560" name="Google Shape;560;p51"/>
          <p:cNvSpPr txBox="1"/>
          <p:nvPr/>
        </p:nvSpPr>
        <p:spPr>
          <a:xfrm>
            <a:off x="3352800" y="4343400"/>
            <a:ext cx="4953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Notice the buttons are inside a Panel objects, the panel is what defines these buttons are interlocked together.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, text&#10;&#10;Description automatically generated" id="565" name="Google Shape;56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715" y="1752600"/>
            <a:ext cx="8228571" cy="3771428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cxnSp>
        <p:nvCxnSpPr>
          <p:cNvPr id="566" name="Google Shape;566;p52"/>
          <p:cNvCxnSpPr/>
          <p:nvPr/>
        </p:nvCxnSpPr>
        <p:spPr>
          <a:xfrm>
            <a:off x="1524000" y="6096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cxnSp>
        <p:nvCxnSpPr>
          <p:cNvPr id="567" name="Google Shape;567;p52"/>
          <p:cNvCxnSpPr/>
          <p:nvPr/>
        </p:nvCxnSpPr>
        <p:spPr>
          <a:xfrm>
            <a:off x="1524000" y="10668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sp>
        <p:nvSpPr>
          <p:cNvPr id="568" name="Google Shape;568;p52"/>
          <p:cNvSpPr txBox="1"/>
          <p:nvPr/>
        </p:nvSpPr>
        <p:spPr>
          <a:xfrm>
            <a:off x="1828800" y="1143000"/>
            <a:ext cx="5486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New Object Properties – Interlocked Pushbutton</a:t>
            </a:r>
            <a:endParaRPr/>
          </a:p>
        </p:txBody>
      </p:sp>
      <p:sp>
        <p:nvSpPr>
          <p:cNvPr id="569" name="Google Shape;569;p52"/>
          <p:cNvSpPr txBox="1"/>
          <p:nvPr/>
        </p:nvSpPr>
        <p:spPr>
          <a:xfrm>
            <a:off x="3733801" y="609600"/>
            <a:ext cx="1676399" cy="46166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HMI</a:t>
            </a:r>
            <a:endParaRPr/>
          </a:p>
        </p:txBody>
      </p:sp>
      <p:sp>
        <p:nvSpPr>
          <p:cNvPr id="570" name="Google Shape;570;p52"/>
          <p:cNvSpPr txBox="1"/>
          <p:nvPr/>
        </p:nvSpPr>
        <p:spPr>
          <a:xfrm>
            <a:off x="3581400" y="2828835"/>
            <a:ext cx="3276600" cy="1200329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EQU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instructions are used to determine the value at the tag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OP_PB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set an associated internal tag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OP_PB_n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571" name="Google Shape;571;p52"/>
          <p:cNvSpPr/>
          <p:nvPr/>
        </p:nvSpPr>
        <p:spPr>
          <a:xfrm rot="-2714069">
            <a:off x="2319637" y="3983030"/>
            <a:ext cx="457200" cy="25343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52"/>
          <p:cNvSpPr/>
          <p:nvPr/>
        </p:nvSpPr>
        <p:spPr>
          <a:xfrm rot="3530139">
            <a:off x="7391400" y="3143539"/>
            <a:ext cx="457200" cy="25343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, text&#10;&#10;Description automatically generated" id="577" name="Google Shape;577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715" y="1752600"/>
            <a:ext cx="8228571" cy="3771428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cxnSp>
        <p:nvCxnSpPr>
          <p:cNvPr id="578" name="Google Shape;578;p53"/>
          <p:cNvCxnSpPr/>
          <p:nvPr/>
        </p:nvCxnSpPr>
        <p:spPr>
          <a:xfrm>
            <a:off x="1524000" y="6096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cxnSp>
        <p:nvCxnSpPr>
          <p:cNvPr id="579" name="Google Shape;579;p53"/>
          <p:cNvCxnSpPr/>
          <p:nvPr/>
        </p:nvCxnSpPr>
        <p:spPr>
          <a:xfrm>
            <a:off x="1524000" y="10668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sp>
        <p:nvSpPr>
          <p:cNvPr id="580" name="Google Shape;580;p53"/>
          <p:cNvSpPr txBox="1"/>
          <p:nvPr/>
        </p:nvSpPr>
        <p:spPr>
          <a:xfrm>
            <a:off x="1828800" y="1143000"/>
            <a:ext cx="5486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New Object Properties – Interlocked Pushbutton</a:t>
            </a:r>
            <a:endParaRPr/>
          </a:p>
        </p:txBody>
      </p:sp>
      <p:sp>
        <p:nvSpPr>
          <p:cNvPr id="581" name="Google Shape;581;p53"/>
          <p:cNvSpPr txBox="1"/>
          <p:nvPr/>
        </p:nvSpPr>
        <p:spPr>
          <a:xfrm>
            <a:off x="3733801" y="609600"/>
            <a:ext cx="1676399" cy="46166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HMI</a:t>
            </a:r>
            <a:endParaRPr/>
          </a:p>
        </p:txBody>
      </p:sp>
      <p:sp>
        <p:nvSpPr>
          <p:cNvPr id="582" name="Google Shape;582;p53"/>
          <p:cNvSpPr txBox="1"/>
          <p:nvPr/>
        </p:nvSpPr>
        <p:spPr>
          <a:xfrm>
            <a:off x="3581400" y="2828835"/>
            <a:ext cx="3276600" cy="1200329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EQU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instructions are used to determine the value at the tag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OP_PB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set an associated internal tag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OP_PB_n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583" name="Google Shape;583;p53"/>
          <p:cNvSpPr txBox="1"/>
          <p:nvPr/>
        </p:nvSpPr>
        <p:spPr>
          <a:xfrm>
            <a:off x="3258770" y="4286538"/>
            <a:ext cx="4132630" cy="1200329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this example the Second Interlocked Pushbutton is pressed. Setting the Internal Boolean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HMI_PB_2 </a:t>
            </a:r>
            <a:r>
              <a:rPr i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record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second button is active. </a:t>
            </a:r>
            <a:endParaRPr/>
          </a:p>
        </p:txBody>
      </p:sp>
      <p:sp>
        <p:nvSpPr>
          <p:cNvPr id="584" name="Google Shape;584;p53"/>
          <p:cNvSpPr/>
          <p:nvPr/>
        </p:nvSpPr>
        <p:spPr>
          <a:xfrm rot="-2714069">
            <a:off x="2319637" y="3983030"/>
            <a:ext cx="457200" cy="25343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53"/>
          <p:cNvSpPr/>
          <p:nvPr/>
        </p:nvSpPr>
        <p:spPr>
          <a:xfrm rot="3530139">
            <a:off x="7391400" y="3143539"/>
            <a:ext cx="457200" cy="25343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, text, application&#10;&#10;Description automatically generated" id="590" name="Google Shape;5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715" y="1542661"/>
            <a:ext cx="8228571" cy="4114286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cxnSp>
        <p:nvCxnSpPr>
          <p:cNvPr id="591" name="Google Shape;591;p54"/>
          <p:cNvCxnSpPr/>
          <p:nvPr/>
        </p:nvCxnSpPr>
        <p:spPr>
          <a:xfrm>
            <a:off x="1524000" y="6096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cxnSp>
        <p:nvCxnSpPr>
          <p:cNvPr id="592" name="Google Shape;592;p54"/>
          <p:cNvCxnSpPr/>
          <p:nvPr/>
        </p:nvCxnSpPr>
        <p:spPr>
          <a:xfrm>
            <a:off x="1524000" y="10668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sp>
        <p:nvSpPr>
          <p:cNvPr id="593" name="Google Shape;593;p54"/>
          <p:cNvSpPr txBox="1"/>
          <p:nvPr/>
        </p:nvSpPr>
        <p:spPr>
          <a:xfrm>
            <a:off x="1828800" y="1143000"/>
            <a:ext cx="5486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New Object Properties – Interlocked Pushbutton</a:t>
            </a:r>
            <a:endParaRPr/>
          </a:p>
        </p:txBody>
      </p:sp>
      <p:sp>
        <p:nvSpPr>
          <p:cNvPr id="594" name="Google Shape;594;p54"/>
          <p:cNvSpPr txBox="1"/>
          <p:nvPr/>
        </p:nvSpPr>
        <p:spPr>
          <a:xfrm>
            <a:off x="3733801" y="609600"/>
            <a:ext cx="1676399" cy="46166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HMI</a:t>
            </a:r>
            <a:endParaRPr/>
          </a:p>
        </p:txBody>
      </p:sp>
      <p:sp>
        <p:nvSpPr>
          <p:cNvPr id="595" name="Google Shape;595;p54"/>
          <p:cNvSpPr txBox="1"/>
          <p:nvPr/>
        </p:nvSpPr>
        <p:spPr>
          <a:xfrm>
            <a:off x="3429000" y="2057400"/>
            <a:ext cx="3048000" cy="1200329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internal tag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OP_PB_n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then used to control the value moved into the timer preset.</a:t>
            </a:r>
            <a:endParaRPr/>
          </a:p>
        </p:txBody>
      </p:sp>
      <p:sp>
        <p:nvSpPr>
          <p:cNvPr id="596" name="Google Shape;596;p54"/>
          <p:cNvSpPr/>
          <p:nvPr/>
        </p:nvSpPr>
        <p:spPr>
          <a:xfrm rot="-2054301">
            <a:off x="1295399" y="4216068"/>
            <a:ext cx="457200" cy="25343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54"/>
          <p:cNvSpPr/>
          <p:nvPr/>
        </p:nvSpPr>
        <p:spPr>
          <a:xfrm rot="-1862855">
            <a:off x="6391053" y="3893769"/>
            <a:ext cx="457200" cy="25343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, text, application&#10;&#10;Description automatically generated" id="602" name="Google Shape;60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715" y="1542661"/>
            <a:ext cx="8228571" cy="4114286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cxnSp>
        <p:nvCxnSpPr>
          <p:cNvPr id="603" name="Google Shape;603;p55"/>
          <p:cNvCxnSpPr/>
          <p:nvPr/>
        </p:nvCxnSpPr>
        <p:spPr>
          <a:xfrm>
            <a:off x="1524000" y="6096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cxnSp>
        <p:nvCxnSpPr>
          <p:cNvPr id="604" name="Google Shape;604;p55"/>
          <p:cNvCxnSpPr/>
          <p:nvPr/>
        </p:nvCxnSpPr>
        <p:spPr>
          <a:xfrm>
            <a:off x="1524000" y="10668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sp>
        <p:nvSpPr>
          <p:cNvPr id="605" name="Google Shape;605;p55"/>
          <p:cNvSpPr txBox="1"/>
          <p:nvPr/>
        </p:nvSpPr>
        <p:spPr>
          <a:xfrm>
            <a:off x="1828800" y="1143000"/>
            <a:ext cx="5486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New Object Properties – Interlocked Pushbutton</a:t>
            </a:r>
            <a:endParaRPr/>
          </a:p>
        </p:txBody>
      </p:sp>
      <p:sp>
        <p:nvSpPr>
          <p:cNvPr id="606" name="Google Shape;606;p55"/>
          <p:cNvSpPr txBox="1"/>
          <p:nvPr/>
        </p:nvSpPr>
        <p:spPr>
          <a:xfrm>
            <a:off x="3733801" y="609600"/>
            <a:ext cx="1676399" cy="46166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HMI</a:t>
            </a:r>
            <a:endParaRPr/>
          </a:p>
        </p:txBody>
      </p:sp>
      <p:sp>
        <p:nvSpPr>
          <p:cNvPr id="607" name="Google Shape;607;p55"/>
          <p:cNvSpPr txBox="1"/>
          <p:nvPr/>
        </p:nvSpPr>
        <p:spPr>
          <a:xfrm>
            <a:off x="3429000" y="2057400"/>
            <a:ext cx="3048000" cy="1200329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internal tag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OP_PB_n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then used to control the value moved into the timer preset.</a:t>
            </a:r>
            <a:endParaRPr/>
          </a:p>
        </p:txBody>
      </p:sp>
      <p:sp>
        <p:nvSpPr>
          <p:cNvPr id="608" name="Google Shape;608;p55"/>
          <p:cNvSpPr/>
          <p:nvPr/>
        </p:nvSpPr>
        <p:spPr>
          <a:xfrm rot="-2054301">
            <a:off x="1295399" y="4216068"/>
            <a:ext cx="457200" cy="25343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55"/>
          <p:cNvSpPr/>
          <p:nvPr/>
        </p:nvSpPr>
        <p:spPr>
          <a:xfrm rot="-1862855">
            <a:off x="6391053" y="3893769"/>
            <a:ext cx="457200" cy="25343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55"/>
          <p:cNvSpPr txBox="1"/>
          <p:nvPr/>
        </p:nvSpPr>
        <p:spPr>
          <a:xfrm>
            <a:off x="1905000" y="4223446"/>
            <a:ext cx="4733315" cy="92333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set Internal Boolean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HMI_PB_2 </a:t>
            </a:r>
            <a:r>
              <a:rPr i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has 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</a:t>
            </a:r>
            <a:r>
              <a:rPr i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instruction copy 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PRE_SET_2 </a:t>
            </a:r>
            <a:r>
              <a:rPr i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value into 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DWELL</a:t>
            </a:r>
            <a:r>
              <a:rPr i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timer’s Preset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.PRE</a:t>
            </a:r>
            <a:r>
              <a:rPr i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, text&#10;&#10;Description automatically generated" id="615" name="Google Shape;615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715" y="1524000"/>
            <a:ext cx="8228571" cy="4114286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cxnSp>
        <p:nvCxnSpPr>
          <p:cNvPr id="616" name="Google Shape;616;p56"/>
          <p:cNvCxnSpPr/>
          <p:nvPr/>
        </p:nvCxnSpPr>
        <p:spPr>
          <a:xfrm>
            <a:off x="1524000" y="6096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cxnSp>
        <p:nvCxnSpPr>
          <p:cNvPr id="617" name="Google Shape;617;p56"/>
          <p:cNvCxnSpPr/>
          <p:nvPr/>
        </p:nvCxnSpPr>
        <p:spPr>
          <a:xfrm>
            <a:off x="1524000" y="10668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sp>
        <p:nvSpPr>
          <p:cNvPr id="618" name="Google Shape;618;p56"/>
          <p:cNvSpPr txBox="1"/>
          <p:nvPr/>
        </p:nvSpPr>
        <p:spPr>
          <a:xfrm>
            <a:off x="1828800" y="1143000"/>
            <a:ext cx="5486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New Object Properties – Interlocked Pushbutton</a:t>
            </a:r>
            <a:endParaRPr/>
          </a:p>
        </p:txBody>
      </p:sp>
      <p:sp>
        <p:nvSpPr>
          <p:cNvPr id="619" name="Google Shape;619;p56"/>
          <p:cNvSpPr txBox="1"/>
          <p:nvPr/>
        </p:nvSpPr>
        <p:spPr>
          <a:xfrm>
            <a:off x="3733801" y="609600"/>
            <a:ext cx="1676399" cy="46166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HMI</a:t>
            </a:r>
            <a:endParaRPr/>
          </a:p>
        </p:txBody>
      </p:sp>
      <p:sp>
        <p:nvSpPr>
          <p:cNvPr id="620" name="Google Shape;620;p56"/>
          <p:cNvSpPr/>
          <p:nvPr/>
        </p:nvSpPr>
        <p:spPr>
          <a:xfrm>
            <a:off x="5867400" y="2747008"/>
            <a:ext cx="457200" cy="25343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56"/>
          <p:cNvSpPr txBox="1"/>
          <p:nvPr/>
        </p:nvSpPr>
        <p:spPr>
          <a:xfrm>
            <a:off x="5334000" y="3733800"/>
            <a:ext cx="2994711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Timer’s Preset is at a value of 15000.</a:t>
            </a:r>
            <a:endParaRPr/>
          </a:p>
        </p:txBody>
      </p:sp>
      <p:pic>
        <p:nvPicPr>
          <p:cNvPr descr="A screenshot of a phone&#10;&#10;Description automatically generated with medium confidence" id="622" name="Google Shape;622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90953" y="2281419"/>
            <a:ext cx="2038095" cy="2904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, text, application, email&#10;&#10;Description automatically generated" id="627" name="Google Shape;627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715" y="1562572"/>
            <a:ext cx="8228571" cy="3771428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cxnSp>
        <p:nvCxnSpPr>
          <p:cNvPr id="628" name="Google Shape;628;p57"/>
          <p:cNvCxnSpPr/>
          <p:nvPr/>
        </p:nvCxnSpPr>
        <p:spPr>
          <a:xfrm>
            <a:off x="1524000" y="6096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cxnSp>
        <p:nvCxnSpPr>
          <p:cNvPr id="629" name="Google Shape;629;p57"/>
          <p:cNvCxnSpPr/>
          <p:nvPr/>
        </p:nvCxnSpPr>
        <p:spPr>
          <a:xfrm>
            <a:off x="1524000" y="10668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sp>
        <p:nvSpPr>
          <p:cNvPr id="630" name="Google Shape;630;p57"/>
          <p:cNvSpPr txBox="1"/>
          <p:nvPr/>
        </p:nvSpPr>
        <p:spPr>
          <a:xfrm>
            <a:off x="3562350" y="1143000"/>
            <a:ext cx="20193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Numeric Display</a:t>
            </a:r>
            <a:endParaRPr/>
          </a:p>
        </p:txBody>
      </p:sp>
      <p:sp>
        <p:nvSpPr>
          <p:cNvPr id="631" name="Google Shape;631;p57"/>
          <p:cNvSpPr txBox="1"/>
          <p:nvPr/>
        </p:nvSpPr>
        <p:spPr>
          <a:xfrm>
            <a:off x="3733801" y="609600"/>
            <a:ext cx="1676399" cy="46166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HMI</a:t>
            </a:r>
            <a:endParaRPr/>
          </a:p>
        </p:txBody>
      </p:sp>
      <p:pic>
        <p:nvPicPr>
          <p:cNvPr descr="C:\documents_1\2140\Presentations\MOVE HMI\Graphics\Numeric Displays.png" id="632" name="Google Shape;632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05000" y="1699477"/>
            <a:ext cx="2038350" cy="2905125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57"/>
          <p:cNvSpPr txBox="1"/>
          <p:nvPr/>
        </p:nvSpPr>
        <p:spPr>
          <a:xfrm>
            <a:off x="1371600" y="4833763"/>
            <a:ext cx="7162285" cy="92333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Math divide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instructions convert the milliseconds of the timer to a standard readable format.  Notice the results need to be placed into holding tags.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, text, application&#10;&#10;Description automatically generated" id="638" name="Google Shape;638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715" y="1582052"/>
            <a:ext cx="8228571" cy="4114286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cxnSp>
        <p:nvCxnSpPr>
          <p:cNvPr id="639" name="Google Shape;639;p58"/>
          <p:cNvCxnSpPr/>
          <p:nvPr/>
        </p:nvCxnSpPr>
        <p:spPr>
          <a:xfrm>
            <a:off x="1524000" y="6096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cxnSp>
        <p:nvCxnSpPr>
          <p:cNvPr id="640" name="Google Shape;640;p58"/>
          <p:cNvCxnSpPr/>
          <p:nvPr/>
        </p:nvCxnSpPr>
        <p:spPr>
          <a:xfrm>
            <a:off x="1524000" y="10668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sp>
        <p:nvSpPr>
          <p:cNvPr id="641" name="Google Shape;641;p58"/>
          <p:cNvSpPr txBox="1"/>
          <p:nvPr/>
        </p:nvSpPr>
        <p:spPr>
          <a:xfrm>
            <a:off x="3771900" y="1143000"/>
            <a:ext cx="1600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HMI Enabled</a:t>
            </a:r>
            <a:endParaRPr/>
          </a:p>
        </p:txBody>
      </p:sp>
      <p:sp>
        <p:nvSpPr>
          <p:cNvPr id="642" name="Google Shape;642;p58"/>
          <p:cNvSpPr txBox="1"/>
          <p:nvPr/>
        </p:nvSpPr>
        <p:spPr>
          <a:xfrm>
            <a:off x="3733801" y="609600"/>
            <a:ext cx="1676399" cy="46166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HMI</a:t>
            </a:r>
            <a:endParaRPr/>
          </a:p>
        </p:txBody>
      </p:sp>
      <p:sp>
        <p:nvSpPr>
          <p:cNvPr id="643" name="Google Shape;643;p58"/>
          <p:cNvSpPr txBox="1"/>
          <p:nvPr/>
        </p:nvSpPr>
        <p:spPr>
          <a:xfrm>
            <a:off x="4191000" y="2590800"/>
            <a:ext cx="3657600" cy="1477328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 top branch for each of the rungs, 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HMI_DISABLE_SS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instruction is false, preventing a conflicting signal from the hardwired backup selector switch. 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, text, application&#10;&#10;Description automatically generated" id="648" name="Google Shape;648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715" y="1582052"/>
            <a:ext cx="8228571" cy="4114286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cxnSp>
        <p:nvCxnSpPr>
          <p:cNvPr id="649" name="Google Shape;649;p59"/>
          <p:cNvCxnSpPr/>
          <p:nvPr/>
        </p:nvCxnSpPr>
        <p:spPr>
          <a:xfrm>
            <a:off x="1524000" y="6096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cxnSp>
        <p:nvCxnSpPr>
          <p:cNvPr id="650" name="Google Shape;650;p59"/>
          <p:cNvCxnSpPr/>
          <p:nvPr/>
        </p:nvCxnSpPr>
        <p:spPr>
          <a:xfrm>
            <a:off x="1524000" y="10668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sp>
        <p:nvSpPr>
          <p:cNvPr id="651" name="Google Shape;651;p59"/>
          <p:cNvSpPr txBox="1"/>
          <p:nvPr/>
        </p:nvSpPr>
        <p:spPr>
          <a:xfrm>
            <a:off x="3771900" y="1143000"/>
            <a:ext cx="1600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HMI Enabled</a:t>
            </a:r>
            <a:endParaRPr/>
          </a:p>
        </p:txBody>
      </p:sp>
      <p:sp>
        <p:nvSpPr>
          <p:cNvPr id="652" name="Google Shape;652;p59"/>
          <p:cNvSpPr txBox="1"/>
          <p:nvPr/>
        </p:nvSpPr>
        <p:spPr>
          <a:xfrm>
            <a:off x="3733801" y="609600"/>
            <a:ext cx="1676399" cy="46166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HMI</a:t>
            </a:r>
            <a:endParaRPr/>
          </a:p>
        </p:txBody>
      </p:sp>
      <p:sp>
        <p:nvSpPr>
          <p:cNvPr id="653" name="Google Shape;653;p59"/>
          <p:cNvSpPr txBox="1"/>
          <p:nvPr/>
        </p:nvSpPr>
        <p:spPr>
          <a:xfrm>
            <a:off x="4191000" y="2590800"/>
            <a:ext cx="3657600" cy="1477328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 top branch for each of the rungs, 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HMI_DISABLE_SS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instruction is false, preventing a conflicting signal from the hardwired backup selector switch. </a:t>
            </a:r>
            <a:endParaRPr/>
          </a:p>
        </p:txBody>
      </p:sp>
      <p:sp>
        <p:nvSpPr>
          <p:cNvPr id="654" name="Google Shape;654;p59"/>
          <p:cNvSpPr txBox="1"/>
          <p:nvPr/>
        </p:nvSpPr>
        <p:spPr>
          <a:xfrm>
            <a:off x="4190999" y="4267200"/>
            <a:ext cx="3429001" cy="92333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the HMI is operational, the Enable/Disabled tag has a logic 1 value.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, text, application&#10;&#10;Description automatically generated" id="659" name="Google Shape;659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714" y="1581912"/>
            <a:ext cx="8228571" cy="4114286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cxnSp>
        <p:nvCxnSpPr>
          <p:cNvPr id="660" name="Google Shape;660;p60"/>
          <p:cNvCxnSpPr/>
          <p:nvPr/>
        </p:nvCxnSpPr>
        <p:spPr>
          <a:xfrm>
            <a:off x="1524000" y="6096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cxnSp>
        <p:nvCxnSpPr>
          <p:cNvPr id="661" name="Google Shape;661;p60"/>
          <p:cNvCxnSpPr/>
          <p:nvPr/>
        </p:nvCxnSpPr>
        <p:spPr>
          <a:xfrm>
            <a:off x="1524000" y="10668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sp>
        <p:nvSpPr>
          <p:cNvPr id="662" name="Google Shape;662;p60"/>
          <p:cNvSpPr txBox="1"/>
          <p:nvPr/>
        </p:nvSpPr>
        <p:spPr>
          <a:xfrm>
            <a:off x="3771900" y="1143000"/>
            <a:ext cx="1600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HMI Enabled</a:t>
            </a:r>
            <a:endParaRPr/>
          </a:p>
        </p:txBody>
      </p:sp>
      <p:sp>
        <p:nvSpPr>
          <p:cNvPr id="663" name="Google Shape;663;p60"/>
          <p:cNvSpPr txBox="1"/>
          <p:nvPr/>
        </p:nvSpPr>
        <p:spPr>
          <a:xfrm>
            <a:off x="3733801" y="609600"/>
            <a:ext cx="1676399" cy="46166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HMI</a:t>
            </a:r>
            <a:endParaRPr/>
          </a:p>
        </p:txBody>
      </p:sp>
      <p:sp>
        <p:nvSpPr>
          <p:cNvPr id="664" name="Google Shape;664;p60"/>
          <p:cNvSpPr txBox="1"/>
          <p:nvPr/>
        </p:nvSpPr>
        <p:spPr>
          <a:xfrm>
            <a:off x="4114800" y="2895600"/>
            <a:ext cx="4191000" cy="1477328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tag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HMI_DISABLE_SS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instruction is true allowing the signal from the hardwired backup selector switch to control the value moved into the timer preset. 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, text, application&#10;&#10;Description automatically generated" id="669" name="Google Shape;669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714" y="1581912"/>
            <a:ext cx="8228571" cy="4114286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cxnSp>
        <p:nvCxnSpPr>
          <p:cNvPr id="670" name="Google Shape;670;p61"/>
          <p:cNvCxnSpPr/>
          <p:nvPr/>
        </p:nvCxnSpPr>
        <p:spPr>
          <a:xfrm>
            <a:off x="1524000" y="6096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cxnSp>
        <p:nvCxnSpPr>
          <p:cNvPr id="671" name="Google Shape;671;p61"/>
          <p:cNvCxnSpPr/>
          <p:nvPr/>
        </p:nvCxnSpPr>
        <p:spPr>
          <a:xfrm>
            <a:off x="1524000" y="1066800"/>
            <a:ext cx="62484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sp>
        <p:nvSpPr>
          <p:cNvPr id="672" name="Google Shape;672;p61"/>
          <p:cNvSpPr txBox="1"/>
          <p:nvPr/>
        </p:nvSpPr>
        <p:spPr>
          <a:xfrm>
            <a:off x="3771900" y="1143000"/>
            <a:ext cx="1600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HMI Enabled</a:t>
            </a:r>
            <a:endParaRPr/>
          </a:p>
        </p:txBody>
      </p:sp>
      <p:sp>
        <p:nvSpPr>
          <p:cNvPr id="673" name="Google Shape;673;p61"/>
          <p:cNvSpPr txBox="1"/>
          <p:nvPr/>
        </p:nvSpPr>
        <p:spPr>
          <a:xfrm>
            <a:off x="3733801" y="609600"/>
            <a:ext cx="1676399" cy="46166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HMI</a:t>
            </a:r>
            <a:endParaRPr/>
          </a:p>
        </p:txBody>
      </p:sp>
      <p:sp>
        <p:nvSpPr>
          <p:cNvPr id="674" name="Google Shape;674;p61"/>
          <p:cNvSpPr txBox="1"/>
          <p:nvPr/>
        </p:nvSpPr>
        <p:spPr>
          <a:xfrm>
            <a:off x="4114800" y="2895600"/>
            <a:ext cx="4191000" cy="1477328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tag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HMI_DISABLE_SS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instruction is true allowing the signal from the hardwired backup selector switch to control the value moved into the timer preset. </a:t>
            </a:r>
            <a:endParaRPr/>
          </a:p>
        </p:txBody>
      </p:sp>
      <p:sp>
        <p:nvSpPr>
          <p:cNvPr id="675" name="Google Shape;675;p61"/>
          <p:cNvSpPr txBox="1"/>
          <p:nvPr/>
        </p:nvSpPr>
        <p:spPr>
          <a:xfrm>
            <a:off x="4114799" y="4535269"/>
            <a:ext cx="4343401" cy="92333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this case the HMI is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operational, and no signal is sent to the tag, resulting in a logic 0 value.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